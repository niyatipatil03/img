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7B61FF">
              <a:alpha val="12000"/>
            </a:srgbClr>
          </a:solidFill>
          <a:ln w="12700">
            <a:solidFill>
              <a:srgbClr val="7B61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0C9FF">
              <a:alpha val="10000"/>
            </a:srgbClr>
          </a:solidFill>
          <a:ln w="12700">
            <a:solidFill>
              <a:srgbClr val="00C9FF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502920"/>
            <a:ext cx="1645920" cy="411480"/>
          </a:xfrm>
          <a:prstGeom prst="rect">
            <a:avLst>
              <a:gd name="adj" fmla="val 11111"/>
            </a:avLst>
          </a:prstGeom>
          <a:solidFill>
            <a:srgbClr val="00C9FF">
              <a:alpha val="15000"/>
            </a:srgbClr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029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9FF"/>
                </a:solidFill>
              </a:rPr>
              <a:t>AI PLATFORM SUITE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End-to-End AI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0C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Development Platform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teams with Computer Vision Training, Auto-Annotation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Flutter Mobile App Generation — all in one unified ecosystem.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2286000" cy="502920"/>
          </a:xfrm>
          <a:prstGeom prst="rect">
            <a:avLst/>
          </a:prstGeom>
          <a:solidFill>
            <a:srgbClr val="7B61FF">
              <a:alpha val="25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749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🔬  AI Vision Platform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26080" y="3749040"/>
            <a:ext cx="2468880" cy="502920"/>
          </a:xfrm>
          <a:prstGeom prst="rect">
            <a:avLst/>
          </a:prstGeom>
          <a:solidFill>
            <a:srgbClr val="00E096">
              <a:alpha val="22000"/>
            </a:srgbClr>
          </a:solidFill>
          <a:ln w="12700">
            <a:solidFill>
              <a:srgbClr val="00E0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37490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📱  Flutter AI Studio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2025  |  Internal Review Presentation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E096"/>
          </a:solidFill>
          <a:ln w="12700">
            <a:solidFill>
              <a:srgbClr val="00E09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9FF"/>
                </a:solidFill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02920" cy="502920"/>
          </a:xfrm>
          <a:prstGeom prst="rect">
            <a:avLst/>
          </a:prstGeom>
          <a:solidFill>
            <a:srgbClr val="00C9FF">
              <a:alpha val="20000"/>
            </a:srgbClr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3898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AI Vision Platform Overview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16276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Dataset management, annotation workspace &amp; YOLO training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502920" cy="502920"/>
          </a:xfrm>
          <a:prstGeom prst="rect">
            <a:avLst/>
          </a:prstGeom>
          <a:solidFill>
            <a:srgbClr val="7B61FF">
              <a:alpha val="2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61FF"/>
                </a:solidFill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0756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Seed &amp; Scale Workflow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23134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Auto-annotation pipeline to slash labeling effort by 90%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502920" cy="502920"/>
          </a:xfrm>
          <a:prstGeom prst="rect">
            <a:avLst/>
          </a:prstGeom>
          <a:solidFill>
            <a:srgbClr val="00E096">
              <a:alpha val="20000"/>
            </a:srgbClr>
          </a:solidFill>
          <a:ln w="12700">
            <a:solidFill>
              <a:srgbClr val="00E0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096"/>
                </a:solidFill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27614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Flutter AI Studio Overview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29992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Convert AI models to mobile-ready Android APKs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502920" cy="502920"/>
          </a:xfrm>
          <a:prstGeom prst="rect">
            <a:avLst/>
          </a:prstGeom>
          <a:solidFill>
            <a:srgbClr val="FF6B6B">
              <a:alpha val="2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6B"/>
                </a:solidFill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4472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Tech Stack &amp; Architecture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97280" y="3685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FastAPI, React, Celery, PostgreSQL, Redis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502920" cy="502920"/>
          </a:xfrm>
          <a:prstGeom prst="rect">
            <a:avLst/>
          </a:prstGeom>
          <a:solidFill>
            <a:srgbClr val="00C9FF">
              <a:alpha val="20000"/>
            </a:srgbClr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FF"/>
                </a:solidFill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41330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Key Features &amp; Demo Flow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97280" y="43708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End-to-end testing walkthrough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45720" cy="5088636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74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B61FF"/>
                </a:solidFill>
              </a:rPr>
              <a:t>PROJECT 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5943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Vision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An end-to-end computer vision platform for managing datasets, annotating images, and training YOLO models — with AI-assisted automation.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880360"/>
            <a:ext cx="1554480" cy="320040"/>
          </a:xfrm>
          <a:prstGeom prst="rect">
            <a:avLst/>
          </a:prstGeom>
          <a:solidFill>
            <a:srgbClr val="7B61FF">
              <a:alpha val="18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8803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61FF"/>
                </a:solidFill>
              </a:rPr>
              <a:t>YOLOv8–v11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65960" y="2880360"/>
            <a:ext cx="1554480" cy="320040"/>
          </a:xfrm>
          <a:prstGeom prst="rect">
            <a:avLst/>
          </a:prstGeom>
          <a:solidFill>
            <a:srgbClr val="7B61FF">
              <a:alpha val="18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28803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61FF"/>
                </a:solidFill>
              </a:rPr>
              <a:t>Auto-Annotation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291840"/>
            <a:ext cx="1554480" cy="320040"/>
          </a:xfrm>
          <a:prstGeom prst="rect">
            <a:avLst/>
          </a:prstGeom>
          <a:solidFill>
            <a:srgbClr val="7B61FF">
              <a:alpha val="18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3291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61FF"/>
                </a:solidFill>
              </a:rPr>
              <a:t>Canvas Labeling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965960" y="3291840"/>
            <a:ext cx="1554480" cy="320040"/>
          </a:xfrm>
          <a:prstGeom prst="rect">
            <a:avLst/>
          </a:prstGeom>
          <a:solidFill>
            <a:srgbClr val="7B61FF">
              <a:alpha val="18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65960" y="3291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61FF"/>
                </a:solidFill>
              </a:rPr>
              <a:t>Zero-Shot 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86200" y="228600"/>
            <a:ext cx="2377440" cy="1417320"/>
          </a:xfrm>
          <a:prstGeom prst="rect">
            <a:avLst/>
          </a:prstGeom>
          <a:solidFill>
            <a:srgbClr val="1E2D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86200" y="228600"/>
            <a:ext cx="2377440" cy="4572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0" y="320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Image Upload &amp; Dataset Mgmt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23360" y="66751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Organize raw image datasets into structured projects with project-level isolation.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228600"/>
            <a:ext cx="2377440" cy="1417320"/>
          </a:xfrm>
          <a:prstGeom prst="rect">
            <a:avLst/>
          </a:prstGeom>
          <a:solidFill>
            <a:srgbClr val="1E2D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46520" y="228600"/>
            <a:ext cx="2377440" cy="4572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320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Rich Annotation Workspace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0" y="66751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Canvas-based bbox drawing with zoom, pan, label management and keyboard shortcuts.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86200" y="1783080"/>
            <a:ext cx="2377440" cy="1417320"/>
          </a:xfrm>
          <a:prstGeom prst="rect">
            <a:avLst/>
          </a:prstGeom>
          <a:solidFill>
            <a:srgbClr val="1E2D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86200" y="1783080"/>
            <a:ext cx="2377440" cy="4572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0" y="1874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YOLO Model Training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023360" y="222199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Train YOLOv8–v11 models with live metrics: Box Loss, Class Loss, and mAP charts.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46520" y="1783080"/>
            <a:ext cx="2377440" cy="1417320"/>
          </a:xfrm>
          <a:prstGeom prst="rect">
            <a:avLst/>
          </a:prstGeom>
          <a:solidFill>
            <a:srgbClr val="1E2D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46520" y="1783080"/>
            <a:ext cx="2377440" cy="4572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1874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Prompt (Zero-Shot)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0" y="222199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Text-based detection using Grounding DINO → SigLIP → SAM 2 pipeline. No labels needed.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886200" y="3337560"/>
            <a:ext cx="2377440" cy="1417320"/>
          </a:xfrm>
          <a:prstGeom prst="rect">
            <a:avLst/>
          </a:prstGeom>
          <a:solidFill>
            <a:srgbClr val="1E2D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886200" y="3337560"/>
            <a:ext cx="2377440" cy="4572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23360" y="3429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Auto-Annotation Engine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023360" y="377647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Run trained seed model on unlabeled images to pre-annotate thousands of frames instantly.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46520" y="3337560"/>
            <a:ext cx="2377440" cy="1417320"/>
          </a:xfrm>
          <a:prstGeom prst="rect">
            <a:avLst/>
          </a:prstGeom>
          <a:solidFill>
            <a:srgbClr val="1E2D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46520" y="3337560"/>
            <a:ext cx="2377440" cy="4572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3429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Download Trained Weights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583680" y="377647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Export final .pt model weights directly for deployment in production environments.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096"/>
          </a:solidFill>
          <a:ln w="12700">
            <a:solidFill>
              <a:srgbClr val="00E0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E096"/>
                </a:solidFill>
              </a:rPr>
              <a:t>WORKFLOW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&amp; Scale — AI-Assisted Labeling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261872" cy="2560320"/>
          </a:xfrm>
          <a:prstGeom prst="rect">
            <a:avLst/>
          </a:prstGeom>
          <a:solidFill>
            <a:srgbClr val="162032"/>
          </a:solidFill>
          <a:ln w="12700">
            <a:solidFill>
              <a:srgbClr val="00C9FF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1261872" cy="4572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" y="1399032"/>
            <a:ext cx="457200" cy="457200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" y="1399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74904" y="1947672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Upload Images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4904" y="2624328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Create project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&amp; upload raw dataset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81912" y="2423160"/>
            <a:ext cx="173736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55648" y="1234440"/>
            <a:ext cx="1261872" cy="2560320"/>
          </a:xfrm>
          <a:prstGeom prst="rect">
            <a:avLst/>
          </a:prstGeom>
          <a:solidFill>
            <a:srgbClr val="162032"/>
          </a:solidFill>
          <a:ln w="12700">
            <a:solidFill>
              <a:srgbClr val="7B61FF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755648" y="1234440"/>
            <a:ext cx="1261872" cy="4572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57984" y="1399032"/>
            <a:ext cx="457200" cy="45720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57984" y="1399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810512" y="1947672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Manual Label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5–10%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10512" y="2624328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Annotate small subset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using canvas workspace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017520" y="2423160"/>
            <a:ext cx="173736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91256" y="1234440"/>
            <a:ext cx="1261872" cy="2560320"/>
          </a:xfrm>
          <a:prstGeom prst="rect">
            <a:avLst/>
          </a:prstGeom>
          <a:solidFill>
            <a:srgbClr val="162032"/>
          </a:solidFill>
          <a:ln w="12700">
            <a:solidFill>
              <a:srgbClr val="00E096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91256" y="1234440"/>
            <a:ext cx="1261872" cy="45720"/>
          </a:xfrm>
          <a:prstGeom prst="rect">
            <a:avLst/>
          </a:prstGeom>
          <a:solidFill>
            <a:srgbClr val="00E096"/>
          </a:solidFill>
          <a:ln w="12700">
            <a:solidFill>
              <a:srgbClr val="00E0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93592" y="1399032"/>
            <a:ext cx="457200" cy="457200"/>
          </a:xfrm>
          <a:prstGeom prst="ellipse">
            <a:avLst/>
          </a:prstGeom>
          <a:solidFill>
            <a:srgbClr val="00E096"/>
          </a:solidFill>
          <a:ln w="12700">
            <a:solidFill>
              <a:srgbClr val="00E0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93592" y="1399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246120" y="1947672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Seed Training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46120" y="2624328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Train base YOLO model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on annotated subset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53128" y="2423160"/>
            <a:ext cx="173736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26864" y="1234440"/>
            <a:ext cx="1261872" cy="2560320"/>
          </a:xfrm>
          <a:prstGeom prst="rect">
            <a:avLst/>
          </a:prstGeom>
          <a:solidFill>
            <a:srgbClr val="162032"/>
          </a:solidFill>
          <a:ln w="12700">
            <a:solidFill>
              <a:srgbClr val="FF6B6B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26864" y="1234440"/>
            <a:ext cx="1261872" cy="45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0" y="1399032"/>
            <a:ext cx="457200" cy="45720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1399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681728" y="1947672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Auto-Annotate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81728" y="2624328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Run seed model 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remaining images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888736" y="2423160"/>
            <a:ext cx="173736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62472" y="1234440"/>
            <a:ext cx="1261872" cy="2560320"/>
          </a:xfrm>
          <a:prstGeom prst="rect">
            <a:avLst/>
          </a:prstGeom>
          <a:solidFill>
            <a:srgbClr val="162032"/>
          </a:solidFill>
          <a:ln w="12700">
            <a:solidFill>
              <a:srgbClr val="00C9FF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62472" y="1234440"/>
            <a:ext cx="1261872" cy="4572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64808" y="1399032"/>
            <a:ext cx="457200" cy="457200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64808" y="1399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117336" y="1947672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Review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Correct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17336" y="2624328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Verify &amp; fix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auto-annotations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324344" y="2423160"/>
            <a:ext cx="173736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98080" y="1234440"/>
            <a:ext cx="1261872" cy="2560320"/>
          </a:xfrm>
          <a:prstGeom prst="rect">
            <a:avLst/>
          </a:prstGeom>
          <a:solidFill>
            <a:srgbClr val="162032"/>
          </a:solidFill>
          <a:ln w="12700">
            <a:solidFill>
              <a:srgbClr val="00E096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498080" y="1234440"/>
            <a:ext cx="1261872" cy="45720"/>
          </a:xfrm>
          <a:prstGeom prst="rect">
            <a:avLst/>
          </a:prstGeom>
          <a:solidFill>
            <a:srgbClr val="00E096"/>
          </a:solidFill>
          <a:ln w="12700">
            <a:solidFill>
              <a:srgbClr val="00E09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00416" y="1399032"/>
            <a:ext cx="457200" cy="457200"/>
          </a:xfrm>
          <a:prstGeom prst="ellipse">
            <a:avLst/>
          </a:prstGeom>
          <a:solidFill>
            <a:srgbClr val="00E096"/>
          </a:solidFill>
          <a:ln w="12700">
            <a:solidFill>
              <a:srgbClr val="00E09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00416" y="1399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6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552944" y="1947672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Main Training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552944" y="2624328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Train on full dataset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(manual + auto)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00E096">
              <a:alpha val="12000"/>
            </a:srgbClr>
          </a:solidFill>
          <a:ln w="12700">
            <a:solidFill>
              <a:srgbClr val="00E09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40233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💡  Result: Annotate 1,000s of images with only 5–10% manual effort — dramatically cutting labeling time and cost.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E096"/>
          </a:solidFill>
          <a:ln w="12700">
            <a:solidFill>
              <a:srgbClr val="00E096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9FF"/>
                </a:solidFill>
              </a:rPr>
              <a:t>AI PROMPT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Detection Pipeline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Detect objects using plain English — no training labels required.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Simply type: "detect all helmets" or "find blue cars"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2606040" cy="2651760"/>
          </a:xfrm>
          <a:prstGeom prst="rect">
            <a:avLst/>
          </a:prstGeom>
          <a:solidFill>
            <a:srgbClr val="1E2D45"/>
          </a:solidFill>
          <a:ln w="12700">
            <a:solidFill>
              <a:srgbClr val="00C9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828800"/>
            <a:ext cx="2606040" cy="54864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20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9FF"/>
                </a:solidFill>
              </a:rPr>
              <a:t>Stage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0" y="1938528"/>
            <a:ext cx="804672" cy="228600"/>
          </a:xfrm>
          <a:prstGeom prst="rect">
            <a:avLst/>
          </a:prstGeom>
          <a:solidFill>
            <a:srgbClr val="00C9FF">
              <a:alpha val="20000"/>
            </a:srgbClr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1938528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9FF"/>
                </a:solidFill>
              </a:rPr>
              <a:t>Transformer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21284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Grounding DINO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" y="26334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9FF"/>
                </a:solidFill>
              </a:rPr>
              <a:t>DISCOVERY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92608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Scans the image using your text prompt and identifies all candidate regions / bounding boxes that match.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71800" y="2834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200400" y="1828800"/>
            <a:ext cx="2606040" cy="2651760"/>
          </a:xfrm>
          <a:prstGeom prst="rect">
            <a:avLst/>
          </a:prstGeom>
          <a:solidFill>
            <a:srgbClr val="1E2D45"/>
          </a:solidFill>
          <a:ln w="12700">
            <a:solidFill>
              <a:srgbClr val="7B61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828800"/>
            <a:ext cx="2606040" cy="5486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920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B61FF"/>
                </a:solidFill>
              </a:rPr>
              <a:t>Stage 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1938528"/>
            <a:ext cx="804672" cy="228600"/>
          </a:xfrm>
          <a:prstGeom prst="rect">
            <a:avLst/>
          </a:prstGeom>
          <a:solidFill>
            <a:srgbClr val="7B61FF">
              <a:alpha val="2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938528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61FF"/>
                </a:solidFill>
              </a:rPr>
              <a:t>CLIP-based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221284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SigLIP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337560" y="26334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B61FF"/>
                </a:solidFill>
              </a:rPr>
              <a:t>VERIFICATION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292608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Cross-checks each candidate using image-text similarity to eliminate false positives and ensure precision.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06440" y="2834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035040" y="1828800"/>
            <a:ext cx="2606040" cy="2651760"/>
          </a:xfrm>
          <a:prstGeom prst="rect">
            <a:avLst/>
          </a:prstGeom>
          <a:solidFill>
            <a:srgbClr val="1E2D45"/>
          </a:solidFill>
          <a:ln w="12700">
            <a:solidFill>
              <a:srgbClr val="00E096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1828800"/>
            <a:ext cx="2606040" cy="54864"/>
          </a:xfrm>
          <a:prstGeom prst="rect">
            <a:avLst/>
          </a:prstGeom>
          <a:solidFill>
            <a:srgbClr val="00E096"/>
          </a:solidFill>
          <a:ln w="12700">
            <a:solidFill>
              <a:srgbClr val="00E0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1920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E096"/>
                </a:solidFill>
              </a:rPr>
              <a:t>Stage 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680960" y="1938528"/>
            <a:ext cx="804672" cy="228600"/>
          </a:xfrm>
          <a:prstGeom prst="rect">
            <a:avLst/>
          </a:prstGeom>
          <a:solidFill>
            <a:srgbClr val="00E096">
              <a:alpha val="20000"/>
            </a:srgbClr>
          </a:solidFill>
          <a:ln w="12700">
            <a:solidFill>
              <a:srgbClr val="00E0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0" y="1938528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E096"/>
                </a:solidFill>
              </a:rPr>
              <a:t>Meta AI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72200" y="221284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SAM 2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172200" y="26334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E096"/>
                </a:solidFill>
              </a:rPr>
              <a:t>SEGMENTATION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72200" y="292608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Refines bounding boxes and generates precise pixel-level masks for the verified objects.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45720" cy="508863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74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B6B"/>
                </a:solidFill>
              </a:rPr>
              <a:t>PROJECT 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5943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AI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Automates the creation, configuration &amp; deployment of Flutter-based AI inspection apps — generating ready-to-install Android APKs.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880360"/>
            <a:ext cx="1554480" cy="320040"/>
          </a:xfrm>
          <a:prstGeom prst="rect">
            <a:avLst/>
          </a:prstGeom>
          <a:solidFill>
            <a:srgbClr val="FF6B6B">
              <a:alpha val="18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8803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</a:rPr>
              <a:t>TFLite Models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65960" y="2880360"/>
            <a:ext cx="1554480" cy="320040"/>
          </a:xfrm>
          <a:prstGeom prst="rect">
            <a:avLst/>
          </a:prstGeom>
          <a:solidFill>
            <a:srgbClr val="FF6B6B">
              <a:alpha val="18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28803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</a:rPr>
              <a:t>APK Builder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291840"/>
            <a:ext cx="1554480" cy="320040"/>
          </a:xfrm>
          <a:prstGeom prst="rect">
            <a:avLst/>
          </a:prstGeom>
          <a:solidFill>
            <a:srgbClr val="FF6B6B">
              <a:alpha val="18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3291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</a:rPr>
              <a:t>Drag &amp; Drop UI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965960" y="3291840"/>
            <a:ext cx="1554480" cy="320040"/>
          </a:xfrm>
          <a:prstGeom prst="rect">
            <a:avLst/>
          </a:prstGeom>
          <a:solidFill>
            <a:srgbClr val="FF6B6B">
              <a:alpha val="18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65960" y="3291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</a:rPr>
              <a:t>No-Code Deploy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86200" y="228600"/>
            <a:ext cx="2377440" cy="1417320"/>
          </a:xfrm>
          <a:prstGeom prst="rect">
            <a:avLst/>
          </a:prstGeom>
          <a:solidFill>
            <a:srgbClr val="1E2D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86200" y="228600"/>
            <a:ext cx="2377440" cy="45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0" y="320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YOLO → TFLite Conversion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23360" y="66751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Upload .pt YOLO model weights and convert to mobile-ready .tflite format with one click.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228600"/>
            <a:ext cx="2377440" cy="1417320"/>
          </a:xfrm>
          <a:prstGeom prst="rect">
            <a:avLst/>
          </a:prstGeom>
          <a:solidFill>
            <a:srgbClr val="1E2D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46520" y="228600"/>
            <a:ext cx="2377440" cy="45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320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Drag &amp; Drop App Builder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0" y="66751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Configure mobile UI layout visually using Puck Editor — select screens, components and data.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86200" y="1783080"/>
            <a:ext cx="2377440" cy="1417320"/>
          </a:xfrm>
          <a:prstGeom prst="rect">
            <a:avLst/>
          </a:prstGeom>
          <a:solidFill>
            <a:srgbClr val="1E2D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86200" y="1783080"/>
            <a:ext cx="2377440" cy="45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0" y="1874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Automated APK Build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023360" y="222199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Backend generates full Flutter project from Jinja2 templates, runs flutter build apk --release.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46520" y="1783080"/>
            <a:ext cx="2377440" cy="1417320"/>
          </a:xfrm>
          <a:prstGeom prst="rect">
            <a:avLst/>
          </a:prstGeom>
          <a:solidFill>
            <a:srgbClr val="1E2D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46520" y="1783080"/>
            <a:ext cx="2377440" cy="45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1874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VIN &amp; Master Data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0" y="222199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Manage vehicle models, codes and variants for in-app VIN decoding and filtering logic.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886200" y="3337560"/>
            <a:ext cx="2377440" cy="1417320"/>
          </a:xfrm>
          <a:prstGeom prst="rect">
            <a:avLst/>
          </a:prstGeom>
          <a:solidFill>
            <a:srgbClr val="1E2D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886200" y="3337560"/>
            <a:ext cx="2377440" cy="45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23360" y="3429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Download Ready APK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023360" y="377647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Download the compiled Android APK directly from the dashboard for immediate installation.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46520" y="3337560"/>
            <a:ext cx="2377440" cy="1417320"/>
          </a:xfrm>
          <a:prstGeom prst="rect">
            <a:avLst/>
          </a:prstGeom>
          <a:solidFill>
            <a:srgbClr val="1E2D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46520" y="3337560"/>
            <a:ext cx="2377440" cy="45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3429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Template-Based Codegen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583680" y="377647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Extend the platform by adding new .dart.j2 templates to inject custom screens &amp; components.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6B6B"/>
                </a:solidFill>
              </a:rPr>
              <a:t>BUILD PIPELINE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APK Generation Workflow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508760" cy="2834640"/>
          </a:xfrm>
          <a:prstGeom prst="rect">
            <a:avLst/>
          </a:prstGeom>
          <a:solidFill>
            <a:srgbClr val="162032"/>
          </a:solidFill>
          <a:ln w="12700">
            <a:solidFill>
              <a:srgbClr val="00C9FF">
                <a:alpha val="35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1508760" cy="4572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1572768"/>
            <a:ext cx="457200" cy="457200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0352" y="2148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Setup Master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278892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Add vehicle models,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codes, variants for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VIN decoding logic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65960" y="2606040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39696" y="1417320"/>
            <a:ext cx="1508760" cy="2834640"/>
          </a:xfrm>
          <a:prstGeom prst="rect">
            <a:avLst/>
          </a:prstGeom>
          <a:solidFill>
            <a:srgbClr val="162032"/>
          </a:solidFill>
          <a:ln w="12700">
            <a:solidFill>
              <a:srgbClr val="7B61FF">
                <a:alpha val="35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39696" y="1417320"/>
            <a:ext cx="1508760" cy="4572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60904" y="1572768"/>
            <a:ext cx="457200" cy="45720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60904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212848" y="2148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Upload AI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 (.pt)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12848" y="278892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Import YOLO model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weights from the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Models Browser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48456" y="2606040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822192" y="1417320"/>
            <a:ext cx="1508760" cy="2834640"/>
          </a:xfrm>
          <a:prstGeom prst="rect">
            <a:avLst/>
          </a:prstGeom>
          <a:solidFill>
            <a:srgbClr val="162032"/>
          </a:solidFill>
          <a:ln w="12700">
            <a:solidFill>
              <a:srgbClr val="00E096">
                <a:alpha val="35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22192" y="1417320"/>
            <a:ext cx="1508760" cy="45720"/>
          </a:xfrm>
          <a:prstGeom prst="rect">
            <a:avLst/>
          </a:prstGeom>
          <a:solidFill>
            <a:srgbClr val="00E096"/>
          </a:solidFill>
          <a:ln w="12700">
            <a:solidFill>
              <a:srgbClr val="00E0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43400" y="1572768"/>
            <a:ext cx="457200" cy="457200"/>
          </a:xfrm>
          <a:prstGeom prst="ellipse">
            <a:avLst/>
          </a:prstGeom>
          <a:solidFill>
            <a:srgbClr val="00E096"/>
          </a:solidFill>
          <a:ln w="12700">
            <a:solidFill>
              <a:srgbClr val="00E0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4340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895344" y="2148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Convert 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TFLite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95344" y="278892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One-click conversion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to mobile-optimized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.tflite format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30952" y="2606040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504688" y="1417320"/>
            <a:ext cx="1508760" cy="2834640"/>
          </a:xfrm>
          <a:prstGeom prst="rect">
            <a:avLst/>
          </a:prstGeom>
          <a:solidFill>
            <a:srgbClr val="162032"/>
          </a:solidFill>
          <a:ln w="12700">
            <a:solidFill>
              <a:srgbClr val="FF6B6B">
                <a:alpha val="35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04688" y="1417320"/>
            <a:ext cx="1508760" cy="45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25896" y="1572768"/>
            <a:ext cx="457200" cy="45720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25896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577840" y="2148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Configure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App UI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77840" y="278892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Drag &amp; drop layout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builder to design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your inspection app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13448" y="2606040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187184" y="1417320"/>
            <a:ext cx="1508760" cy="2834640"/>
          </a:xfrm>
          <a:prstGeom prst="rect">
            <a:avLst/>
          </a:prstGeom>
          <a:solidFill>
            <a:srgbClr val="162032"/>
          </a:solidFill>
          <a:ln w="12700">
            <a:solidFill>
              <a:srgbClr val="00C9FF">
                <a:alpha val="35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187184" y="1417320"/>
            <a:ext cx="1508760" cy="4572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08392" y="1572768"/>
            <a:ext cx="457200" cy="457200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08392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260336" y="2148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Build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Download APK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260336" y="278892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Backend compiles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Flutter project and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serves the .apk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FF6B6B">
              <a:alpha val="12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📱  Output: A fully compiled, ready-to-install Android APK with embedded AI model — no manual Flutter coding required.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9FF"/>
                </a:solidFill>
              </a:rPr>
              <a:t>TECH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Architecture &amp; Technologies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965960" cy="3566160"/>
          </a:xfrm>
          <a:prstGeom prst="rect">
            <a:avLst/>
          </a:prstGeom>
          <a:solidFill>
            <a:srgbClr val="162032"/>
          </a:solidFill>
          <a:ln w="12700">
            <a:solidFill>
              <a:srgbClr val="00C9FF">
                <a:alpha val="35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1965960" cy="4572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325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9FF"/>
                </a:solidFill>
              </a:rPr>
              <a:t>Backend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" y="1892808"/>
            <a:ext cx="91440" cy="9144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830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FastAPI (Python)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" y="2368296"/>
            <a:ext cx="91440" cy="9144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25856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Celery Workers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" y="2843784"/>
            <a:ext cx="91440" cy="9144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73405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SQLAlchemy ORM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" y="3319272"/>
            <a:ext cx="91440" cy="9144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20954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Pydantic Schemas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" y="3794760"/>
            <a:ext cx="91440" cy="9144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68503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Uvicorn Server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9768" y="4270248"/>
            <a:ext cx="91440" cy="9144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1605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Jinja2 Templates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68880" y="1234440"/>
            <a:ext cx="1965960" cy="3566160"/>
          </a:xfrm>
          <a:prstGeom prst="rect">
            <a:avLst/>
          </a:prstGeom>
          <a:solidFill>
            <a:srgbClr val="162032"/>
          </a:solidFill>
          <a:ln w="12700">
            <a:solidFill>
              <a:srgbClr val="7B61FF">
                <a:alpha val="35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468880" y="1234440"/>
            <a:ext cx="1965960" cy="4572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78608" y="1325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61FF"/>
                </a:solidFill>
              </a:rPr>
              <a:t>Frontend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578608" y="1892808"/>
            <a:ext cx="91440" cy="9144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0" y="17830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React.js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78608" y="2368296"/>
            <a:ext cx="91440" cy="9144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0" y="225856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Konva.js (Canvas)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78608" y="2843784"/>
            <a:ext cx="91440" cy="9144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0" y="273405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Recharts (Metrics)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578608" y="3319272"/>
            <a:ext cx="91440" cy="9144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0" y="320954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Axios (API Client)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578608" y="3794760"/>
            <a:ext cx="91440" cy="9144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0" y="368503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Puck Editor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578608" y="4270248"/>
            <a:ext cx="91440" cy="9144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0" y="41605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React Hooks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17720" y="1234440"/>
            <a:ext cx="1965960" cy="3566160"/>
          </a:xfrm>
          <a:prstGeom prst="rect">
            <a:avLst/>
          </a:prstGeom>
          <a:solidFill>
            <a:srgbClr val="162032"/>
          </a:solidFill>
          <a:ln w="12700">
            <a:solidFill>
              <a:srgbClr val="00E096">
                <a:alpha val="35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17720" y="1234440"/>
            <a:ext cx="1965960" cy="45720"/>
          </a:xfrm>
          <a:prstGeom prst="rect">
            <a:avLst/>
          </a:prstGeom>
          <a:solidFill>
            <a:srgbClr val="00E096"/>
          </a:solidFill>
          <a:ln w="12700">
            <a:solidFill>
              <a:srgbClr val="00E0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27448" y="1325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096"/>
                </a:solidFill>
              </a:rPr>
              <a:t>AI / ML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4727448" y="1892808"/>
            <a:ext cx="91440" cy="91440"/>
          </a:xfrm>
          <a:prstGeom prst="rect">
            <a:avLst/>
          </a:prstGeom>
          <a:solidFill>
            <a:srgbClr val="00E096"/>
          </a:solidFill>
          <a:ln w="12700">
            <a:solidFill>
              <a:srgbClr val="00E0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17830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Ultralytics YOLO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27448" y="2368296"/>
            <a:ext cx="91440" cy="91440"/>
          </a:xfrm>
          <a:prstGeom prst="rect">
            <a:avLst/>
          </a:prstGeom>
          <a:solidFill>
            <a:srgbClr val="00E096"/>
          </a:solidFill>
          <a:ln w="12700">
            <a:solidFill>
              <a:srgbClr val="00E09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225856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Grounding DINO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27448" y="2843784"/>
            <a:ext cx="91440" cy="91440"/>
          </a:xfrm>
          <a:prstGeom prst="rect">
            <a:avLst/>
          </a:prstGeom>
          <a:solidFill>
            <a:srgbClr val="00E096"/>
          </a:solidFill>
          <a:ln w="12700">
            <a:solidFill>
              <a:srgbClr val="00E09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273405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SigLIP (Google)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27448" y="3319272"/>
            <a:ext cx="91440" cy="91440"/>
          </a:xfrm>
          <a:prstGeom prst="rect">
            <a:avLst/>
          </a:prstGeom>
          <a:solidFill>
            <a:srgbClr val="00E096"/>
          </a:solidFill>
          <a:ln w="12700">
            <a:solidFill>
              <a:srgbClr val="00E09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320954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SAM 2 (Meta)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727448" y="3794760"/>
            <a:ext cx="91440" cy="91440"/>
          </a:xfrm>
          <a:prstGeom prst="rect">
            <a:avLst/>
          </a:prstGeom>
          <a:solidFill>
            <a:srgbClr val="00E096"/>
          </a:solidFill>
          <a:ln w="12700">
            <a:solidFill>
              <a:srgbClr val="00E09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92040" y="368503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Hugging Face Hub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727448" y="4270248"/>
            <a:ext cx="91440" cy="91440"/>
          </a:xfrm>
          <a:prstGeom prst="rect">
            <a:avLst/>
          </a:prstGeom>
          <a:solidFill>
            <a:srgbClr val="00E096"/>
          </a:solidFill>
          <a:ln w="12700">
            <a:solidFill>
              <a:srgbClr val="00E09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92040" y="41605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TFLite Conversion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766560" y="1234440"/>
            <a:ext cx="1965960" cy="3566160"/>
          </a:xfrm>
          <a:prstGeom prst="rect">
            <a:avLst/>
          </a:prstGeom>
          <a:solidFill>
            <a:srgbClr val="162032"/>
          </a:solidFill>
          <a:ln w="12700">
            <a:solidFill>
              <a:srgbClr val="FF6B6B">
                <a:alpha val="35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766560" y="1234440"/>
            <a:ext cx="1965960" cy="45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6288" y="1325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6B"/>
                </a:solidFill>
              </a:rPr>
              <a:t>Infrastructure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6876288" y="1892808"/>
            <a:ext cx="91440" cy="914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40880" y="17830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PostgreSQL (DB)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876288" y="2368296"/>
            <a:ext cx="91440" cy="914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40880" y="225856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Redis (Broker)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876288" y="2843784"/>
            <a:ext cx="91440" cy="914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40880" y="273405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Flutter SDK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876288" y="3319272"/>
            <a:ext cx="91440" cy="914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40880" y="320954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Android SDK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876288" y="3794760"/>
            <a:ext cx="91440" cy="914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040880" y="368503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Java JDK 17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876288" y="4270248"/>
            <a:ext cx="91440" cy="914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040880" y="41605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Docker-ready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096"/>
          </a:solidFill>
          <a:ln w="12700">
            <a:solidFill>
              <a:srgbClr val="00E0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E096"/>
                </a:solidFill>
              </a:rPr>
              <a:t>HIGHLIGHTS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 at a Glance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920240" cy="1645920"/>
          </a:xfrm>
          <a:prstGeom prst="rect">
            <a:avLst/>
          </a:prstGeom>
          <a:solidFill>
            <a:srgbClr val="1E2D45"/>
          </a:solidFill>
          <a:ln w="12700">
            <a:solidFill>
              <a:srgbClr val="00C9FF">
                <a:alpha val="45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1920240" cy="54864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9FF"/>
                </a:solidFill>
              </a:rPr>
              <a:t>5–10%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993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Manual labeling needed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35915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Auto-annotation does the rest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87168" y="1234440"/>
            <a:ext cx="1920240" cy="1645920"/>
          </a:xfrm>
          <a:prstGeom prst="rect">
            <a:avLst/>
          </a:prstGeom>
          <a:solidFill>
            <a:srgbClr val="1E2D45"/>
          </a:solidFill>
          <a:ln w="12700">
            <a:solidFill>
              <a:srgbClr val="7B61FF">
                <a:alpha val="45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87168" y="1234440"/>
            <a:ext cx="1920240" cy="5486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8608" y="13716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B61FF"/>
                </a:solidFill>
              </a:rPr>
              <a:t>YOLO v8–11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78608" y="1993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Multi-version support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78608" y="235915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Latest Ultralytics models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08576" y="1234440"/>
            <a:ext cx="1920240" cy="1645920"/>
          </a:xfrm>
          <a:prstGeom prst="rect">
            <a:avLst/>
          </a:prstGeom>
          <a:solidFill>
            <a:srgbClr val="1E2D45"/>
          </a:solidFill>
          <a:ln w="12700">
            <a:solidFill>
              <a:srgbClr val="00E096">
                <a:alpha val="45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08576" y="1234440"/>
            <a:ext cx="1920240" cy="54864"/>
          </a:xfrm>
          <a:prstGeom prst="rect">
            <a:avLst/>
          </a:prstGeom>
          <a:solidFill>
            <a:srgbClr val="00E096"/>
          </a:solidFill>
          <a:ln w="12700">
            <a:solidFill>
              <a:srgbClr val="00E0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0016" y="13716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E096"/>
                </a:solidFill>
              </a:rPr>
              <a:t>3-Stage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00016" y="1993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Zero-shot AI pipeline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0016" y="235915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DINO + SigLIP + SAM 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29984" y="1234440"/>
            <a:ext cx="1920240" cy="1645920"/>
          </a:xfrm>
          <a:prstGeom prst="rect">
            <a:avLst/>
          </a:prstGeom>
          <a:solidFill>
            <a:srgbClr val="1E2D45"/>
          </a:solidFill>
          <a:ln w="12700">
            <a:solidFill>
              <a:srgbClr val="FF6B6B">
                <a:alpha val="45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29984" y="1234440"/>
            <a:ext cx="192024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21424" y="13716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6B"/>
                </a:solidFill>
              </a:rPr>
              <a:t>1-Click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821424" y="1993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APK generation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21424" y="235915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YOLO → TFLite → Flutter APK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063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✓  Real-time training metrics (loss + mAP)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3063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✓  Project-level dataset isolation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34472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✓  Canvas bbox annotation with zoom/pan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34472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✓  Async background jobs via Celery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383133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✓  One-click model weight download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46320" y="383133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✓  Drag-and-drop Flutter UI builder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421538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✓  Text-prompt object detection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46320" y="421538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✓  VIN decode &amp; master data config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E096"/>
          </a:solidFill>
          <a:ln w="12700">
            <a:solidFill>
              <a:srgbClr val="00E096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57200"/>
            <a:ext cx="5486400" cy="5486400"/>
          </a:xfrm>
          <a:prstGeom prst="ellipse">
            <a:avLst/>
          </a:prstGeom>
          <a:solidFill>
            <a:srgbClr val="7B61FF">
              <a:alpha val="8000"/>
            </a:srgbClr>
          </a:solidFill>
          <a:ln w="12700">
            <a:solidFill>
              <a:srgbClr val="7B61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1371600"/>
            <a:ext cx="4572000" cy="4572000"/>
          </a:xfrm>
          <a:prstGeom prst="ellipse">
            <a:avLst/>
          </a:prstGeom>
          <a:solidFill>
            <a:srgbClr val="00C9FF">
              <a:alpha val="10000"/>
            </a:srgbClr>
          </a:solidFill>
          <a:ln w="12700">
            <a:solidFill>
              <a:srgbClr val="00C9FF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C9FF"/>
                </a:solidFill>
              </a:rPr>
              <a:t>Questions &amp; Discussion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0" y="2788920"/>
            <a:ext cx="274320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0" y="3063240"/>
            <a:ext cx="2286000" cy="457200"/>
          </a:xfrm>
          <a:prstGeom prst="rect">
            <a:avLst/>
          </a:prstGeom>
          <a:solidFill>
            <a:srgbClr val="7B61FF">
              <a:alpha val="2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3063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Vision Platform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3063240"/>
            <a:ext cx="2286000" cy="457200"/>
          </a:xfrm>
          <a:prstGeom prst="rect">
            <a:avLst/>
          </a:prstGeom>
          <a:solidFill>
            <a:srgbClr val="FF6B6B">
              <a:alpha val="2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3063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Flutter AI Studio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Built with FastAPI · React · Celery · PostgreSQL · Redis · Flutter · Ultralytics YOLO · Hugging Face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E096"/>
          </a:solidFill>
          <a:ln w="12700">
            <a:solidFill>
              <a:srgbClr val="00E096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Platform Suite - Project Overview</dc:title>
  <dc:subject>PptxGenJS Presentation</dc:subject>
  <dc:creator>PptxGenJS</dc:creator>
  <cp:lastModifiedBy>PptxGenJS</cp:lastModifiedBy>
  <cp:revision>1</cp:revision>
  <dcterms:created xsi:type="dcterms:W3CDTF">2026-03-25T17:31:37Z</dcterms:created>
  <dcterms:modified xsi:type="dcterms:W3CDTF">2026-03-25T17:31:37Z</dcterms:modified>
</cp:coreProperties>
</file>