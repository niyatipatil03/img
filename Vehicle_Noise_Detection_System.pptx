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1B2A4A"/>
                </a:solidFill>
                <a:latin typeface="Arial"/>
              </a:defRPr>
            </a:pPr>
            <a:r>
              <a:rPr sz="1100" b="0" i="0" u="none" strike="noStrike">
                <a:solidFill>
                  <a:srgbClr val="1B2A4A"/>
                </a:solidFill>
                <a:latin typeface="Arial"/>
              </a:rPr>
              <a:t>Leave-One-Out Cross Validation Scores</a:t>
            </a:r>
          </a:p>
        </c:rich>
      </c:tx>
      <c:layout/>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00B8D4"/>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Random Forest</c:v>
                  </c:pt>
                  <c:pt idx="1">
                    <c:v>Gradient Boost</c:v>
                  </c:pt>
                  <c:pt idx="2">
                    <c:v>SVM-RBF</c:v>
                  </c:pt>
                </c:lvl>
              </c:multiLvlStrCache>
            </c:multiLvlStrRef>
          </c:cat>
          <c:val>
            <c:numRef>
              <c:f>Sheet1!$B$2:$B$4</c:f>
              <c:numCache>
                <c:formatCode>General</c:formatCode>
                <c:ptCount val="3"/>
                <c:pt idx="0">
                  <c:v>0.1</c:v>
                </c:pt>
                <c:pt idx="1">
                  <c:v>0.1</c:v>
                </c:pt>
                <c:pt idx="2">
                  <c:v>0.1</c:v>
                </c:pt>
              </c:numCache>
            </c:numRef>
          </c:val>
        </c:ser>
        <c:ser>
          <c:idx val="1"/>
          <c:order val="1"/>
          <c:tx>
            <c:strRef>
              <c:f>Sheet1!$C$1</c:f>
              <c:strCache>
                <c:ptCount val="1"/>
                <c:pt idx="0">
                  <c:v>Accuracy</c:v>
                </c:pt>
              </c:strCache>
            </c:strRef>
          </c:tx>
          <c:spPr>
            <a:solidFill>
              <a:srgbClr val="00A3B8"/>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Random Forest</c:v>
                  </c:pt>
                  <c:pt idx="1">
                    <c:v>Gradient Boost</c:v>
                  </c:pt>
                  <c:pt idx="2">
                    <c:v>SVM-RBF</c:v>
                  </c:pt>
                </c:lvl>
              </c:multiLvlStrCache>
            </c:multiLvlStrRef>
          </c:cat>
          <c:val>
            <c:numRef>
              <c:f>Sheet1!$C$2:$C$4</c:f>
              <c:numCache>
                <c:formatCode>General</c:formatCode>
                <c:ptCount val="3"/>
                <c:pt idx="0">
                  <c:v>0.6</c:v>
                </c:pt>
                <c:pt idx="1">
                  <c:v>0.6</c:v>
                </c:pt>
                <c:pt idx="2">
                  <c:v>0.6</c:v>
                </c:pt>
              </c:numCache>
            </c:numRef>
          </c:val>
        </c:ser>
        <c:ser>
          <c:idx val="2"/>
          <c:order val="2"/>
          <c:tx>
            <c:strRef>
              <c:f>Sheet1!$D$1</c:f>
              <c:strCache>
                <c:ptCount val="1"/>
                <c:pt idx="0">
                  <c:v>AUC (train)</c:v>
                </c:pt>
              </c:strCache>
            </c:strRef>
          </c:tx>
          <c:spPr>
            <a:solidFill>
              <a:srgbClr val="00C853"/>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Random Forest</c:v>
                  </c:pt>
                  <c:pt idx="1">
                    <c:v>Gradient Boost</c:v>
                  </c:pt>
                  <c:pt idx="2">
                    <c:v>SVM-RBF</c:v>
                  </c:pt>
                </c:lvl>
              </c:multiLvlStrCache>
            </c:multiLvlStrRef>
          </c:cat>
          <c:val>
            <c:numRef>
              <c:f>Sheet1!$D$2:$D$4</c:f>
              <c:numCache>
                <c:formatCode>General</c:formatCode>
                <c:ptCount val="3"/>
                <c:pt idx="0">
                  <c:v>1</c:v>
                </c:pt>
                <c:pt idx="1">
                  <c:v>1</c:v>
                </c:pt>
                <c:pt idx="2">
                  <c:v>1</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B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0B8D4"/>
          </a:solidFill>
          <a:ln w="12700">
            <a:solidFill>
              <a:srgbClr val="00B8D4"/>
            </a:solidFill>
            <a:prstDash val="solid"/>
          </a:ln>
        </p:spPr>
      </p:sp>
      <p:sp>
        <p:nvSpPr>
          <p:cNvPr id="3" name="Shape 1"/>
          <p:cNvSpPr/>
          <p:nvPr/>
        </p:nvSpPr>
        <p:spPr>
          <a:xfrm>
            <a:off x="0" y="4663440"/>
            <a:ext cx="9144000" cy="480060"/>
          </a:xfrm>
          <a:prstGeom prst="rect">
            <a:avLst/>
          </a:prstGeom>
          <a:solidFill>
            <a:srgbClr val="243656"/>
          </a:solidFill>
          <a:ln w="12700">
            <a:solidFill>
              <a:srgbClr val="243656"/>
            </a:solidFill>
            <a:prstDash val="solid"/>
          </a:ln>
        </p:spPr>
      </p:sp>
      <p:sp>
        <p:nvSpPr>
          <p:cNvPr id="4" name="Shape 2"/>
          <p:cNvSpPr/>
          <p:nvPr/>
        </p:nvSpPr>
        <p:spPr>
          <a:xfrm>
            <a:off x="7498080" y="-731520"/>
            <a:ext cx="2560320" cy="2560320"/>
          </a:xfrm>
          <a:prstGeom prst="ellipse">
            <a:avLst/>
          </a:prstGeom>
          <a:solidFill>
            <a:srgbClr val="00B8D4">
              <a:alpha val="12000"/>
            </a:srgbClr>
          </a:solidFill>
          <a:ln w="12700">
            <a:solidFill>
              <a:srgbClr val="00B8D4">
                <a:alpha val="40000"/>
              </a:srgbClr>
            </a:solidFill>
            <a:prstDash val="solid"/>
          </a:ln>
        </p:spPr>
      </p:sp>
      <p:sp>
        <p:nvSpPr>
          <p:cNvPr id="5" name="Shape 3"/>
          <p:cNvSpPr/>
          <p:nvPr/>
        </p:nvSpPr>
        <p:spPr>
          <a:xfrm>
            <a:off x="8046720" y="-274320"/>
            <a:ext cx="1645920" cy="1645920"/>
          </a:xfrm>
          <a:prstGeom prst="ellipse">
            <a:avLst/>
          </a:prstGeom>
          <a:solidFill>
            <a:srgbClr val="00B8D4">
              <a:alpha val="20000"/>
            </a:srgbClr>
          </a:solidFill>
          <a:ln w="12700">
            <a:solidFill>
              <a:srgbClr val="00B8D4">
                <a:alpha val="50000"/>
              </a:srgbClr>
            </a:solidFill>
            <a:prstDash val="solid"/>
          </a:ln>
        </p:spPr>
      </p:sp>
      <p:sp>
        <p:nvSpPr>
          <p:cNvPr id="6" name="Shape 4"/>
          <p:cNvSpPr/>
          <p:nvPr/>
        </p:nvSpPr>
        <p:spPr>
          <a:xfrm>
            <a:off x="640080" y="457200"/>
            <a:ext cx="2011680" cy="256032"/>
          </a:xfrm>
          <a:prstGeom prst="roundRect">
            <a:avLst>
              <a:gd name="adj" fmla="val 50000"/>
            </a:avLst>
          </a:prstGeom>
          <a:solidFill>
            <a:srgbClr val="00B8D4">
              <a:alpha val="85000"/>
            </a:srgbClr>
          </a:solidFill>
          <a:ln w="12700">
            <a:solidFill>
              <a:srgbClr val="00B8D4"/>
            </a:solidFill>
            <a:prstDash val="solid"/>
          </a:ln>
        </p:spPr>
      </p:sp>
      <p:sp>
        <p:nvSpPr>
          <p:cNvPr id="7" name="Text 5"/>
          <p:cNvSpPr/>
          <p:nvPr/>
        </p:nvSpPr>
        <p:spPr>
          <a:xfrm>
            <a:off x="640080" y="457200"/>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BSR TRACK QUALITY CONTROL</a:t>
            </a:r>
            <a:endParaRPr lang="en-US" sz="800" dirty="0"/>
          </a:p>
        </p:txBody>
      </p:sp>
      <p:sp>
        <p:nvSpPr>
          <p:cNvPr id="8" name="Text 6"/>
          <p:cNvSpPr/>
          <p:nvPr/>
        </p:nvSpPr>
        <p:spPr>
          <a:xfrm>
            <a:off x="640080" y="841248"/>
            <a:ext cx="7498080" cy="1828800"/>
          </a:xfrm>
          <a:prstGeom prst="rect">
            <a:avLst/>
          </a:prstGeom>
          <a:noFill/>
          <a:ln/>
        </p:spPr>
        <p:txBody>
          <a:bodyPr wrap="square" rtlCol="0" anchor="t"/>
          <a:lstStyle/>
          <a:p>
            <a:pPr algn="l" indent="0" marL="0">
              <a:lnSpc>
                <a:spcPct val="110000"/>
              </a:lnSpc>
              <a:buNone/>
            </a:pPr>
            <a:r>
              <a:rPr lang="en-US" sz="4600" b="1" dirty="0">
                <a:solidFill>
                  <a:srgbClr val="FFFFFF"/>
                </a:solidFill>
                <a:latin typeface="Calibri" pitchFamily="34" charset="0"/>
                <a:ea typeface="Calibri" pitchFamily="34" charset="-122"/>
                <a:cs typeface="Calibri" pitchFamily="34" charset="-120"/>
              </a:rPr>
              <a:t>Vehicle Noise</a:t>
            </a:r>
            <a:endParaRPr lang="en-US" sz="4600" dirty="0"/>
          </a:p>
          <a:p>
            <a:pPr algn="l" indent="0" marL="0">
              <a:lnSpc>
                <a:spcPct val="110000"/>
              </a:lnSpc>
              <a:buNone/>
            </a:pPr>
            <a:r>
              <a:rPr lang="en-US" sz="4600" b="1" dirty="0">
                <a:solidFill>
                  <a:srgbClr val="FFFFFF"/>
                </a:solidFill>
                <a:latin typeface="Calibri" pitchFamily="34" charset="0"/>
                <a:ea typeface="Calibri" pitchFamily="34" charset="-122"/>
                <a:cs typeface="Calibri" pitchFamily="34" charset="-120"/>
              </a:rPr>
              <a:t>Detection System</a:t>
            </a:r>
            <a:endParaRPr lang="en-US" sz="4600" dirty="0"/>
          </a:p>
        </p:txBody>
      </p:sp>
      <p:sp>
        <p:nvSpPr>
          <p:cNvPr id="9" name="Text 7"/>
          <p:cNvSpPr/>
          <p:nvPr/>
        </p:nvSpPr>
        <p:spPr>
          <a:xfrm>
            <a:off x="640080" y="2761488"/>
            <a:ext cx="7132320" cy="822960"/>
          </a:xfrm>
          <a:prstGeom prst="rect">
            <a:avLst/>
          </a:prstGeom>
          <a:noFill/>
          <a:ln/>
        </p:spPr>
        <p:txBody>
          <a:bodyPr wrap="square" rtlCol="0" anchor="t"/>
          <a:lstStyle/>
          <a:p>
            <a:pPr algn="l" indent="0" marL="0">
              <a:lnSpc>
                <a:spcPct val="140000"/>
              </a:lnSpc>
              <a:buNone/>
            </a:pPr>
            <a:r>
              <a:rPr lang="en-US" sz="1400" dirty="0">
                <a:solidFill>
                  <a:srgbClr val="E0F7FA"/>
                </a:solidFill>
              </a:rPr>
              <a:t>AI-Powered Automatic Classification of OK vs NOT OK Vehicle Noises</a:t>
            </a:r>
            <a:endParaRPr lang="en-US" sz="1400" dirty="0"/>
          </a:p>
          <a:p>
            <a:pPr algn="l" indent="0" marL="0">
              <a:lnSpc>
                <a:spcPct val="140000"/>
              </a:lnSpc>
              <a:buNone/>
            </a:pPr>
            <a:r>
              <a:rPr lang="en-US" sz="1400" dirty="0">
                <a:solidFill>
                  <a:srgbClr val="E0F7FA"/>
                </a:solidFill>
              </a:rPr>
              <a:t>Using Machine Learning &amp; Audio Feature Extraction</a:t>
            </a:r>
            <a:endParaRPr lang="en-US" sz="1400" dirty="0"/>
          </a:p>
        </p:txBody>
      </p:sp>
      <p:sp>
        <p:nvSpPr>
          <p:cNvPr id="10" name="Text 8"/>
          <p:cNvSpPr/>
          <p:nvPr/>
        </p:nvSpPr>
        <p:spPr>
          <a:xfrm>
            <a:off x="548640" y="4709160"/>
            <a:ext cx="8412480" cy="347472"/>
          </a:xfrm>
          <a:prstGeom prst="rect">
            <a:avLst/>
          </a:prstGeom>
          <a:noFill/>
          <a:ln/>
        </p:spPr>
        <p:txBody>
          <a:bodyPr wrap="square" lIns="0" tIns="0" rIns="0" bIns="0" rtlCol="0" anchor="ctr"/>
          <a:lstStyle/>
          <a:p>
            <a:pPr algn="l" indent="0" marL="0">
              <a:buNone/>
            </a:pPr>
            <a:r>
              <a:rPr lang="en-US" sz="950" dirty="0">
                <a:solidFill>
                  <a:srgbClr val="8A9BB5"/>
                </a:solidFill>
              </a:rPr>
              <a:t>Bluetooth Mic  |  BSR Track  |  Random Forest Classifier  |  99 Audio Features  |  20 Training Files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43656"/>
          </a:solidFill>
          <a:ln w="12700">
            <a:solidFill>
              <a:srgbClr val="243656"/>
            </a:solidFill>
            <a:prstDash val="solid"/>
          </a:ln>
        </p:spPr>
      </p:sp>
      <p:sp>
        <p:nvSpPr>
          <p:cNvPr id="3" name="Shape 1"/>
          <p:cNvSpPr/>
          <p:nvPr/>
        </p:nvSpPr>
        <p:spPr>
          <a:xfrm>
            <a:off x="347472" y="182880"/>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82880"/>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PROBLEM STATEMENT</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2000" b="1" dirty="0">
                <a:solidFill>
                  <a:srgbClr val="FFFFFF"/>
                </a:solidFill>
              </a:rPr>
              <a:t>The Challenge We're Solving</a:t>
            </a:r>
            <a:endParaRPr lang="en-US" sz="2000" dirty="0"/>
          </a:p>
        </p:txBody>
      </p:sp>
      <p:sp>
        <p:nvSpPr>
          <p:cNvPr id="6" name="Shape 4"/>
          <p:cNvSpPr/>
          <p:nvPr/>
        </p:nvSpPr>
        <p:spPr>
          <a:xfrm>
            <a:off x="347472" y="841248"/>
            <a:ext cx="4114800" cy="3931920"/>
          </a:xfrm>
          <a:prstGeom prst="rect">
            <a:avLst/>
          </a:prstGeom>
          <a:solidFill>
            <a:srgbClr val="243656"/>
          </a:solidFill>
          <a:ln w="12700">
            <a:solidFill>
              <a:srgbClr val="2E4270"/>
            </a:solidFill>
            <a:prstDash val="solid"/>
          </a:ln>
          <a:effectLst>
            <a:outerShdw sx="100000" sy="100000" kx="0" ky="0" algn="bl" rotWithShape="0" blurRad="101600" dist="25400" dir="8100000">
              <a:srgbClr val="000000">
                <a:alpha val="20000"/>
              </a:srgbClr>
            </a:outerShdw>
          </a:effectLst>
        </p:spPr>
      </p:sp>
      <p:sp>
        <p:nvSpPr>
          <p:cNvPr id="7" name="Shape 5"/>
          <p:cNvSpPr/>
          <p:nvPr/>
        </p:nvSpPr>
        <p:spPr>
          <a:xfrm>
            <a:off x="347472" y="841248"/>
            <a:ext cx="54864" cy="3931920"/>
          </a:xfrm>
          <a:prstGeom prst="rect">
            <a:avLst/>
          </a:prstGeom>
          <a:solidFill>
            <a:srgbClr val="FF3D3D"/>
          </a:solidFill>
          <a:ln w="12700">
            <a:solidFill>
              <a:srgbClr val="FF3D3D"/>
            </a:solidFill>
            <a:prstDash val="solid"/>
          </a:ln>
        </p:spPr>
      </p:sp>
      <p:sp>
        <p:nvSpPr>
          <p:cNvPr id="8" name="Text 6"/>
          <p:cNvSpPr/>
          <p:nvPr/>
        </p:nvSpPr>
        <p:spPr>
          <a:xfrm>
            <a:off x="502920" y="914400"/>
            <a:ext cx="3840480" cy="365760"/>
          </a:xfrm>
          <a:prstGeom prst="rect">
            <a:avLst/>
          </a:prstGeom>
          <a:noFill/>
          <a:ln/>
        </p:spPr>
        <p:txBody>
          <a:bodyPr wrap="square" lIns="0" tIns="0" rIns="0" bIns="0" rtlCol="0" anchor="ctr"/>
          <a:lstStyle/>
          <a:p>
            <a:pPr algn="l" indent="0" marL="0">
              <a:buNone/>
            </a:pPr>
            <a:r>
              <a:rPr lang="en-US" sz="1400" b="1" dirty="0">
                <a:solidFill>
                  <a:srgbClr val="FF3D3D"/>
                </a:solidFill>
              </a:rPr>
              <a:t>Current Problem</a:t>
            </a:r>
            <a:endParaRPr lang="en-US" sz="1400" dirty="0"/>
          </a:p>
        </p:txBody>
      </p:sp>
      <p:sp>
        <p:nvSpPr>
          <p:cNvPr id="9" name="Text 7"/>
          <p:cNvSpPr/>
          <p:nvPr/>
        </p:nvSpPr>
        <p:spPr>
          <a:xfrm>
            <a:off x="548640" y="1371600"/>
            <a:ext cx="3794760" cy="3108960"/>
          </a:xfrm>
          <a:prstGeom prst="rect">
            <a:avLst/>
          </a:prstGeom>
          <a:noFill/>
          <a:ln/>
        </p:spPr>
        <p:txBody>
          <a:bodyPr wrap="square" rtlCol="0" anchor="t"/>
          <a:lstStyle/>
          <a:p>
            <a:pPr marL="342900" indent="-342900">
              <a:buSzPct val="100000"/>
              <a:buChar char="•"/>
            </a:pPr>
            <a:r>
              <a:rPr lang="en-US" sz="1100" dirty="0">
                <a:solidFill>
                  <a:srgbClr val="8A9BB5"/>
                </a:solidFill>
              </a:rPr>
              <a:t>Manual listening by evaluators is subjective</a:t>
            </a:r>
            <a:endParaRPr lang="en-US" sz="1100" dirty="0"/>
          </a:p>
          <a:p>
            <a:pPr marL="342900" indent="-342900">
              <a:buSzPct val="100000"/>
              <a:buChar char="•"/>
            </a:pPr>
            <a:r>
              <a:rPr lang="en-US" sz="1100" dirty="0">
                <a:solidFill>
                  <a:srgbClr val="8A9BB5"/>
                </a:solidFill>
              </a:rPr>
              <a:t>Hard to distinguish part noise from road noise</a:t>
            </a:r>
            <a:endParaRPr lang="en-US" sz="1100" dirty="0"/>
          </a:p>
          <a:p>
            <a:pPr marL="342900" indent="-342900">
              <a:buSzPct val="100000"/>
              <a:buChar char="•"/>
            </a:pPr>
            <a:r>
              <a:rPr lang="en-US" sz="1100" dirty="0">
                <a:solidFill>
                  <a:srgbClr val="8A9BB5"/>
                </a:solidFill>
              </a:rPr>
              <a:t>OK vehicles also have wind, plastic, tire sounds</a:t>
            </a:r>
            <a:endParaRPr lang="en-US" sz="1100" dirty="0"/>
          </a:p>
          <a:p>
            <a:pPr marL="342900" indent="-342900">
              <a:buSzPct val="100000"/>
              <a:buChar char="•"/>
            </a:pPr>
            <a:r>
              <a:rPr lang="en-US" sz="1100" dirty="0">
                <a:solidFill>
                  <a:srgbClr val="8A9BB5"/>
                </a:solidFill>
              </a:rPr>
              <a:t>Only part-related squeaks/rattles = NOT OK</a:t>
            </a:r>
            <a:endParaRPr lang="en-US" sz="1100" dirty="0"/>
          </a:p>
          <a:p>
            <a:pPr marL="342900" indent="-342900">
              <a:buSzPct val="100000"/>
              <a:buChar char="•"/>
            </a:pPr>
            <a:r>
              <a:rPr lang="en-US" sz="1100" dirty="0">
                <a:solidFill>
                  <a:srgbClr val="8A9BB5"/>
                </a:solidFill>
              </a:rPr>
              <a:t>Inconsistent pass/fail across evaluators</a:t>
            </a:r>
            <a:endParaRPr lang="en-US" sz="1100" dirty="0"/>
          </a:p>
          <a:p>
            <a:pPr marL="342900" indent="-342900">
              <a:buSzPct val="100000"/>
              <a:buChar char="•"/>
            </a:pPr>
            <a:r>
              <a:rPr lang="en-US" sz="1100" dirty="0">
                <a:solidFill>
                  <a:srgbClr val="8A9BB5"/>
                </a:solidFill>
              </a:rPr>
              <a:t>No documented audio evidence for decisions</a:t>
            </a:r>
            <a:endParaRPr lang="en-US" sz="1100" dirty="0"/>
          </a:p>
        </p:txBody>
      </p:sp>
      <p:sp>
        <p:nvSpPr>
          <p:cNvPr id="10" name="Shape 8"/>
          <p:cNvSpPr/>
          <p:nvPr/>
        </p:nvSpPr>
        <p:spPr>
          <a:xfrm>
            <a:off x="4709160" y="841248"/>
            <a:ext cx="4096512" cy="3931920"/>
          </a:xfrm>
          <a:prstGeom prst="rect">
            <a:avLst/>
          </a:prstGeom>
          <a:solidFill>
            <a:srgbClr val="243656"/>
          </a:solidFill>
          <a:ln w="12700">
            <a:solidFill>
              <a:srgbClr val="2E4270"/>
            </a:solidFill>
            <a:prstDash val="solid"/>
          </a:ln>
          <a:effectLst>
            <a:outerShdw sx="100000" sy="100000" kx="0" ky="0" algn="bl" rotWithShape="0" blurRad="101600" dist="25400" dir="8100000">
              <a:srgbClr val="000000">
                <a:alpha val="20000"/>
              </a:srgbClr>
            </a:outerShdw>
          </a:effectLst>
        </p:spPr>
      </p:sp>
      <p:sp>
        <p:nvSpPr>
          <p:cNvPr id="11" name="Shape 9"/>
          <p:cNvSpPr/>
          <p:nvPr/>
        </p:nvSpPr>
        <p:spPr>
          <a:xfrm>
            <a:off x="4709160" y="841248"/>
            <a:ext cx="54864" cy="3931920"/>
          </a:xfrm>
          <a:prstGeom prst="rect">
            <a:avLst/>
          </a:prstGeom>
          <a:solidFill>
            <a:srgbClr val="00B8D4"/>
          </a:solidFill>
          <a:ln w="12700">
            <a:solidFill>
              <a:srgbClr val="00B8D4"/>
            </a:solidFill>
            <a:prstDash val="solid"/>
          </a:ln>
        </p:spPr>
      </p:sp>
      <p:sp>
        <p:nvSpPr>
          <p:cNvPr id="12" name="Text 10"/>
          <p:cNvSpPr/>
          <p:nvPr/>
        </p:nvSpPr>
        <p:spPr>
          <a:xfrm>
            <a:off x="4864608" y="914400"/>
            <a:ext cx="3749040" cy="365760"/>
          </a:xfrm>
          <a:prstGeom prst="rect">
            <a:avLst/>
          </a:prstGeom>
          <a:noFill/>
          <a:ln/>
        </p:spPr>
        <p:txBody>
          <a:bodyPr wrap="square" lIns="0" tIns="0" rIns="0" bIns="0" rtlCol="0" anchor="ctr"/>
          <a:lstStyle/>
          <a:p>
            <a:pPr algn="l" indent="0" marL="0">
              <a:buNone/>
            </a:pPr>
            <a:r>
              <a:rPr lang="en-US" sz="1400" b="1" dirty="0">
                <a:solidFill>
                  <a:srgbClr val="00B8D4"/>
                </a:solidFill>
              </a:rPr>
              <a:t>NOT OK Noise Types (Detected)</a:t>
            </a:r>
            <a:endParaRPr lang="en-US" sz="1400" dirty="0"/>
          </a:p>
        </p:txBody>
      </p:sp>
      <p:sp>
        <p:nvSpPr>
          <p:cNvPr id="13" name="Shape 11"/>
          <p:cNvSpPr/>
          <p:nvPr/>
        </p:nvSpPr>
        <p:spPr>
          <a:xfrm>
            <a:off x="4846320" y="1389888"/>
            <a:ext cx="3794760" cy="420624"/>
          </a:xfrm>
          <a:prstGeom prst="rect">
            <a:avLst/>
          </a:prstGeom>
          <a:solidFill>
            <a:srgbClr val="1B2A4A"/>
          </a:solidFill>
          <a:ln w="10160">
            <a:solidFill>
              <a:srgbClr val="2E4270"/>
            </a:solidFill>
            <a:prstDash val="solid"/>
          </a:ln>
        </p:spPr>
      </p:sp>
      <p:sp>
        <p:nvSpPr>
          <p:cNvPr id="14" name="Text 12"/>
          <p:cNvSpPr/>
          <p:nvPr/>
        </p:nvSpPr>
        <p:spPr>
          <a:xfrm>
            <a:off x="4956048" y="1408176"/>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IP Noise</a:t>
            </a:r>
            <a:endParaRPr lang="en-US" sz="1050" dirty="0"/>
          </a:p>
        </p:txBody>
      </p:sp>
      <p:sp>
        <p:nvSpPr>
          <p:cNvPr id="15" name="Text 13"/>
          <p:cNvSpPr/>
          <p:nvPr/>
        </p:nvSpPr>
        <p:spPr>
          <a:xfrm>
            <a:off x="6812280" y="1408176"/>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Instrument Panel rattle</a:t>
            </a:r>
            <a:endParaRPr lang="en-US" sz="900" dirty="0"/>
          </a:p>
        </p:txBody>
      </p:sp>
      <p:sp>
        <p:nvSpPr>
          <p:cNvPr id="16" name="Shape 14"/>
          <p:cNvSpPr/>
          <p:nvPr/>
        </p:nvSpPr>
        <p:spPr>
          <a:xfrm>
            <a:off x="4846320" y="1911096"/>
            <a:ext cx="3794760" cy="420624"/>
          </a:xfrm>
          <a:prstGeom prst="rect">
            <a:avLst/>
          </a:prstGeom>
          <a:solidFill>
            <a:srgbClr val="1B2A4A"/>
          </a:solidFill>
          <a:ln w="10160">
            <a:solidFill>
              <a:srgbClr val="2E4270"/>
            </a:solidFill>
            <a:prstDash val="solid"/>
          </a:ln>
        </p:spPr>
      </p:sp>
      <p:sp>
        <p:nvSpPr>
          <p:cNvPr id="17" name="Text 15"/>
          <p:cNvSpPr/>
          <p:nvPr/>
        </p:nvSpPr>
        <p:spPr>
          <a:xfrm>
            <a:off x="4956048" y="1929384"/>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Sunroof Noise</a:t>
            </a:r>
            <a:endParaRPr lang="en-US" sz="1050" dirty="0"/>
          </a:p>
        </p:txBody>
      </p:sp>
      <p:sp>
        <p:nvSpPr>
          <p:cNvPr id="18" name="Text 16"/>
          <p:cNvSpPr/>
          <p:nvPr/>
        </p:nvSpPr>
        <p:spPr>
          <a:xfrm>
            <a:off x="6812280" y="1929384"/>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Wind seal / glass rattle</a:t>
            </a:r>
            <a:endParaRPr lang="en-US" sz="900" dirty="0"/>
          </a:p>
        </p:txBody>
      </p:sp>
      <p:sp>
        <p:nvSpPr>
          <p:cNvPr id="19" name="Shape 17"/>
          <p:cNvSpPr/>
          <p:nvPr/>
        </p:nvSpPr>
        <p:spPr>
          <a:xfrm>
            <a:off x="4846320" y="2432304"/>
            <a:ext cx="3794760" cy="420624"/>
          </a:xfrm>
          <a:prstGeom prst="rect">
            <a:avLst/>
          </a:prstGeom>
          <a:solidFill>
            <a:srgbClr val="1B2A4A"/>
          </a:solidFill>
          <a:ln w="10160">
            <a:solidFill>
              <a:srgbClr val="2E4270"/>
            </a:solidFill>
            <a:prstDash val="solid"/>
          </a:ln>
        </p:spPr>
      </p:sp>
      <p:sp>
        <p:nvSpPr>
          <p:cNvPr id="20" name="Text 18"/>
          <p:cNvSpPr/>
          <p:nvPr/>
        </p:nvSpPr>
        <p:spPr>
          <a:xfrm>
            <a:off x="4956048" y="2450592"/>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Steering Noise</a:t>
            </a:r>
            <a:endParaRPr lang="en-US" sz="1050" dirty="0"/>
          </a:p>
        </p:txBody>
      </p:sp>
      <p:sp>
        <p:nvSpPr>
          <p:cNvPr id="21" name="Text 19"/>
          <p:cNvSpPr/>
          <p:nvPr/>
        </p:nvSpPr>
        <p:spPr>
          <a:xfrm>
            <a:off x="6812280" y="2450592"/>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Column cap / bearing</a:t>
            </a:r>
            <a:endParaRPr lang="en-US" sz="900" dirty="0"/>
          </a:p>
        </p:txBody>
      </p:sp>
      <p:sp>
        <p:nvSpPr>
          <p:cNvPr id="22" name="Shape 20"/>
          <p:cNvSpPr/>
          <p:nvPr/>
        </p:nvSpPr>
        <p:spPr>
          <a:xfrm>
            <a:off x="4846320" y="2953512"/>
            <a:ext cx="3794760" cy="420624"/>
          </a:xfrm>
          <a:prstGeom prst="rect">
            <a:avLst/>
          </a:prstGeom>
          <a:solidFill>
            <a:srgbClr val="1B2A4A"/>
          </a:solidFill>
          <a:ln w="10160">
            <a:solidFill>
              <a:srgbClr val="2E4270"/>
            </a:solidFill>
            <a:prstDash val="solid"/>
          </a:ln>
        </p:spPr>
      </p:sp>
      <p:sp>
        <p:nvSpPr>
          <p:cNvPr id="23" name="Text 21"/>
          <p:cNvSpPr/>
          <p:nvPr/>
        </p:nvSpPr>
        <p:spPr>
          <a:xfrm>
            <a:off x="4956048" y="2971800"/>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Rooflamp Noise</a:t>
            </a:r>
            <a:endParaRPr lang="en-US" sz="1050" dirty="0"/>
          </a:p>
        </p:txBody>
      </p:sp>
      <p:sp>
        <p:nvSpPr>
          <p:cNvPr id="24" name="Text 22"/>
          <p:cNvSpPr/>
          <p:nvPr/>
        </p:nvSpPr>
        <p:spPr>
          <a:xfrm>
            <a:off x="6812280" y="2971800"/>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Loose fitment rattles</a:t>
            </a:r>
            <a:endParaRPr lang="en-US" sz="900" dirty="0"/>
          </a:p>
        </p:txBody>
      </p:sp>
      <p:sp>
        <p:nvSpPr>
          <p:cNvPr id="25" name="Shape 23"/>
          <p:cNvSpPr/>
          <p:nvPr/>
        </p:nvSpPr>
        <p:spPr>
          <a:xfrm>
            <a:off x="4846320" y="3474720"/>
            <a:ext cx="3794760" cy="420624"/>
          </a:xfrm>
          <a:prstGeom prst="rect">
            <a:avLst/>
          </a:prstGeom>
          <a:solidFill>
            <a:srgbClr val="1B2A4A"/>
          </a:solidFill>
          <a:ln w="10160">
            <a:solidFill>
              <a:srgbClr val="2E4270"/>
            </a:solidFill>
            <a:prstDash val="solid"/>
          </a:ln>
        </p:spPr>
      </p:sp>
      <p:sp>
        <p:nvSpPr>
          <p:cNvPr id="26" name="Text 24"/>
          <p:cNvSpPr/>
          <p:nvPr/>
        </p:nvSpPr>
        <p:spPr>
          <a:xfrm>
            <a:off x="4956048" y="3493008"/>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Glass Fouling</a:t>
            </a:r>
            <a:endParaRPr lang="en-US" sz="1050" dirty="0"/>
          </a:p>
        </p:txBody>
      </p:sp>
      <p:sp>
        <p:nvSpPr>
          <p:cNvPr id="27" name="Text 25"/>
          <p:cNvSpPr/>
          <p:nvPr/>
        </p:nvSpPr>
        <p:spPr>
          <a:xfrm>
            <a:off x="6812280" y="3493008"/>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Door glass contact noise</a:t>
            </a:r>
            <a:endParaRPr lang="en-US" sz="900" dirty="0"/>
          </a:p>
        </p:txBody>
      </p:sp>
      <p:sp>
        <p:nvSpPr>
          <p:cNvPr id="28" name="Shape 26"/>
          <p:cNvSpPr/>
          <p:nvPr/>
        </p:nvSpPr>
        <p:spPr>
          <a:xfrm>
            <a:off x="4846320" y="3995928"/>
            <a:ext cx="3794760" cy="420624"/>
          </a:xfrm>
          <a:prstGeom prst="rect">
            <a:avLst/>
          </a:prstGeom>
          <a:solidFill>
            <a:srgbClr val="1B2A4A"/>
          </a:solidFill>
          <a:ln w="10160">
            <a:solidFill>
              <a:srgbClr val="2E4270"/>
            </a:solidFill>
            <a:prstDash val="solid"/>
          </a:ln>
        </p:spPr>
      </p:sp>
      <p:sp>
        <p:nvSpPr>
          <p:cNvPr id="29" name="Text 27"/>
          <p:cNvSpPr/>
          <p:nvPr/>
        </p:nvSpPr>
        <p:spPr>
          <a:xfrm>
            <a:off x="4956048" y="4014216"/>
            <a:ext cx="1828800" cy="384048"/>
          </a:xfrm>
          <a:prstGeom prst="rect">
            <a:avLst/>
          </a:prstGeom>
          <a:noFill/>
          <a:ln/>
        </p:spPr>
        <p:txBody>
          <a:bodyPr wrap="square" lIns="0" tIns="0" rIns="0" bIns="0" rtlCol="0" anchor="ctr"/>
          <a:lstStyle/>
          <a:p>
            <a:pPr algn="l" indent="0" marL="0">
              <a:buNone/>
            </a:pPr>
            <a:r>
              <a:rPr lang="en-US" sz="1050" b="1" dirty="0">
                <a:solidFill>
                  <a:srgbClr val="00B8D4"/>
                </a:solidFill>
              </a:rPr>
              <a:t>🛞 Steering Cap</a:t>
            </a:r>
            <a:endParaRPr lang="en-US" sz="1050" dirty="0"/>
          </a:p>
        </p:txBody>
      </p:sp>
      <p:sp>
        <p:nvSpPr>
          <p:cNvPr id="30" name="Text 28"/>
          <p:cNvSpPr/>
          <p:nvPr/>
        </p:nvSpPr>
        <p:spPr>
          <a:xfrm>
            <a:off x="6812280" y="4014216"/>
            <a:ext cx="1737360" cy="384048"/>
          </a:xfrm>
          <a:prstGeom prst="rect">
            <a:avLst/>
          </a:prstGeom>
          <a:noFill/>
          <a:ln/>
        </p:spPr>
        <p:txBody>
          <a:bodyPr wrap="square" lIns="0" tIns="0" rIns="0" bIns="0" rtlCol="0" anchor="ctr"/>
          <a:lstStyle/>
          <a:p>
            <a:pPr algn="r" indent="0" marL="0">
              <a:buNone/>
            </a:pPr>
            <a:r>
              <a:rPr lang="en-US" sz="900" dirty="0">
                <a:solidFill>
                  <a:srgbClr val="8A9BB5"/>
                </a:solidFill>
              </a:rPr>
              <a:t>Cap loose on column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DATASET</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Training Data — 20 Real BSR Track Recordings</a:t>
            </a:r>
            <a:endParaRPr lang="en-US" sz="1900" dirty="0"/>
          </a:p>
        </p:txBody>
      </p:sp>
      <p:sp>
        <p:nvSpPr>
          <p:cNvPr id="6" name="Shape 4"/>
          <p:cNvSpPr/>
          <p:nvPr/>
        </p:nvSpPr>
        <p:spPr>
          <a:xfrm>
            <a:off x="347472" y="822960"/>
            <a:ext cx="1965960" cy="1143000"/>
          </a:xfrm>
          <a:prstGeom prst="rect">
            <a:avLst/>
          </a:prstGeom>
          <a:solidFill>
            <a:srgbClr val="243656"/>
          </a:solidFill>
          <a:ln w="12700">
            <a:solidFill>
              <a:srgbClr val="2E4270"/>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47472" y="822960"/>
            <a:ext cx="54864" cy="1143000"/>
          </a:xfrm>
          <a:prstGeom prst="rect">
            <a:avLst/>
          </a:prstGeom>
          <a:solidFill>
            <a:srgbClr val="00B8D4"/>
          </a:solidFill>
          <a:ln w="12700">
            <a:solidFill>
              <a:srgbClr val="00B8D4"/>
            </a:solidFill>
            <a:prstDash val="solid"/>
          </a:ln>
        </p:spPr>
      </p:sp>
      <p:sp>
        <p:nvSpPr>
          <p:cNvPr id="8" name="Text 6"/>
          <p:cNvSpPr/>
          <p:nvPr/>
        </p:nvSpPr>
        <p:spPr>
          <a:xfrm>
            <a:off x="457200" y="896112"/>
            <a:ext cx="1783080" cy="571500"/>
          </a:xfrm>
          <a:prstGeom prst="rect">
            <a:avLst/>
          </a:prstGeom>
          <a:noFill/>
          <a:ln/>
        </p:spPr>
        <p:txBody>
          <a:bodyPr wrap="square" lIns="0" tIns="0" rIns="0" bIns="0" rtlCol="0" anchor="b"/>
          <a:lstStyle/>
          <a:p>
            <a:pPr algn="ctr" indent="0" marL="0">
              <a:buNone/>
            </a:pPr>
            <a:r>
              <a:rPr lang="en-US" sz="3400" b="1" dirty="0">
                <a:solidFill>
                  <a:srgbClr val="00B8D4"/>
                </a:solidFill>
              </a:rPr>
              <a:t>20</a:t>
            </a:r>
            <a:endParaRPr lang="en-US" sz="3400" dirty="0"/>
          </a:p>
        </p:txBody>
      </p:sp>
      <p:sp>
        <p:nvSpPr>
          <p:cNvPr id="9" name="Text 7"/>
          <p:cNvSpPr/>
          <p:nvPr/>
        </p:nvSpPr>
        <p:spPr>
          <a:xfrm>
            <a:off x="457200" y="1451610"/>
            <a:ext cx="1783080" cy="320040"/>
          </a:xfrm>
          <a:prstGeom prst="rect">
            <a:avLst/>
          </a:prstGeom>
          <a:noFill/>
          <a:ln/>
        </p:spPr>
        <p:txBody>
          <a:bodyPr wrap="square" lIns="0" tIns="0" rIns="0" bIns="0" rtlCol="0" anchor="t"/>
          <a:lstStyle/>
          <a:p>
            <a:pPr algn="ctr" indent="0" marL="0">
              <a:buNone/>
            </a:pPr>
            <a:r>
              <a:rPr lang="en-US" sz="1100" b="1" dirty="0">
                <a:solidFill>
                  <a:srgbClr val="FFFFFF"/>
                </a:solidFill>
              </a:rPr>
              <a:t>Audio Files</a:t>
            </a:r>
            <a:endParaRPr lang="en-US" sz="1100" dirty="0"/>
          </a:p>
        </p:txBody>
      </p:sp>
      <p:sp>
        <p:nvSpPr>
          <p:cNvPr id="10" name="Text 8"/>
          <p:cNvSpPr/>
          <p:nvPr/>
        </p:nvSpPr>
        <p:spPr>
          <a:xfrm>
            <a:off x="438912" y="1737360"/>
            <a:ext cx="1801368" cy="228600"/>
          </a:xfrm>
          <a:prstGeom prst="rect">
            <a:avLst/>
          </a:prstGeom>
          <a:noFill/>
          <a:ln/>
        </p:spPr>
        <p:txBody>
          <a:bodyPr wrap="square" lIns="0" tIns="0" rIns="0" bIns="0" rtlCol="0" anchor="t"/>
          <a:lstStyle/>
          <a:p>
            <a:pPr algn="ctr" indent="0" marL="0">
              <a:buNone/>
            </a:pPr>
            <a:r>
              <a:rPr lang="en-US" sz="800" dirty="0">
                <a:solidFill>
                  <a:srgbClr val="8A9BB5"/>
                </a:solidFill>
              </a:rPr>
              <a:t>Total recordings</a:t>
            </a:r>
            <a:endParaRPr lang="en-US" sz="800" dirty="0"/>
          </a:p>
        </p:txBody>
      </p:sp>
      <p:sp>
        <p:nvSpPr>
          <p:cNvPr id="11" name="Shape 9"/>
          <p:cNvSpPr/>
          <p:nvPr/>
        </p:nvSpPr>
        <p:spPr>
          <a:xfrm>
            <a:off x="2423160" y="822960"/>
            <a:ext cx="1965960" cy="1143000"/>
          </a:xfrm>
          <a:prstGeom prst="rect">
            <a:avLst/>
          </a:prstGeom>
          <a:solidFill>
            <a:srgbClr val="243656"/>
          </a:solidFill>
          <a:ln w="12700">
            <a:solidFill>
              <a:srgbClr val="2E4270"/>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2423160" y="822960"/>
            <a:ext cx="54864" cy="1143000"/>
          </a:xfrm>
          <a:prstGeom prst="rect">
            <a:avLst/>
          </a:prstGeom>
          <a:solidFill>
            <a:srgbClr val="00C853"/>
          </a:solidFill>
          <a:ln w="12700">
            <a:solidFill>
              <a:srgbClr val="00C853"/>
            </a:solidFill>
            <a:prstDash val="solid"/>
          </a:ln>
        </p:spPr>
      </p:sp>
      <p:sp>
        <p:nvSpPr>
          <p:cNvPr id="13" name="Text 11"/>
          <p:cNvSpPr/>
          <p:nvPr/>
        </p:nvSpPr>
        <p:spPr>
          <a:xfrm>
            <a:off x="2532888" y="896112"/>
            <a:ext cx="1783080" cy="571500"/>
          </a:xfrm>
          <a:prstGeom prst="rect">
            <a:avLst/>
          </a:prstGeom>
          <a:noFill/>
          <a:ln/>
        </p:spPr>
        <p:txBody>
          <a:bodyPr wrap="square" lIns="0" tIns="0" rIns="0" bIns="0" rtlCol="0" anchor="b"/>
          <a:lstStyle/>
          <a:p>
            <a:pPr algn="ctr" indent="0" marL="0">
              <a:buNone/>
            </a:pPr>
            <a:r>
              <a:rPr lang="en-US" sz="3400" b="1" dirty="0">
                <a:solidFill>
                  <a:srgbClr val="00C853"/>
                </a:solidFill>
              </a:rPr>
              <a:t>13</a:t>
            </a:r>
            <a:endParaRPr lang="en-US" sz="3400" dirty="0"/>
          </a:p>
        </p:txBody>
      </p:sp>
      <p:sp>
        <p:nvSpPr>
          <p:cNvPr id="14" name="Text 12"/>
          <p:cNvSpPr/>
          <p:nvPr/>
        </p:nvSpPr>
        <p:spPr>
          <a:xfrm>
            <a:off x="2532888" y="1451610"/>
            <a:ext cx="1783080" cy="320040"/>
          </a:xfrm>
          <a:prstGeom prst="rect">
            <a:avLst/>
          </a:prstGeom>
          <a:noFill/>
          <a:ln/>
        </p:spPr>
        <p:txBody>
          <a:bodyPr wrap="square" lIns="0" tIns="0" rIns="0" bIns="0" rtlCol="0" anchor="t"/>
          <a:lstStyle/>
          <a:p>
            <a:pPr algn="ctr" indent="0" marL="0">
              <a:buNone/>
            </a:pPr>
            <a:r>
              <a:rPr lang="en-US" sz="1100" b="1" dirty="0">
                <a:solidFill>
                  <a:srgbClr val="FFFFFF"/>
                </a:solidFill>
              </a:rPr>
              <a:t>OK Vehicles</a:t>
            </a:r>
            <a:endParaRPr lang="en-US" sz="1100" dirty="0"/>
          </a:p>
        </p:txBody>
      </p:sp>
      <p:sp>
        <p:nvSpPr>
          <p:cNvPr id="15" name="Text 13"/>
          <p:cNvSpPr/>
          <p:nvPr/>
        </p:nvSpPr>
        <p:spPr>
          <a:xfrm>
            <a:off x="2514600" y="1737360"/>
            <a:ext cx="1801368" cy="228600"/>
          </a:xfrm>
          <a:prstGeom prst="rect">
            <a:avLst/>
          </a:prstGeom>
          <a:noFill/>
          <a:ln/>
        </p:spPr>
        <p:txBody>
          <a:bodyPr wrap="square" lIns="0" tIns="0" rIns="0" bIns="0" rtlCol="0" anchor="t"/>
          <a:lstStyle/>
          <a:p>
            <a:pPr algn="ctr" indent="0" marL="0">
              <a:buNone/>
            </a:pPr>
            <a:r>
              <a:rPr lang="en-US" sz="800" dirty="0">
                <a:solidFill>
                  <a:srgbClr val="8A9BB5"/>
                </a:solidFill>
              </a:rPr>
              <a:t>Normal operation</a:t>
            </a:r>
            <a:endParaRPr lang="en-US" sz="800" dirty="0"/>
          </a:p>
        </p:txBody>
      </p:sp>
      <p:sp>
        <p:nvSpPr>
          <p:cNvPr id="16" name="Shape 14"/>
          <p:cNvSpPr/>
          <p:nvPr/>
        </p:nvSpPr>
        <p:spPr>
          <a:xfrm>
            <a:off x="4498848" y="822960"/>
            <a:ext cx="1965960" cy="1143000"/>
          </a:xfrm>
          <a:prstGeom prst="rect">
            <a:avLst/>
          </a:prstGeom>
          <a:solidFill>
            <a:srgbClr val="243656"/>
          </a:solidFill>
          <a:ln w="12700">
            <a:solidFill>
              <a:srgbClr val="2E4270"/>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4498848" y="822960"/>
            <a:ext cx="54864" cy="1143000"/>
          </a:xfrm>
          <a:prstGeom prst="rect">
            <a:avLst/>
          </a:prstGeom>
          <a:solidFill>
            <a:srgbClr val="FF3D3D"/>
          </a:solidFill>
          <a:ln w="12700">
            <a:solidFill>
              <a:srgbClr val="FF3D3D"/>
            </a:solidFill>
            <a:prstDash val="solid"/>
          </a:ln>
        </p:spPr>
      </p:sp>
      <p:sp>
        <p:nvSpPr>
          <p:cNvPr id="18" name="Text 16"/>
          <p:cNvSpPr/>
          <p:nvPr/>
        </p:nvSpPr>
        <p:spPr>
          <a:xfrm>
            <a:off x="4608576" y="896112"/>
            <a:ext cx="1783080" cy="571500"/>
          </a:xfrm>
          <a:prstGeom prst="rect">
            <a:avLst/>
          </a:prstGeom>
          <a:noFill/>
          <a:ln/>
        </p:spPr>
        <p:txBody>
          <a:bodyPr wrap="square" lIns="0" tIns="0" rIns="0" bIns="0" rtlCol="0" anchor="b"/>
          <a:lstStyle/>
          <a:p>
            <a:pPr algn="ctr" indent="0" marL="0">
              <a:buNone/>
            </a:pPr>
            <a:r>
              <a:rPr lang="en-US" sz="3400" b="1" dirty="0">
                <a:solidFill>
                  <a:srgbClr val="FF3D3D"/>
                </a:solidFill>
              </a:rPr>
              <a:t>7</a:t>
            </a:r>
            <a:endParaRPr lang="en-US" sz="3400" dirty="0"/>
          </a:p>
        </p:txBody>
      </p:sp>
      <p:sp>
        <p:nvSpPr>
          <p:cNvPr id="19" name="Text 17"/>
          <p:cNvSpPr/>
          <p:nvPr/>
        </p:nvSpPr>
        <p:spPr>
          <a:xfrm>
            <a:off x="4608576" y="1451610"/>
            <a:ext cx="1783080" cy="320040"/>
          </a:xfrm>
          <a:prstGeom prst="rect">
            <a:avLst/>
          </a:prstGeom>
          <a:noFill/>
          <a:ln/>
        </p:spPr>
        <p:txBody>
          <a:bodyPr wrap="square" lIns="0" tIns="0" rIns="0" bIns="0" rtlCol="0" anchor="t"/>
          <a:lstStyle/>
          <a:p>
            <a:pPr algn="ctr" indent="0" marL="0">
              <a:buNone/>
            </a:pPr>
            <a:r>
              <a:rPr lang="en-US" sz="1100" b="1" dirty="0">
                <a:solidFill>
                  <a:srgbClr val="FFFFFF"/>
                </a:solidFill>
              </a:rPr>
              <a:t>NOT OK Vehicles</a:t>
            </a:r>
            <a:endParaRPr lang="en-US" sz="1100" dirty="0"/>
          </a:p>
        </p:txBody>
      </p:sp>
      <p:sp>
        <p:nvSpPr>
          <p:cNvPr id="20" name="Text 18"/>
          <p:cNvSpPr/>
          <p:nvPr/>
        </p:nvSpPr>
        <p:spPr>
          <a:xfrm>
            <a:off x="4590288" y="1737360"/>
            <a:ext cx="1801368" cy="228600"/>
          </a:xfrm>
          <a:prstGeom prst="rect">
            <a:avLst/>
          </a:prstGeom>
          <a:noFill/>
          <a:ln/>
        </p:spPr>
        <p:txBody>
          <a:bodyPr wrap="square" lIns="0" tIns="0" rIns="0" bIns="0" rtlCol="0" anchor="t"/>
          <a:lstStyle/>
          <a:p>
            <a:pPr algn="ctr" indent="0" marL="0">
              <a:buNone/>
            </a:pPr>
            <a:r>
              <a:rPr lang="en-US" sz="800" dirty="0">
                <a:solidFill>
                  <a:srgbClr val="8A9BB5"/>
                </a:solidFill>
              </a:rPr>
              <a:t>Defect present</a:t>
            </a:r>
            <a:endParaRPr lang="en-US" sz="800" dirty="0"/>
          </a:p>
        </p:txBody>
      </p:sp>
      <p:sp>
        <p:nvSpPr>
          <p:cNvPr id="21" name="Shape 19"/>
          <p:cNvSpPr/>
          <p:nvPr/>
        </p:nvSpPr>
        <p:spPr>
          <a:xfrm>
            <a:off x="6565392" y="822960"/>
            <a:ext cx="1965960" cy="1143000"/>
          </a:xfrm>
          <a:prstGeom prst="rect">
            <a:avLst/>
          </a:prstGeom>
          <a:solidFill>
            <a:srgbClr val="243656"/>
          </a:solidFill>
          <a:ln w="12700">
            <a:solidFill>
              <a:srgbClr val="2E4270"/>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6565392" y="822960"/>
            <a:ext cx="54864" cy="1143000"/>
          </a:xfrm>
          <a:prstGeom prst="rect">
            <a:avLst/>
          </a:prstGeom>
          <a:solidFill>
            <a:srgbClr val="FFB300"/>
          </a:solidFill>
          <a:ln w="12700">
            <a:solidFill>
              <a:srgbClr val="FFB300"/>
            </a:solidFill>
            <a:prstDash val="solid"/>
          </a:ln>
        </p:spPr>
      </p:sp>
      <p:sp>
        <p:nvSpPr>
          <p:cNvPr id="23" name="Text 21"/>
          <p:cNvSpPr/>
          <p:nvPr/>
        </p:nvSpPr>
        <p:spPr>
          <a:xfrm>
            <a:off x="6675120" y="896112"/>
            <a:ext cx="1783080" cy="571500"/>
          </a:xfrm>
          <a:prstGeom prst="rect">
            <a:avLst/>
          </a:prstGeom>
          <a:noFill/>
          <a:ln/>
        </p:spPr>
        <p:txBody>
          <a:bodyPr wrap="square" lIns="0" tIns="0" rIns="0" bIns="0" rtlCol="0" anchor="b"/>
          <a:lstStyle/>
          <a:p>
            <a:pPr algn="ctr" indent="0" marL="0">
              <a:buNone/>
            </a:pPr>
            <a:r>
              <a:rPr lang="en-US" sz="3400" b="1" dirty="0">
                <a:solidFill>
                  <a:srgbClr val="FFB300"/>
                </a:solidFill>
              </a:rPr>
              <a:t>99</a:t>
            </a:r>
            <a:endParaRPr lang="en-US" sz="3400" dirty="0"/>
          </a:p>
        </p:txBody>
      </p:sp>
      <p:sp>
        <p:nvSpPr>
          <p:cNvPr id="24" name="Text 22"/>
          <p:cNvSpPr/>
          <p:nvPr/>
        </p:nvSpPr>
        <p:spPr>
          <a:xfrm>
            <a:off x="6675120" y="1451610"/>
            <a:ext cx="1783080" cy="320040"/>
          </a:xfrm>
          <a:prstGeom prst="rect">
            <a:avLst/>
          </a:prstGeom>
          <a:noFill/>
          <a:ln/>
        </p:spPr>
        <p:txBody>
          <a:bodyPr wrap="square" lIns="0" tIns="0" rIns="0" bIns="0" rtlCol="0" anchor="t"/>
          <a:lstStyle/>
          <a:p>
            <a:pPr algn="ctr" indent="0" marL="0">
              <a:buNone/>
            </a:pPr>
            <a:r>
              <a:rPr lang="en-US" sz="1100" b="1" dirty="0">
                <a:solidFill>
                  <a:srgbClr val="FFFFFF"/>
                </a:solidFill>
              </a:rPr>
              <a:t>Features/File</a:t>
            </a:r>
            <a:endParaRPr lang="en-US" sz="1100" dirty="0"/>
          </a:p>
        </p:txBody>
      </p:sp>
      <p:sp>
        <p:nvSpPr>
          <p:cNvPr id="25" name="Text 23"/>
          <p:cNvSpPr/>
          <p:nvPr/>
        </p:nvSpPr>
        <p:spPr>
          <a:xfrm>
            <a:off x="6656832" y="1737360"/>
            <a:ext cx="1801368" cy="228600"/>
          </a:xfrm>
          <a:prstGeom prst="rect">
            <a:avLst/>
          </a:prstGeom>
          <a:noFill/>
          <a:ln/>
        </p:spPr>
        <p:txBody>
          <a:bodyPr wrap="square" lIns="0" tIns="0" rIns="0" bIns="0" rtlCol="0" anchor="t"/>
          <a:lstStyle/>
          <a:p>
            <a:pPr algn="ctr" indent="0" marL="0">
              <a:buNone/>
            </a:pPr>
            <a:r>
              <a:rPr lang="en-US" sz="800" dirty="0">
                <a:solidFill>
                  <a:srgbClr val="8A9BB5"/>
                </a:solidFill>
              </a:rPr>
              <a:t>Audio descriptors</a:t>
            </a:r>
            <a:endParaRPr lang="en-US" sz="800" dirty="0"/>
          </a:p>
        </p:txBody>
      </p:sp>
      <p:sp>
        <p:nvSpPr>
          <p:cNvPr id="26" name="Shape 24"/>
          <p:cNvSpPr/>
          <p:nvPr/>
        </p:nvSpPr>
        <p:spPr>
          <a:xfrm>
            <a:off x="347472" y="2121408"/>
            <a:ext cx="3200400" cy="2743200"/>
          </a:xfrm>
          <a:prstGeom prst="rect">
            <a:avLst/>
          </a:prstGeom>
          <a:solidFill>
            <a:srgbClr val="1B2A4A"/>
          </a:solidFill>
          <a:ln w="12700">
            <a:solidFill>
              <a:srgbClr val="E8EDF5"/>
            </a:solidFill>
            <a:prstDash val="solid"/>
          </a:ln>
          <a:effectLst>
            <a:outerShdw sx="100000" sy="100000" kx="0" ky="0" algn="bl" rotWithShape="0" blurRad="76200" dist="25400" dir="8100000">
              <a:srgbClr val="000000">
                <a:alpha val="10000"/>
              </a:srgbClr>
            </a:outerShdw>
          </a:effectLst>
        </p:spPr>
      </p:sp>
      <p:sp>
        <p:nvSpPr>
          <p:cNvPr id="27" name="Shape 25"/>
          <p:cNvSpPr/>
          <p:nvPr/>
        </p:nvSpPr>
        <p:spPr>
          <a:xfrm>
            <a:off x="347472" y="2121408"/>
            <a:ext cx="54864" cy="2743200"/>
          </a:xfrm>
          <a:prstGeom prst="rect">
            <a:avLst/>
          </a:prstGeom>
          <a:solidFill>
            <a:srgbClr val="00B8D4"/>
          </a:solidFill>
          <a:ln w="12700">
            <a:solidFill>
              <a:srgbClr val="00B8D4"/>
            </a:solidFill>
            <a:prstDash val="solid"/>
          </a:ln>
        </p:spPr>
      </p:sp>
      <p:sp>
        <p:nvSpPr>
          <p:cNvPr id="28" name="Text 26"/>
          <p:cNvSpPr/>
          <p:nvPr/>
        </p:nvSpPr>
        <p:spPr>
          <a:xfrm>
            <a:off x="502920" y="2194560"/>
            <a:ext cx="2926080" cy="347472"/>
          </a:xfrm>
          <a:prstGeom prst="rect">
            <a:avLst/>
          </a:prstGeom>
          <a:noFill/>
          <a:ln/>
        </p:spPr>
        <p:txBody>
          <a:bodyPr wrap="square" lIns="0" tIns="0" rIns="0" bIns="0" rtlCol="0" anchor="ctr"/>
          <a:lstStyle/>
          <a:p>
            <a:pPr algn="l" indent="0" marL="0">
              <a:buNone/>
            </a:pPr>
            <a:r>
              <a:rPr lang="en-US" sz="1300" b="1" dirty="0">
                <a:solidFill>
                  <a:srgbClr val="00B8D4"/>
                </a:solidFill>
                <a:latin typeface="Calibri" pitchFamily="34" charset="0"/>
                <a:ea typeface="Calibri" pitchFamily="34" charset="-122"/>
                <a:cs typeface="Calibri" pitchFamily="34" charset="-120"/>
              </a:rPr>
              <a:t>Recording Setup</a:t>
            </a:r>
            <a:endParaRPr lang="en-US" sz="1300" dirty="0"/>
          </a:p>
        </p:txBody>
      </p:sp>
      <p:sp>
        <p:nvSpPr>
          <p:cNvPr id="29" name="Text 27"/>
          <p:cNvSpPr/>
          <p:nvPr/>
        </p:nvSpPr>
        <p:spPr>
          <a:xfrm>
            <a:off x="512064" y="2633472"/>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Mic type:</a:t>
            </a:r>
            <a:endParaRPr lang="en-US" sz="950" dirty="0"/>
          </a:p>
        </p:txBody>
      </p:sp>
      <p:sp>
        <p:nvSpPr>
          <p:cNvPr id="30" name="Text 28"/>
          <p:cNvSpPr/>
          <p:nvPr/>
        </p:nvSpPr>
        <p:spPr>
          <a:xfrm>
            <a:off x="1783080" y="2633472"/>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Bluetooth wireless mic</a:t>
            </a:r>
            <a:endParaRPr lang="en-US" sz="950" dirty="0"/>
          </a:p>
        </p:txBody>
      </p:sp>
      <p:sp>
        <p:nvSpPr>
          <p:cNvPr id="31" name="Text 29"/>
          <p:cNvSpPr/>
          <p:nvPr/>
        </p:nvSpPr>
        <p:spPr>
          <a:xfrm>
            <a:off x="512064" y="2971800"/>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Sample rate:</a:t>
            </a:r>
            <a:endParaRPr lang="en-US" sz="950" dirty="0"/>
          </a:p>
        </p:txBody>
      </p:sp>
      <p:sp>
        <p:nvSpPr>
          <p:cNvPr id="32" name="Text 30"/>
          <p:cNvSpPr/>
          <p:nvPr/>
        </p:nvSpPr>
        <p:spPr>
          <a:xfrm>
            <a:off x="1783080" y="2971800"/>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44,100 Hz (44.1 kHz)</a:t>
            </a:r>
            <a:endParaRPr lang="en-US" sz="950" dirty="0"/>
          </a:p>
        </p:txBody>
      </p:sp>
      <p:sp>
        <p:nvSpPr>
          <p:cNvPr id="33" name="Text 31"/>
          <p:cNvSpPr/>
          <p:nvPr/>
        </p:nvSpPr>
        <p:spPr>
          <a:xfrm>
            <a:off x="512064" y="3310128"/>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Format:</a:t>
            </a:r>
            <a:endParaRPr lang="en-US" sz="950" dirty="0"/>
          </a:p>
        </p:txBody>
      </p:sp>
      <p:sp>
        <p:nvSpPr>
          <p:cNvPr id="34" name="Text 32"/>
          <p:cNvSpPr/>
          <p:nvPr/>
        </p:nvSpPr>
        <p:spPr>
          <a:xfrm>
            <a:off x="1783080" y="3310128"/>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WAV (uncompressed)</a:t>
            </a:r>
            <a:endParaRPr lang="en-US" sz="950" dirty="0"/>
          </a:p>
        </p:txBody>
      </p:sp>
      <p:sp>
        <p:nvSpPr>
          <p:cNvPr id="35" name="Text 33"/>
          <p:cNvSpPr/>
          <p:nvPr/>
        </p:nvSpPr>
        <p:spPr>
          <a:xfrm>
            <a:off x="512064" y="3648456"/>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Duration:</a:t>
            </a:r>
            <a:endParaRPr lang="en-US" sz="950" dirty="0"/>
          </a:p>
        </p:txBody>
      </p:sp>
      <p:sp>
        <p:nvSpPr>
          <p:cNvPr id="36" name="Text 34"/>
          <p:cNvSpPr/>
          <p:nvPr/>
        </p:nvSpPr>
        <p:spPr>
          <a:xfrm>
            <a:off x="1783080" y="3648456"/>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Up to 291 seconds/file</a:t>
            </a:r>
            <a:endParaRPr lang="en-US" sz="950" dirty="0"/>
          </a:p>
        </p:txBody>
      </p:sp>
      <p:sp>
        <p:nvSpPr>
          <p:cNvPr id="37" name="Text 35"/>
          <p:cNvSpPr/>
          <p:nvPr/>
        </p:nvSpPr>
        <p:spPr>
          <a:xfrm>
            <a:off x="512064" y="3986784"/>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Processing:</a:t>
            </a:r>
            <a:endParaRPr lang="en-US" sz="950" dirty="0"/>
          </a:p>
        </p:txBody>
      </p:sp>
      <p:sp>
        <p:nvSpPr>
          <p:cNvPr id="38" name="Text 36"/>
          <p:cNvSpPr/>
          <p:nvPr/>
        </p:nvSpPr>
        <p:spPr>
          <a:xfrm>
            <a:off x="1783080" y="3986784"/>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Downsampled → 16kHz, 30s cap</a:t>
            </a:r>
            <a:endParaRPr lang="en-US" sz="950" dirty="0"/>
          </a:p>
        </p:txBody>
      </p:sp>
      <p:sp>
        <p:nvSpPr>
          <p:cNvPr id="39" name="Text 37"/>
          <p:cNvSpPr/>
          <p:nvPr/>
        </p:nvSpPr>
        <p:spPr>
          <a:xfrm>
            <a:off x="512064" y="4325112"/>
            <a:ext cx="1188720" cy="310896"/>
          </a:xfrm>
          <a:prstGeom prst="rect">
            <a:avLst/>
          </a:prstGeom>
          <a:noFill/>
          <a:ln/>
        </p:spPr>
        <p:txBody>
          <a:bodyPr wrap="square" lIns="0" tIns="0" rIns="0" bIns="0" rtlCol="0" anchor="ctr"/>
          <a:lstStyle/>
          <a:p>
            <a:pPr algn="l" indent="0" marL="0">
              <a:buNone/>
            </a:pPr>
            <a:r>
              <a:rPr lang="en-US" sz="950" b="1" dirty="0">
                <a:solidFill>
                  <a:srgbClr val="8A9BB5"/>
                </a:solidFill>
              </a:rPr>
              <a:t>Location:</a:t>
            </a:r>
            <a:endParaRPr lang="en-US" sz="950" dirty="0"/>
          </a:p>
        </p:txBody>
      </p:sp>
      <p:sp>
        <p:nvSpPr>
          <p:cNvPr id="40" name="Text 38"/>
          <p:cNvSpPr/>
          <p:nvPr/>
        </p:nvSpPr>
        <p:spPr>
          <a:xfrm>
            <a:off x="1783080" y="4325112"/>
            <a:ext cx="1645920" cy="310896"/>
          </a:xfrm>
          <a:prstGeom prst="rect">
            <a:avLst/>
          </a:prstGeom>
          <a:noFill/>
          <a:ln/>
        </p:spPr>
        <p:txBody>
          <a:bodyPr wrap="square" lIns="0" tIns="0" rIns="0" bIns="0" rtlCol="0" anchor="ctr"/>
          <a:lstStyle/>
          <a:p>
            <a:pPr algn="l" indent="0" marL="0">
              <a:buNone/>
            </a:pPr>
            <a:r>
              <a:rPr lang="en-US" sz="950" dirty="0">
                <a:solidFill>
                  <a:srgbClr val="FFFFFF"/>
                </a:solidFill>
              </a:rPr>
              <a:t>BSR Track — in-vehicle</a:t>
            </a:r>
            <a:endParaRPr lang="en-US" sz="950" dirty="0"/>
          </a:p>
        </p:txBody>
      </p:sp>
      <p:sp>
        <p:nvSpPr>
          <p:cNvPr id="41" name="Shape 39"/>
          <p:cNvSpPr/>
          <p:nvPr/>
        </p:nvSpPr>
        <p:spPr>
          <a:xfrm>
            <a:off x="3703320" y="2121408"/>
            <a:ext cx="5084064" cy="2743200"/>
          </a:xfrm>
          <a:prstGeom prst="rect">
            <a:avLst/>
          </a:prstGeom>
          <a:solidFill>
            <a:srgbClr val="1B2A4A"/>
          </a:solidFill>
          <a:ln w="12700">
            <a:solidFill>
              <a:srgbClr val="E8EDF5"/>
            </a:solidFill>
            <a:prstDash val="solid"/>
          </a:ln>
          <a:effectLst>
            <a:outerShdw sx="100000" sy="100000" kx="0" ky="0" algn="bl" rotWithShape="0" blurRad="76200" dist="25400" dir="8100000">
              <a:srgbClr val="000000">
                <a:alpha val="10000"/>
              </a:srgbClr>
            </a:outerShdw>
          </a:effectLst>
        </p:spPr>
      </p:sp>
      <p:sp>
        <p:nvSpPr>
          <p:cNvPr id="42" name="Shape 40"/>
          <p:cNvSpPr/>
          <p:nvPr/>
        </p:nvSpPr>
        <p:spPr>
          <a:xfrm>
            <a:off x="3703320" y="2121408"/>
            <a:ext cx="54864" cy="2743200"/>
          </a:xfrm>
          <a:prstGeom prst="rect">
            <a:avLst/>
          </a:prstGeom>
          <a:solidFill>
            <a:srgbClr val="00C853"/>
          </a:solidFill>
          <a:ln w="12700">
            <a:solidFill>
              <a:srgbClr val="00C853"/>
            </a:solidFill>
            <a:prstDash val="solid"/>
          </a:ln>
        </p:spPr>
      </p:sp>
      <p:sp>
        <p:nvSpPr>
          <p:cNvPr id="43" name="Text 41"/>
          <p:cNvSpPr/>
          <p:nvPr/>
        </p:nvSpPr>
        <p:spPr>
          <a:xfrm>
            <a:off x="3858768" y="2194560"/>
            <a:ext cx="4754880" cy="347472"/>
          </a:xfrm>
          <a:prstGeom prst="rect">
            <a:avLst/>
          </a:prstGeom>
          <a:noFill/>
          <a:ln/>
        </p:spPr>
        <p:txBody>
          <a:bodyPr wrap="square" lIns="0" tIns="0" rIns="0" bIns="0" rtlCol="0" anchor="ctr"/>
          <a:lstStyle/>
          <a:p>
            <a:pPr algn="l" indent="0" marL="0">
              <a:buNone/>
            </a:pPr>
            <a:r>
              <a:rPr lang="en-US" sz="1300" b="1" dirty="0">
                <a:solidFill>
                  <a:srgbClr val="00B8D4"/>
                </a:solidFill>
              </a:rPr>
              <a:t>File Inventory</a:t>
            </a:r>
            <a:endParaRPr lang="en-US" sz="1300" dirty="0"/>
          </a:p>
        </p:txBody>
      </p:sp>
      <p:sp>
        <p:nvSpPr>
          <p:cNvPr id="44" name="Text 42"/>
          <p:cNvSpPr/>
          <p:nvPr/>
        </p:nvSpPr>
        <p:spPr>
          <a:xfrm>
            <a:off x="3858768" y="2606040"/>
            <a:ext cx="2011680" cy="256032"/>
          </a:xfrm>
          <a:prstGeom prst="rect">
            <a:avLst/>
          </a:prstGeom>
          <a:noFill/>
          <a:ln/>
        </p:spPr>
        <p:txBody>
          <a:bodyPr wrap="square" lIns="0" tIns="0" rIns="0" bIns="0" rtlCol="0" anchor="ctr"/>
          <a:lstStyle/>
          <a:p>
            <a:pPr algn="l" indent="0" marL="0">
              <a:buNone/>
            </a:pPr>
            <a:r>
              <a:rPr lang="en-US" sz="850" b="1" dirty="0">
                <a:solidFill>
                  <a:srgbClr val="00B8D4"/>
                </a:solidFill>
              </a:rPr>
              <a:t>Vehicle ID</a:t>
            </a:r>
            <a:endParaRPr lang="en-US" sz="850" dirty="0"/>
          </a:p>
        </p:txBody>
      </p:sp>
      <p:sp>
        <p:nvSpPr>
          <p:cNvPr id="45" name="Text 43"/>
          <p:cNvSpPr/>
          <p:nvPr/>
        </p:nvSpPr>
        <p:spPr>
          <a:xfrm>
            <a:off x="5943600" y="2606040"/>
            <a:ext cx="777240" cy="256032"/>
          </a:xfrm>
          <a:prstGeom prst="rect">
            <a:avLst/>
          </a:prstGeom>
          <a:noFill/>
          <a:ln/>
        </p:spPr>
        <p:txBody>
          <a:bodyPr wrap="square" lIns="0" tIns="0" rIns="0" bIns="0" rtlCol="0" anchor="ctr"/>
          <a:lstStyle/>
          <a:p>
            <a:pPr algn="l" indent="0" marL="0">
              <a:buNone/>
            </a:pPr>
            <a:r>
              <a:rPr lang="en-US" sz="850" b="1" dirty="0">
                <a:solidFill>
                  <a:srgbClr val="00B8D4"/>
                </a:solidFill>
              </a:rPr>
              <a:t>Status</a:t>
            </a:r>
            <a:endParaRPr lang="en-US" sz="850" dirty="0"/>
          </a:p>
        </p:txBody>
      </p:sp>
      <p:sp>
        <p:nvSpPr>
          <p:cNvPr id="46" name="Text 44"/>
          <p:cNvSpPr/>
          <p:nvPr/>
        </p:nvSpPr>
        <p:spPr>
          <a:xfrm>
            <a:off x="6784848" y="2606040"/>
            <a:ext cx="2103120" cy="256032"/>
          </a:xfrm>
          <a:prstGeom prst="rect">
            <a:avLst/>
          </a:prstGeom>
          <a:noFill/>
          <a:ln/>
        </p:spPr>
        <p:txBody>
          <a:bodyPr wrap="square" lIns="0" tIns="0" rIns="0" bIns="0" rtlCol="0" anchor="ctr"/>
          <a:lstStyle/>
          <a:p>
            <a:pPr algn="l" indent="0" marL="0">
              <a:buNone/>
            </a:pPr>
            <a:r>
              <a:rPr lang="en-US" sz="850" b="1" dirty="0">
                <a:solidFill>
                  <a:srgbClr val="00B8D4"/>
                </a:solidFill>
              </a:rPr>
              <a:t>Noise Type</a:t>
            </a:r>
            <a:endParaRPr lang="en-US" sz="850" dirty="0"/>
          </a:p>
        </p:txBody>
      </p:sp>
      <p:sp>
        <p:nvSpPr>
          <p:cNvPr id="47" name="Shape 45"/>
          <p:cNvSpPr/>
          <p:nvPr/>
        </p:nvSpPr>
        <p:spPr>
          <a:xfrm>
            <a:off x="3858768" y="2871216"/>
            <a:ext cx="4754880" cy="0"/>
          </a:xfrm>
          <a:prstGeom prst="line">
            <a:avLst/>
          </a:prstGeom>
          <a:noFill/>
          <a:ln w="10160">
            <a:solidFill>
              <a:srgbClr val="2E4270"/>
            </a:solidFill>
            <a:prstDash val="solid"/>
          </a:ln>
        </p:spPr>
      </p:sp>
      <p:sp>
        <p:nvSpPr>
          <p:cNvPr id="48" name="Shape 46"/>
          <p:cNvSpPr/>
          <p:nvPr/>
        </p:nvSpPr>
        <p:spPr>
          <a:xfrm>
            <a:off x="3730752" y="2907792"/>
            <a:ext cx="5029200" cy="210312"/>
          </a:xfrm>
          <a:prstGeom prst="rect">
            <a:avLst/>
          </a:prstGeom>
          <a:solidFill>
            <a:srgbClr val="243656"/>
          </a:solidFill>
          <a:ln w="12700">
            <a:solidFill>
              <a:srgbClr val="243656"/>
            </a:solidFill>
            <a:prstDash val="solid"/>
          </a:ln>
        </p:spPr>
      </p:sp>
      <p:sp>
        <p:nvSpPr>
          <p:cNvPr id="49" name="Text 47"/>
          <p:cNvSpPr/>
          <p:nvPr/>
        </p:nvSpPr>
        <p:spPr>
          <a:xfrm>
            <a:off x="3858768" y="2926080"/>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50760, 50561, 51052, 51041</a:t>
            </a:r>
            <a:endParaRPr lang="en-US" sz="800" dirty="0"/>
          </a:p>
        </p:txBody>
      </p:sp>
      <p:sp>
        <p:nvSpPr>
          <p:cNvPr id="50" name="Text 48"/>
          <p:cNvSpPr/>
          <p:nvPr/>
        </p:nvSpPr>
        <p:spPr>
          <a:xfrm>
            <a:off x="5943600" y="2926080"/>
            <a:ext cx="777240" cy="201168"/>
          </a:xfrm>
          <a:prstGeom prst="rect">
            <a:avLst/>
          </a:prstGeom>
          <a:noFill/>
          <a:ln/>
        </p:spPr>
        <p:txBody>
          <a:bodyPr wrap="square" lIns="0" tIns="0" rIns="0" bIns="0" rtlCol="0" anchor="ctr"/>
          <a:lstStyle/>
          <a:p>
            <a:pPr algn="l" indent="0" marL="0">
              <a:buNone/>
            </a:pPr>
            <a:r>
              <a:rPr lang="en-US" sz="800" b="1" dirty="0">
                <a:solidFill>
                  <a:srgbClr val="00C853"/>
                </a:solidFill>
              </a:rPr>
              <a:t>OK</a:t>
            </a:r>
            <a:endParaRPr lang="en-US" sz="800" dirty="0"/>
          </a:p>
        </p:txBody>
      </p:sp>
      <p:sp>
        <p:nvSpPr>
          <p:cNvPr id="51" name="Text 49"/>
          <p:cNvSpPr/>
          <p:nvPr/>
        </p:nvSpPr>
        <p:spPr>
          <a:xfrm>
            <a:off x="6784848" y="2926080"/>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Standard BSR run</a:t>
            </a:r>
            <a:endParaRPr lang="en-US" sz="750" dirty="0"/>
          </a:p>
        </p:txBody>
      </p:sp>
      <p:sp>
        <p:nvSpPr>
          <p:cNvPr id="52" name="Text 50"/>
          <p:cNvSpPr/>
          <p:nvPr/>
        </p:nvSpPr>
        <p:spPr>
          <a:xfrm>
            <a:off x="3858768" y="3136392"/>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50761, 50821, 50964, 50492</a:t>
            </a:r>
            <a:endParaRPr lang="en-US" sz="800" dirty="0"/>
          </a:p>
        </p:txBody>
      </p:sp>
      <p:sp>
        <p:nvSpPr>
          <p:cNvPr id="53" name="Text 51"/>
          <p:cNvSpPr/>
          <p:nvPr/>
        </p:nvSpPr>
        <p:spPr>
          <a:xfrm>
            <a:off x="5943600" y="3136392"/>
            <a:ext cx="777240" cy="201168"/>
          </a:xfrm>
          <a:prstGeom prst="rect">
            <a:avLst/>
          </a:prstGeom>
          <a:noFill/>
          <a:ln/>
        </p:spPr>
        <p:txBody>
          <a:bodyPr wrap="square" lIns="0" tIns="0" rIns="0" bIns="0" rtlCol="0" anchor="ctr"/>
          <a:lstStyle/>
          <a:p>
            <a:pPr algn="l" indent="0" marL="0">
              <a:buNone/>
            </a:pPr>
            <a:r>
              <a:rPr lang="en-US" sz="800" b="1" dirty="0">
                <a:solidFill>
                  <a:srgbClr val="00C853"/>
                </a:solidFill>
              </a:rPr>
              <a:t>OK</a:t>
            </a:r>
            <a:endParaRPr lang="en-US" sz="800" dirty="0"/>
          </a:p>
        </p:txBody>
      </p:sp>
      <p:sp>
        <p:nvSpPr>
          <p:cNvPr id="54" name="Text 52"/>
          <p:cNvSpPr/>
          <p:nvPr/>
        </p:nvSpPr>
        <p:spPr>
          <a:xfrm>
            <a:off x="6784848" y="3136392"/>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Standard BSR run</a:t>
            </a:r>
            <a:endParaRPr lang="en-US" sz="750" dirty="0"/>
          </a:p>
        </p:txBody>
      </p:sp>
      <p:sp>
        <p:nvSpPr>
          <p:cNvPr id="55" name="Shape 53"/>
          <p:cNvSpPr/>
          <p:nvPr/>
        </p:nvSpPr>
        <p:spPr>
          <a:xfrm>
            <a:off x="3730752" y="3328416"/>
            <a:ext cx="5029200" cy="210312"/>
          </a:xfrm>
          <a:prstGeom prst="rect">
            <a:avLst/>
          </a:prstGeom>
          <a:solidFill>
            <a:srgbClr val="243656"/>
          </a:solidFill>
          <a:ln w="12700">
            <a:solidFill>
              <a:srgbClr val="243656"/>
            </a:solidFill>
            <a:prstDash val="solid"/>
          </a:ln>
        </p:spPr>
      </p:sp>
      <p:sp>
        <p:nvSpPr>
          <p:cNvPr id="56" name="Text 54"/>
          <p:cNvSpPr/>
          <p:nvPr/>
        </p:nvSpPr>
        <p:spPr>
          <a:xfrm>
            <a:off x="3858768" y="3346704"/>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78619, 78690, 78617, 78588</a:t>
            </a:r>
            <a:endParaRPr lang="en-US" sz="800" dirty="0"/>
          </a:p>
        </p:txBody>
      </p:sp>
      <p:sp>
        <p:nvSpPr>
          <p:cNvPr id="57" name="Text 55"/>
          <p:cNvSpPr/>
          <p:nvPr/>
        </p:nvSpPr>
        <p:spPr>
          <a:xfrm>
            <a:off x="5943600" y="3346704"/>
            <a:ext cx="777240" cy="201168"/>
          </a:xfrm>
          <a:prstGeom prst="rect">
            <a:avLst/>
          </a:prstGeom>
          <a:noFill/>
          <a:ln/>
        </p:spPr>
        <p:txBody>
          <a:bodyPr wrap="square" lIns="0" tIns="0" rIns="0" bIns="0" rtlCol="0" anchor="ctr"/>
          <a:lstStyle/>
          <a:p>
            <a:pPr algn="l" indent="0" marL="0">
              <a:buNone/>
            </a:pPr>
            <a:r>
              <a:rPr lang="en-US" sz="800" b="1" dirty="0">
                <a:solidFill>
                  <a:srgbClr val="00C853"/>
                </a:solidFill>
              </a:rPr>
              <a:t>OK</a:t>
            </a:r>
            <a:endParaRPr lang="en-US" sz="800" dirty="0"/>
          </a:p>
        </p:txBody>
      </p:sp>
      <p:sp>
        <p:nvSpPr>
          <p:cNvPr id="58" name="Text 56"/>
          <p:cNvSpPr/>
          <p:nvPr/>
        </p:nvSpPr>
        <p:spPr>
          <a:xfrm>
            <a:off x="6784848" y="3346704"/>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Extended BSR run</a:t>
            </a:r>
            <a:endParaRPr lang="en-US" sz="750" dirty="0"/>
          </a:p>
        </p:txBody>
      </p:sp>
      <p:sp>
        <p:nvSpPr>
          <p:cNvPr id="59" name="Text 57"/>
          <p:cNvSpPr/>
          <p:nvPr/>
        </p:nvSpPr>
        <p:spPr>
          <a:xfrm>
            <a:off x="3858768" y="3557016"/>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78608</a:t>
            </a:r>
            <a:endParaRPr lang="en-US" sz="800" dirty="0"/>
          </a:p>
        </p:txBody>
      </p:sp>
      <p:sp>
        <p:nvSpPr>
          <p:cNvPr id="60" name="Text 58"/>
          <p:cNvSpPr/>
          <p:nvPr/>
        </p:nvSpPr>
        <p:spPr>
          <a:xfrm>
            <a:off x="5943600" y="3557016"/>
            <a:ext cx="777240" cy="201168"/>
          </a:xfrm>
          <a:prstGeom prst="rect">
            <a:avLst/>
          </a:prstGeom>
          <a:noFill/>
          <a:ln/>
        </p:spPr>
        <p:txBody>
          <a:bodyPr wrap="square" lIns="0" tIns="0" rIns="0" bIns="0" rtlCol="0" anchor="ctr"/>
          <a:lstStyle/>
          <a:p>
            <a:pPr algn="l" indent="0" marL="0">
              <a:buNone/>
            </a:pPr>
            <a:r>
              <a:rPr lang="en-US" sz="800" b="1" dirty="0">
                <a:solidFill>
                  <a:srgbClr val="00C853"/>
                </a:solidFill>
              </a:rPr>
              <a:t>OK</a:t>
            </a:r>
            <a:endParaRPr lang="en-US" sz="800" dirty="0"/>
          </a:p>
        </p:txBody>
      </p:sp>
      <p:sp>
        <p:nvSpPr>
          <p:cNvPr id="61" name="Text 59"/>
          <p:cNvSpPr/>
          <p:nvPr/>
        </p:nvSpPr>
        <p:spPr>
          <a:xfrm>
            <a:off x="6784848" y="3557016"/>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Standard BSR run</a:t>
            </a:r>
            <a:endParaRPr lang="en-US" sz="750" dirty="0"/>
          </a:p>
        </p:txBody>
      </p:sp>
      <p:sp>
        <p:nvSpPr>
          <p:cNvPr id="62" name="Shape 60"/>
          <p:cNvSpPr/>
          <p:nvPr/>
        </p:nvSpPr>
        <p:spPr>
          <a:xfrm>
            <a:off x="3730752" y="3749040"/>
            <a:ext cx="5029200" cy="210312"/>
          </a:xfrm>
          <a:prstGeom prst="rect">
            <a:avLst/>
          </a:prstGeom>
          <a:solidFill>
            <a:srgbClr val="243656"/>
          </a:solidFill>
          <a:ln w="12700">
            <a:solidFill>
              <a:srgbClr val="243656"/>
            </a:solidFill>
            <a:prstDash val="solid"/>
          </a:ln>
        </p:spPr>
      </p:sp>
      <p:sp>
        <p:nvSpPr>
          <p:cNvPr id="63" name="Text 61"/>
          <p:cNvSpPr/>
          <p:nvPr/>
        </p:nvSpPr>
        <p:spPr>
          <a:xfrm>
            <a:off x="3858768" y="3767328"/>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sunroof_noise</a:t>
            </a:r>
            <a:endParaRPr lang="en-US" sz="800" dirty="0"/>
          </a:p>
        </p:txBody>
      </p:sp>
      <p:sp>
        <p:nvSpPr>
          <p:cNvPr id="64" name="Text 62"/>
          <p:cNvSpPr/>
          <p:nvPr/>
        </p:nvSpPr>
        <p:spPr>
          <a:xfrm>
            <a:off x="5943600" y="3767328"/>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65" name="Text 63"/>
          <p:cNvSpPr/>
          <p:nvPr/>
        </p:nvSpPr>
        <p:spPr>
          <a:xfrm>
            <a:off x="6784848" y="3767328"/>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Sunroof rattle</a:t>
            </a:r>
            <a:endParaRPr lang="en-US" sz="750" dirty="0"/>
          </a:p>
        </p:txBody>
      </p:sp>
      <p:sp>
        <p:nvSpPr>
          <p:cNvPr id="66" name="Text 64"/>
          <p:cNvSpPr/>
          <p:nvPr/>
        </p:nvSpPr>
        <p:spPr>
          <a:xfrm>
            <a:off x="3858768" y="3977640"/>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IP_noise, ip_rooflamp</a:t>
            </a:r>
            <a:endParaRPr lang="en-US" sz="800" dirty="0"/>
          </a:p>
        </p:txBody>
      </p:sp>
      <p:sp>
        <p:nvSpPr>
          <p:cNvPr id="67" name="Text 65"/>
          <p:cNvSpPr/>
          <p:nvPr/>
        </p:nvSpPr>
        <p:spPr>
          <a:xfrm>
            <a:off x="5943600" y="3977640"/>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68" name="Text 66"/>
          <p:cNvSpPr/>
          <p:nvPr/>
        </p:nvSpPr>
        <p:spPr>
          <a:xfrm>
            <a:off x="6784848" y="3977640"/>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Instrument panel</a:t>
            </a:r>
            <a:endParaRPr lang="en-US" sz="750" dirty="0"/>
          </a:p>
        </p:txBody>
      </p:sp>
      <p:sp>
        <p:nvSpPr>
          <p:cNvPr id="69" name="Shape 67"/>
          <p:cNvSpPr/>
          <p:nvPr/>
        </p:nvSpPr>
        <p:spPr>
          <a:xfrm>
            <a:off x="3730752" y="4169664"/>
            <a:ext cx="5029200" cy="210312"/>
          </a:xfrm>
          <a:prstGeom prst="rect">
            <a:avLst/>
          </a:prstGeom>
          <a:solidFill>
            <a:srgbClr val="243656"/>
          </a:solidFill>
          <a:ln w="12700">
            <a:solidFill>
              <a:srgbClr val="243656"/>
            </a:solidFill>
            <a:prstDash val="solid"/>
          </a:ln>
        </p:spPr>
      </p:sp>
      <p:sp>
        <p:nvSpPr>
          <p:cNvPr id="70" name="Text 68"/>
          <p:cNvSpPr/>
          <p:nvPr/>
        </p:nvSpPr>
        <p:spPr>
          <a:xfrm>
            <a:off x="3858768" y="4187952"/>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78535_IPNoise</a:t>
            </a:r>
            <a:endParaRPr lang="en-US" sz="800" dirty="0"/>
          </a:p>
        </p:txBody>
      </p:sp>
      <p:sp>
        <p:nvSpPr>
          <p:cNvPr id="71" name="Text 69"/>
          <p:cNvSpPr/>
          <p:nvPr/>
        </p:nvSpPr>
        <p:spPr>
          <a:xfrm>
            <a:off x="5943600" y="4187952"/>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72" name="Text 70"/>
          <p:cNvSpPr/>
          <p:nvPr/>
        </p:nvSpPr>
        <p:spPr>
          <a:xfrm>
            <a:off x="6784848" y="4187952"/>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IP rattle (IP)</a:t>
            </a:r>
            <a:endParaRPr lang="en-US" sz="750" dirty="0"/>
          </a:p>
        </p:txBody>
      </p:sp>
      <p:sp>
        <p:nvSpPr>
          <p:cNvPr id="73" name="Text 71"/>
          <p:cNvSpPr/>
          <p:nvPr/>
        </p:nvSpPr>
        <p:spPr>
          <a:xfrm>
            <a:off x="3858768" y="4398264"/>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78554_steering</a:t>
            </a:r>
            <a:endParaRPr lang="en-US" sz="800" dirty="0"/>
          </a:p>
        </p:txBody>
      </p:sp>
      <p:sp>
        <p:nvSpPr>
          <p:cNvPr id="74" name="Text 72"/>
          <p:cNvSpPr/>
          <p:nvPr/>
        </p:nvSpPr>
        <p:spPr>
          <a:xfrm>
            <a:off x="5943600" y="4398264"/>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75" name="Text 73"/>
          <p:cNvSpPr/>
          <p:nvPr/>
        </p:nvSpPr>
        <p:spPr>
          <a:xfrm>
            <a:off x="6784848" y="4398264"/>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Steering noise</a:t>
            </a:r>
            <a:endParaRPr lang="en-US" sz="750" dirty="0"/>
          </a:p>
        </p:txBody>
      </p:sp>
      <p:sp>
        <p:nvSpPr>
          <p:cNvPr id="76" name="Shape 74"/>
          <p:cNvSpPr/>
          <p:nvPr/>
        </p:nvSpPr>
        <p:spPr>
          <a:xfrm>
            <a:off x="3730752" y="4590288"/>
            <a:ext cx="5029200" cy="210312"/>
          </a:xfrm>
          <a:prstGeom prst="rect">
            <a:avLst/>
          </a:prstGeom>
          <a:solidFill>
            <a:srgbClr val="243656"/>
          </a:solidFill>
          <a:ln w="12700">
            <a:solidFill>
              <a:srgbClr val="243656"/>
            </a:solidFill>
            <a:prstDash val="solid"/>
          </a:ln>
        </p:spPr>
      </p:sp>
      <p:sp>
        <p:nvSpPr>
          <p:cNvPr id="77" name="Text 75"/>
          <p:cNvSpPr/>
          <p:nvPr/>
        </p:nvSpPr>
        <p:spPr>
          <a:xfrm>
            <a:off x="3858768" y="4608576"/>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78587_steeringCap</a:t>
            </a:r>
            <a:endParaRPr lang="en-US" sz="800" dirty="0"/>
          </a:p>
        </p:txBody>
      </p:sp>
      <p:sp>
        <p:nvSpPr>
          <p:cNvPr id="78" name="Text 76"/>
          <p:cNvSpPr/>
          <p:nvPr/>
        </p:nvSpPr>
        <p:spPr>
          <a:xfrm>
            <a:off x="5943600" y="4608576"/>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79" name="Text 77"/>
          <p:cNvSpPr/>
          <p:nvPr/>
        </p:nvSpPr>
        <p:spPr>
          <a:xfrm>
            <a:off x="6784848" y="4608576"/>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Steering cap</a:t>
            </a:r>
            <a:endParaRPr lang="en-US" sz="750" dirty="0"/>
          </a:p>
        </p:txBody>
      </p:sp>
      <p:sp>
        <p:nvSpPr>
          <p:cNvPr id="80" name="Text 78"/>
          <p:cNvSpPr/>
          <p:nvPr/>
        </p:nvSpPr>
        <p:spPr>
          <a:xfrm>
            <a:off x="3858768" y="4818888"/>
            <a:ext cx="2011680" cy="201168"/>
          </a:xfrm>
          <a:prstGeom prst="rect">
            <a:avLst/>
          </a:prstGeom>
          <a:noFill/>
          <a:ln/>
        </p:spPr>
        <p:txBody>
          <a:bodyPr wrap="square" lIns="0" tIns="0" rIns="0" bIns="0" rtlCol="0" anchor="ctr"/>
          <a:lstStyle/>
          <a:p>
            <a:pPr algn="l" indent="0" marL="0">
              <a:buNone/>
            </a:pPr>
            <a:r>
              <a:rPr lang="en-US" sz="800" dirty="0">
                <a:solidFill>
                  <a:srgbClr val="FFFFFF"/>
                </a:solidFill>
              </a:rPr>
              <a:t>78558_glass_fouling</a:t>
            </a:r>
            <a:endParaRPr lang="en-US" sz="800" dirty="0"/>
          </a:p>
        </p:txBody>
      </p:sp>
      <p:sp>
        <p:nvSpPr>
          <p:cNvPr id="81" name="Text 79"/>
          <p:cNvSpPr/>
          <p:nvPr/>
        </p:nvSpPr>
        <p:spPr>
          <a:xfrm>
            <a:off x="5943600" y="4818888"/>
            <a:ext cx="777240" cy="201168"/>
          </a:xfrm>
          <a:prstGeom prst="rect">
            <a:avLst/>
          </a:prstGeom>
          <a:noFill/>
          <a:ln/>
        </p:spPr>
        <p:txBody>
          <a:bodyPr wrap="square" lIns="0" tIns="0" rIns="0" bIns="0" rtlCol="0" anchor="ctr"/>
          <a:lstStyle/>
          <a:p>
            <a:pPr algn="l" indent="0" marL="0">
              <a:buNone/>
            </a:pPr>
            <a:r>
              <a:rPr lang="en-US" sz="800" b="1" dirty="0">
                <a:solidFill>
                  <a:srgbClr val="FF3D3D"/>
                </a:solidFill>
              </a:rPr>
              <a:t>NOT OK</a:t>
            </a:r>
            <a:endParaRPr lang="en-US" sz="800" dirty="0"/>
          </a:p>
        </p:txBody>
      </p:sp>
      <p:sp>
        <p:nvSpPr>
          <p:cNvPr id="82" name="Text 80"/>
          <p:cNvSpPr/>
          <p:nvPr/>
        </p:nvSpPr>
        <p:spPr>
          <a:xfrm>
            <a:off x="6784848" y="4818888"/>
            <a:ext cx="1965960" cy="201168"/>
          </a:xfrm>
          <a:prstGeom prst="rect">
            <a:avLst/>
          </a:prstGeom>
          <a:noFill/>
          <a:ln/>
        </p:spPr>
        <p:txBody>
          <a:bodyPr wrap="square" lIns="0" tIns="0" rIns="0" bIns="0" rtlCol="0" anchor="ctr"/>
          <a:lstStyle/>
          <a:p>
            <a:pPr algn="l" indent="0" marL="0">
              <a:buNone/>
            </a:pPr>
            <a:r>
              <a:rPr lang="en-US" sz="750" dirty="0">
                <a:solidFill>
                  <a:srgbClr val="8A9BB5"/>
                </a:solidFill>
              </a:rPr>
              <a:t>Glass contact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43656"/>
          </a:solidFill>
          <a:ln w="12700">
            <a:solidFill>
              <a:srgbClr val="243656"/>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ARCHITECTURE</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End-to-End System Architecture</a:t>
            </a:r>
            <a:endParaRPr lang="en-US" sz="1900" dirty="0"/>
          </a:p>
        </p:txBody>
      </p:sp>
      <p:sp>
        <p:nvSpPr>
          <p:cNvPr id="6" name="Shape 4"/>
          <p:cNvSpPr/>
          <p:nvPr/>
        </p:nvSpPr>
        <p:spPr>
          <a:xfrm>
            <a:off x="228600" y="914400"/>
            <a:ext cx="1600200" cy="182880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8000"/>
              </a:srgbClr>
            </a:outerShdw>
          </a:effectLst>
        </p:spPr>
      </p:sp>
      <p:sp>
        <p:nvSpPr>
          <p:cNvPr id="7" name="Shape 5"/>
          <p:cNvSpPr/>
          <p:nvPr/>
        </p:nvSpPr>
        <p:spPr>
          <a:xfrm>
            <a:off x="827532" y="713232"/>
            <a:ext cx="402336" cy="402336"/>
          </a:xfrm>
          <a:prstGeom prst="ellipse">
            <a:avLst/>
          </a:prstGeom>
          <a:solidFill>
            <a:srgbClr val="00B8D4"/>
          </a:solidFill>
          <a:ln w="25400">
            <a:solidFill>
              <a:srgbClr val="1B2A4A"/>
            </a:solidFill>
            <a:prstDash val="solid"/>
          </a:ln>
        </p:spPr>
      </p:sp>
      <p:sp>
        <p:nvSpPr>
          <p:cNvPr id="8" name="Text 6"/>
          <p:cNvSpPr/>
          <p:nvPr/>
        </p:nvSpPr>
        <p:spPr>
          <a:xfrm>
            <a:off x="827532" y="713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320040" y="1005840"/>
            <a:ext cx="1417320" cy="411480"/>
          </a:xfrm>
          <a:prstGeom prst="rect">
            <a:avLst/>
          </a:prstGeom>
          <a:noFill/>
          <a:ln/>
        </p:spPr>
        <p:txBody>
          <a:bodyPr wrap="square" lIns="0" tIns="0" rIns="0" bIns="0" rtlCol="0" anchor="ctr"/>
          <a:lstStyle/>
          <a:p>
            <a:pPr algn="ctr" indent="0" marL="0">
              <a:buNone/>
            </a:pPr>
            <a:r>
              <a:rPr lang="en-US" sz="1100" b="1" dirty="0">
                <a:solidFill>
                  <a:srgbClr val="00B8D4"/>
                </a:solidFill>
              </a:rPr>
              <a:t>Audio</a:t>
            </a:r>
            <a:endParaRPr lang="en-US" sz="1100" dirty="0"/>
          </a:p>
          <a:p>
            <a:pPr algn="ctr" indent="0" marL="0">
              <a:buNone/>
            </a:pPr>
            <a:r>
              <a:rPr lang="en-US" sz="1100" b="1" dirty="0">
                <a:solidFill>
                  <a:srgbClr val="00B8D4"/>
                </a:solidFill>
              </a:rPr>
              <a:t>Input</a:t>
            </a:r>
            <a:endParaRPr lang="en-US" sz="1100" dirty="0"/>
          </a:p>
        </p:txBody>
      </p:sp>
      <p:sp>
        <p:nvSpPr>
          <p:cNvPr id="10" name="Text 8"/>
          <p:cNvSpPr/>
          <p:nvPr/>
        </p:nvSpPr>
        <p:spPr>
          <a:xfrm>
            <a:off x="338328" y="1444752"/>
            <a:ext cx="1380744" cy="1207008"/>
          </a:xfrm>
          <a:prstGeom prst="rect">
            <a:avLst/>
          </a:prstGeom>
          <a:noFill/>
          <a:ln/>
        </p:spPr>
        <p:txBody>
          <a:bodyPr wrap="square" lIns="0" tIns="0" rIns="0" bIns="0" rtlCol="0" anchor="t"/>
          <a:lstStyle/>
          <a:p>
            <a:pPr algn="ctr" indent="0" marL="0">
              <a:buNone/>
            </a:pPr>
            <a:r>
              <a:rPr lang="en-US" sz="850" dirty="0">
                <a:solidFill>
                  <a:srgbClr val="8A9BB5"/>
                </a:solidFill>
              </a:rPr>
              <a:t>Bluetooth mic</a:t>
            </a:r>
            <a:endParaRPr lang="en-US" sz="850" dirty="0"/>
          </a:p>
          <a:p>
            <a:pPr algn="ctr" indent="0" marL="0">
              <a:buNone/>
            </a:pPr>
            <a:r>
              <a:rPr lang="en-US" sz="850" dirty="0">
                <a:solidFill>
                  <a:srgbClr val="8A9BB5"/>
                </a:solidFill>
              </a:rPr>
              <a:t>44.1kHz WAV</a:t>
            </a:r>
            <a:endParaRPr lang="en-US" sz="850" dirty="0"/>
          </a:p>
          <a:p>
            <a:pPr algn="ctr" indent="0" marL="0">
              <a:buNone/>
            </a:pPr>
            <a:r>
              <a:rPr lang="en-US" sz="850" dirty="0">
                <a:solidFill>
                  <a:srgbClr val="8A9BB5"/>
                </a:solidFill>
              </a:rPr>
              <a:t>In-vehicle</a:t>
            </a:r>
            <a:endParaRPr lang="en-US" sz="850" dirty="0"/>
          </a:p>
          <a:p>
            <a:pPr algn="ctr" indent="0" marL="0">
              <a:buNone/>
            </a:pPr>
            <a:r>
              <a:rPr lang="en-US" sz="850" dirty="0">
                <a:solidFill>
                  <a:srgbClr val="8A9BB5"/>
                </a:solidFill>
              </a:rPr>
              <a:t>at BSR Track</a:t>
            </a:r>
            <a:endParaRPr lang="en-US" sz="850" dirty="0"/>
          </a:p>
        </p:txBody>
      </p:sp>
      <p:sp>
        <p:nvSpPr>
          <p:cNvPr id="11" name="Shape 9"/>
          <p:cNvSpPr/>
          <p:nvPr/>
        </p:nvSpPr>
        <p:spPr>
          <a:xfrm>
            <a:off x="1828800" y="1828800"/>
            <a:ext cx="365760" cy="0"/>
          </a:xfrm>
          <a:prstGeom prst="line">
            <a:avLst/>
          </a:prstGeom>
          <a:noFill/>
          <a:ln w="25400">
            <a:solidFill>
              <a:srgbClr val="00B8D4"/>
            </a:solidFill>
            <a:prstDash val="solid"/>
          </a:ln>
        </p:spPr>
      </p:sp>
      <p:sp>
        <p:nvSpPr>
          <p:cNvPr id="12" name="Shape 10"/>
          <p:cNvSpPr/>
          <p:nvPr/>
        </p:nvSpPr>
        <p:spPr>
          <a:xfrm>
            <a:off x="2157984" y="1764792"/>
            <a:ext cx="73152" cy="128016"/>
          </a:xfrm>
          <a:prstGeom prst="rect">
            <a:avLst/>
          </a:prstGeom>
          <a:solidFill>
            <a:srgbClr val="00B8D4"/>
          </a:solidFill>
          <a:ln w="12700">
            <a:solidFill>
              <a:srgbClr val="00B8D4"/>
            </a:solidFill>
            <a:prstDash val="solid"/>
          </a:ln>
        </p:spPr>
      </p:sp>
      <p:sp>
        <p:nvSpPr>
          <p:cNvPr id="13" name="Shape 11"/>
          <p:cNvSpPr/>
          <p:nvPr/>
        </p:nvSpPr>
        <p:spPr>
          <a:xfrm>
            <a:off x="1965960" y="914400"/>
            <a:ext cx="1600200" cy="1828800"/>
          </a:xfrm>
          <a:prstGeom prst="rect">
            <a:avLst/>
          </a:prstGeom>
          <a:solidFill>
            <a:srgbClr val="243656"/>
          </a:solidFill>
          <a:ln w="19050">
            <a:solidFill>
              <a:srgbClr val="00B8A0"/>
            </a:solidFill>
            <a:prstDash val="solid"/>
          </a:ln>
          <a:effectLst>
            <a:outerShdw sx="100000" sy="100000" kx="0" ky="0" algn="bl" rotWithShape="0" blurRad="76200" dist="25400" dir="8100000">
              <a:srgbClr val="000000">
                <a:alpha val="18000"/>
              </a:srgbClr>
            </a:outerShdw>
          </a:effectLst>
        </p:spPr>
      </p:sp>
      <p:sp>
        <p:nvSpPr>
          <p:cNvPr id="14" name="Shape 12"/>
          <p:cNvSpPr/>
          <p:nvPr/>
        </p:nvSpPr>
        <p:spPr>
          <a:xfrm>
            <a:off x="2564892" y="713232"/>
            <a:ext cx="402336" cy="402336"/>
          </a:xfrm>
          <a:prstGeom prst="ellipse">
            <a:avLst/>
          </a:prstGeom>
          <a:solidFill>
            <a:srgbClr val="00B8A0"/>
          </a:solidFill>
          <a:ln w="25400">
            <a:solidFill>
              <a:srgbClr val="1B2A4A"/>
            </a:solidFill>
            <a:prstDash val="solid"/>
          </a:ln>
        </p:spPr>
      </p:sp>
      <p:sp>
        <p:nvSpPr>
          <p:cNvPr id="15" name="Text 13"/>
          <p:cNvSpPr/>
          <p:nvPr/>
        </p:nvSpPr>
        <p:spPr>
          <a:xfrm>
            <a:off x="2564892" y="713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4"/>
          <p:cNvSpPr/>
          <p:nvPr/>
        </p:nvSpPr>
        <p:spPr>
          <a:xfrm>
            <a:off x="2057400" y="1005840"/>
            <a:ext cx="1417320" cy="411480"/>
          </a:xfrm>
          <a:prstGeom prst="rect">
            <a:avLst/>
          </a:prstGeom>
          <a:noFill/>
          <a:ln/>
        </p:spPr>
        <p:txBody>
          <a:bodyPr wrap="square" lIns="0" tIns="0" rIns="0" bIns="0" rtlCol="0" anchor="ctr"/>
          <a:lstStyle/>
          <a:p>
            <a:pPr algn="ctr" indent="0" marL="0">
              <a:buNone/>
            </a:pPr>
            <a:r>
              <a:rPr lang="en-US" sz="1100" b="1" dirty="0">
                <a:solidFill>
                  <a:srgbClr val="00B8A0"/>
                </a:solidFill>
              </a:rPr>
              <a:t>Pre-</a:t>
            </a:r>
            <a:endParaRPr lang="en-US" sz="1100" dirty="0"/>
          </a:p>
          <a:p>
            <a:pPr algn="ctr" indent="0" marL="0">
              <a:buNone/>
            </a:pPr>
            <a:r>
              <a:rPr lang="en-US" sz="1100" b="1" dirty="0">
                <a:solidFill>
                  <a:srgbClr val="00B8A0"/>
                </a:solidFill>
              </a:rPr>
              <a:t>processing</a:t>
            </a:r>
            <a:endParaRPr lang="en-US" sz="1100" dirty="0"/>
          </a:p>
        </p:txBody>
      </p:sp>
      <p:sp>
        <p:nvSpPr>
          <p:cNvPr id="17" name="Text 15"/>
          <p:cNvSpPr/>
          <p:nvPr/>
        </p:nvSpPr>
        <p:spPr>
          <a:xfrm>
            <a:off x="2075688" y="1444752"/>
            <a:ext cx="1380744" cy="1207008"/>
          </a:xfrm>
          <a:prstGeom prst="rect">
            <a:avLst/>
          </a:prstGeom>
          <a:noFill/>
          <a:ln/>
        </p:spPr>
        <p:txBody>
          <a:bodyPr wrap="square" lIns="0" tIns="0" rIns="0" bIns="0" rtlCol="0" anchor="t"/>
          <a:lstStyle/>
          <a:p>
            <a:pPr algn="ctr" indent="0" marL="0">
              <a:buNone/>
            </a:pPr>
            <a:r>
              <a:rPr lang="en-US" sz="850" dirty="0">
                <a:solidFill>
                  <a:srgbClr val="8A9BB5"/>
                </a:solidFill>
              </a:rPr>
              <a:t>Mono convert</a:t>
            </a:r>
            <a:endParaRPr lang="en-US" sz="850" dirty="0"/>
          </a:p>
          <a:p>
            <a:pPr algn="ctr" indent="0" marL="0">
              <a:buNone/>
            </a:pPr>
            <a:r>
              <a:rPr lang="en-US" sz="850" dirty="0">
                <a:solidFill>
                  <a:srgbClr val="8A9BB5"/>
                </a:solidFill>
              </a:rPr>
              <a:t>Downsample 16kHz</a:t>
            </a:r>
            <a:endParaRPr lang="en-US" sz="850" dirty="0"/>
          </a:p>
          <a:p>
            <a:pPr algn="ctr" indent="0" marL="0">
              <a:buNone/>
            </a:pPr>
            <a:r>
              <a:rPr lang="en-US" sz="850" dirty="0">
                <a:solidFill>
                  <a:srgbClr val="8A9BB5"/>
                </a:solidFill>
              </a:rPr>
              <a:t>30s trim</a:t>
            </a:r>
            <a:endParaRPr lang="en-US" sz="850" dirty="0"/>
          </a:p>
          <a:p>
            <a:pPr algn="ctr" indent="0" marL="0">
              <a:buNone/>
            </a:pPr>
            <a:r>
              <a:rPr lang="en-US" sz="850" dirty="0">
                <a:solidFill>
                  <a:srgbClr val="8A9BB5"/>
                </a:solidFill>
              </a:rPr>
              <a:t>Normalize -1→1</a:t>
            </a:r>
            <a:endParaRPr lang="en-US" sz="850" dirty="0"/>
          </a:p>
        </p:txBody>
      </p:sp>
      <p:sp>
        <p:nvSpPr>
          <p:cNvPr id="18" name="Shape 16"/>
          <p:cNvSpPr/>
          <p:nvPr/>
        </p:nvSpPr>
        <p:spPr>
          <a:xfrm>
            <a:off x="3566160" y="1828800"/>
            <a:ext cx="365760" cy="0"/>
          </a:xfrm>
          <a:prstGeom prst="line">
            <a:avLst/>
          </a:prstGeom>
          <a:noFill/>
          <a:ln w="25400">
            <a:solidFill>
              <a:srgbClr val="00B8D4"/>
            </a:solidFill>
            <a:prstDash val="solid"/>
          </a:ln>
        </p:spPr>
      </p:sp>
      <p:sp>
        <p:nvSpPr>
          <p:cNvPr id="19" name="Shape 17"/>
          <p:cNvSpPr/>
          <p:nvPr/>
        </p:nvSpPr>
        <p:spPr>
          <a:xfrm>
            <a:off x="3895344" y="1764792"/>
            <a:ext cx="73152" cy="128016"/>
          </a:xfrm>
          <a:prstGeom prst="rect">
            <a:avLst/>
          </a:prstGeom>
          <a:solidFill>
            <a:srgbClr val="00B8D4"/>
          </a:solidFill>
          <a:ln w="12700">
            <a:solidFill>
              <a:srgbClr val="00B8D4"/>
            </a:solidFill>
            <a:prstDash val="solid"/>
          </a:ln>
        </p:spPr>
      </p:sp>
      <p:sp>
        <p:nvSpPr>
          <p:cNvPr id="20" name="Shape 18"/>
          <p:cNvSpPr/>
          <p:nvPr/>
        </p:nvSpPr>
        <p:spPr>
          <a:xfrm>
            <a:off x="3703320" y="914400"/>
            <a:ext cx="1600200" cy="1828800"/>
          </a:xfrm>
          <a:prstGeom prst="rect">
            <a:avLst/>
          </a:prstGeom>
          <a:solidFill>
            <a:srgbClr val="243656"/>
          </a:solidFill>
          <a:ln w="19050">
            <a:solidFill>
              <a:srgbClr val="00A3B8"/>
            </a:solidFill>
            <a:prstDash val="solid"/>
          </a:ln>
          <a:effectLst>
            <a:outerShdw sx="100000" sy="100000" kx="0" ky="0" algn="bl" rotWithShape="0" blurRad="76200" dist="25400" dir="8100000">
              <a:srgbClr val="000000">
                <a:alpha val="18000"/>
              </a:srgbClr>
            </a:outerShdw>
          </a:effectLst>
        </p:spPr>
      </p:sp>
      <p:sp>
        <p:nvSpPr>
          <p:cNvPr id="21" name="Shape 19"/>
          <p:cNvSpPr/>
          <p:nvPr/>
        </p:nvSpPr>
        <p:spPr>
          <a:xfrm>
            <a:off x="4302252" y="713232"/>
            <a:ext cx="402336" cy="402336"/>
          </a:xfrm>
          <a:prstGeom prst="ellipse">
            <a:avLst/>
          </a:prstGeom>
          <a:solidFill>
            <a:srgbClr val="00A3B8"/>
          </a:solidFill>
          <a:ln w="25400">
            <a:solidFill>
              <a:srgbClr val="1B2A4A"/>
            </a:solidFill>
            <a:prstDash val="solid"/>
          </a:ln>
        </p:spPr>
      </p:sp>
      <p:sp>
        <p:nvSpPr>
          <p:cNvPr id="22" name="Text 20"/>
          <p:cNvSpPr/>
          <p:nvPr/>
        </p:nvSpPr>
        <p:spPr>
          <a:xfrm>
            <a:off x="4302252" y="713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1"/>
          <p:cNvSpPr/>
          <p:nvPr/>
        </p:nvSpPr>
        <p:spPr>
          <a:xfrm>
            <a:off x="3794760" y="1005840"/>
            <a:ext cx="1417320" cy="411480"/>
          </a:xfrm>
          <a:prstGeom prst="rect">
            <a:avLst/>
          </a:prstGeom>
          <a:noFill/>
          <a:ln/>
        </p:spPr>
        <p:txBody>
          <a:bodyPr wrap="square" lIns="0" tIns="0" rIns="0" bIns="0" rtlCol="0" anchor="ctr"/>
          <a:lstStyle/>
          <a:p>
            <a:pPr algn="ctr" indent="0" marL="0">
              <a:buNone/>
            </a:pPr>
            <a:r>
              <a:rPr lang="en-US" sz="1100" b="1" dirty="0">
                <a:solidFill>
                  <a:srgbClr val="00A3B8"/>
                </a:solidFill>
              </a:rPr>
              <a:t>Feature</a:t>
            </a:r>
            <a:endParaRPr lang="en-US" sz="1100" dirty="0"/>
          </a:p>
          <a:p>
            <a:pPr algn="ctr" indent="0" marL="0">
              <a:buNone/>
            </a:pPr>
            <a:r>
              <a:rPr lang="en-US" sz="1100" b="1" dirty="0">
                <a:solidFill>
                  <a:srgbClr val="00A3B8"/>
                </a:solidFill>
              </a:rPr>
              <a:t>Extraction</a:t>
            </a:r>
            <a:endParaRPr lang="en-US" sz="1100" dirty="0"/>
          </a:p>
        </p:txBody>
      </p:sp>
      <p:sp>
        <p:nvSpPr>
          <p:cNvPr id="24" name="Text 22"/>
          <p:cNvSpPr/>
          <p:nvPr/>
        </p:nvSpPr>
        <p:spPr>
          <a:xfrm>
            <a:off x="3813048" y="1444752"/>
            <a:ext cx="1380744" cy="1207008"/>
          </a:xfrm>
          <a:prstGeom prst="rect">
            <a:avLst/>
          </a:prstGeom>
          <a:noFill/>
          <a:ln/>
        </p:spPr>
        <p:txBody>
          <a:bodyPr wrap="square" lIns="0" tIns="0" rIns="0" bIns="0" rtlCol="0" anchor="t"/>
          <a:lstStyle/>
          <a:p>
            <a:pPr algn="ctr" indent="0" marL="0">
              <a:buNone/>
            </a:pPr>
            <a:r>
              <a:rPr lang="en-US" sz="850" dirty="0">
                <a:solidFill>
                  <a:srgbClr val="8A9BB5"/>
                </a:solidFill>
              </a:rPr>
              <a:t>MFCC (20 coeff)</a:t>
            </a:r>
            <a:endParaRPr lang="en-US" sz="850" dirty="0"/>
          </a:p>
          <a:p>
            <a:pPr algn="ctr" indent="0" marL="0">
              <a:buNone/>
            </a:pPr>
            <a:r>
              <a:rPr lang="en-US" sz="850" dirty="0">
                <a:solidFill>
                  <a:srgbClr val="8A9BB5"/>
                </a:solidFill>
              </a:rPr>
              <a:t>Spectral features</a:t>
            </a:r>
            <a:endParaRPr lang="en-US" sz="850" dirty="0"/>
          </a:p>
          <a:p>
            <a:pPr algn="ctr" indent="0" marL="0">
              <a:buNone/>
            </a:pPr>
            <a:r>
              <a:rPr lang="en-US" sz="850" dirty="0">
                <a:solidFill>
                  <a:srgbClr val="8A9BB5"/>
                </a:solidFill>
              </a:rPr>
              <a:t>Energy bands</a:t>
            </a:r>
            <a:endParaRPr lang="en-US" sz="850" dirty="0"/>
          </a:p>
          <a:p>
            <a:pPr algn="ctr" indent="0" marL="0">
              <a:buNone/>
            </a:pPr>
            <a:r>
              <a:rPr lang="en-US" sz="850" dirty="0">
                <a:solidFill>
                  <a:srgbClr val="8A9BB5"/>
                </a:solidFill>
              </a:rPr>
              <a:t>Kurtosis, ZCR</a:t>
            </a:r>
            <a:endParaRPr lang="en-US" sz="850" dirty="0"/>
          </a:p>
        </p:txBody>
      </p:sp>
      <p:sp>
        <p:nvSpPr>
          <p:cNvPr id="25" name="Shape 23"/>
          <p:cNvSpPr/>
          <p:nvPr/>
        </p:nvSpPr>
        <p:spPr>
          <a:xfrm>
            <a:off x="5303520" y="1828800"/>
            <a:ext cx="365760" cy="0"/>
          </a:xfrm>
          <a:prstGeom prst="line">
            <a:avLst/>
          </a:prstGeom>
          <a:noFill/>
          <a:ln w="25400">
            <a:solidFill>
              <a:srgbClr val="00B8D4"/>
            </a:solidFill>
            <a:prstDash val="solid"/>
          </a:ln>
        </p:spPr>
      </p:sp>
      <p:sp>
        <p:nvSpPr>
          <p:cNvPr id="26" name="Shape 24"/>
          <p:cNvSpPr/>
          <p:nvPr/>
        </p:nvSpPr>
        <p:spPr>
          <a:xfrm>
            <a:off x="5632704" y="1764792"/>
            <a:ext cx="73152" cy="128016"/>
          </a:xfrm>
          <a:prstGeom prst="rect">
            <a:avLst/>
          </a:prstGeom>
          <a:solidFill>
            <a:srgbClr val="00B8D4"/>
          </a:solidFill>
          <a:ln w="12700">
            <a:solidFill>
              <a:srgbClr val="00B8D4"/>
            </a:solidFill>
            <a:prstDash val="solid"/>
          </a:ln>
        </p:spPr>
      </p:sp>
      <p:sp>
        <p:nvSpPr>
          <p:cNvPr id="27" name="Shape 25"/>
          <p:cNvSpPr/>
          <p:nvPr/>
        </p:nvSpPr>
        <p:spPr>
          <a:xfrm>
            <a:off x="5440680" y="914400"/>
            <a:ext cx="1600200" cy="1828800"/>
          </a:xfrm>
          <a:prstGeom prst="rect">
            <a:avLst/>
          </a:prstGeom>
          <a:solidFill>
            <a:srgbClr val="243656"/>
          </a:solidFill>
          <a:ln w="19050">
            <a:solidFill>
              <a:srgbClr val="0D8ECC"/>
            </a:solidFill>
            <a:prstDash val="solid"/>
          </a:ln>
          <a:effectLst>
            <a:outerShdw sx="100000" sy="100000" kx="0" ky="0" algn="bl" rotWithShape="0" blurRad="76200" dist="25400" dir="8100000">
              <a:srgbClr val="000000">
                <a:alpha val="18000"/>
              </a:srgbClr>
            </a:outerShdw>
          </a:effectLst>
        </p:spPr>
      </p:sp>
      <p:sp>
        <p:nvSpPr>
          <p:cNvPr id="28" name="Shape 26"/>
          <p:cNvSpPr/>
          <p:nvPr/>
        </p:nvSpPr>
        <p:spPr>
          <a:xfrm>
            <a:off x="6039612" y="713232"/>
            <a:ext cx="402336" cy="402336"/>
          </a:xfrm>
          <a:prstGeom prst="ellipse">
            <a:avLst/>
          </a:prstGeom>
          <a:solidFill>
            <a:srgbClr val="0D8ECC"/>
          </a:solidFill>
          <a:ln w="25400">
            <a:solidFill>
              <a:srgbClr val="1B2A4A"/>
            </a:solidFill>
            <a:prstDash val="solid"/>
          </a:ln>
        </p:spPr>
      </p:sp>
      <p:sp>
        <p:nvSpPr>
          <p:cNvPr id="29" name="Text 27"/>
          <p:cNvSpPr/>
          <p:nvPr/>
        </p:nvSpPr>
        <p:spPr>
          <a:xfrm>
            <a:off x="6039612" y="713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0" name="Text 28"/>
          <p:cNvSpPr/>
          <p:nvPr/>
        </p:nvSpPr>
        <p:spPr>
          <a:xfrm>
            <a:off x="5532120" y="1005840"/>
            <a:ext cx="1417320" cy="411480"/>
          </a:xfrm>
          <a:prstGeom prst="rect">
            <a:avLst/>
          </a:prstGeom>
          <a:noFill/>
          <a:ln/>
        </p:spPr>
        <p:txBody>
          <a:bodyPr wrap="square" lIns="0" tIns="0" rIns="0" bIns="0" rtlCol="0" anchor="ctr"/>
          <a:lstStyle/>
          <a:p>
            <a:pPr algn="ctr" indent="0" marL="0">
              <a:buNone/>
            </a:pPr>
            <a:r>
              <a:rPr lang="en-US" sz="1100" b="1" dirty="0">
                <a:solidFill>
                  <a:srgbClr val="0D8ECC"/>
                </a:solidFill>
              </a:rPr>
              <a:t>Augmen-</a:t>
            </a:r>
            <a:endParaRPr lang="en-US" sz="1100" dirty="0"/>
          </a:p>
          <a:p>
            <a:pPr algn="ctr" indent="0" marL="0">
              <a:buNone/>
            </a:pPr>
            <a:r>
              <a:rPr lang="en-US" sz="1100" b="1" dirty="0">
                <a:solidFill>
                  <a:srgbClr val="0D8ECC"/>
                </a:solidFill>
              </a:rPr>
              <a:t>tation</a:t>
            </a:r>
            <a:endParaRPr lang="en-US" sz="1100" dirty="0"/>
          </a:p>
        </p:txBody>
      </p:sp>
      <p:sp>
        <p:nvSpPr>
          <p:cNvPr id="31" name="Text 29"/>
          <p:cNvSpPr/>
          <p:nvPr/>
        </p:nvSpPr>
        <p:spPr>
          <a:xfrm>
            <a:off x="5550408" y="1444752"/>
            <a:ext cx="1380744" cy="1207008"/>
          </a:xfrm>
          <a:prstGeom prst="rect">
            <a:avLst/>
          </a:prstGeom>
          <a:noFill/>
          <a:ln/>
        </p:spPr>
        <p:txBody>
          <a:bodyPr wrap="square" lIns="0" tIns="0" rIns="0" bIns="0" rtlCol="0" anchor="t"/>
          <a:lstStyle/>
          <a:p>
            <a:pPr algn="ctr" indent="0" marL="0">
              <a:buNone/>
            </a:pPr>
            <a:r>
              <a:rPr lang="en-US" sz="850" dirty="0">
                <a:solidFill>
                  <a:srgbClr val="8A9BB5"/>
                </a:solidFill>
              </a:rPr>
              <a:t>9× expansion</a:t>
            </a:r>
            <a:endParaRPr lang="en-US" sz="850" dirty="0"/>
          </a:p>
          <a:p>
            <a:pPr algn="ctr" indent="0" marL="0">
              <a:buNone/>
            </a:pPr>
            <a:r>
              <a:rPr lang="en-US" sz="850" dirty="0">
                <a:solidFill>
                  <a:srgbClr val="8A9BB5"/>
                </a:solidFill>
              </a:rPr>
              <a:t>180 samples</a:t>
            </a:r>
            <a:endParaRPr lang="en-US" sz="850" dirty="0"/>
          </a:p>
          <a:p>
            <a:pPr algn="ctr" indent="0" marL="0">
              <a:buNone/>
            </a:pPr>
            <a:r>
              <a:rPr lang="en-US" sz="850" dirty="0">
                <a:solidFill>
                  <a:srgbClr val="8A9BB5"/>
                </a:solidFill>
              </a:rPr>
              <a:t>Noise injection</a:t>
            </a:r>
            <a:endParaRPr lang="en-US" sz="850" dirty="0"/>
          </a:p>
          <a:p>
            <a:pPr algn="ctr" indent="0" marL="0">
              <a:buNone/>
            </a:pPr>
            <a:r>
              <a:rPr lang="en-US" sz="850" dirty="0">
                <a:solidFill>
                  <a:srgbClr val="8A9BB5"/>
                </a:solidFill>
              </a:rPr>
              <a:t>Scaling</a:t>
            </a:r>
            <a:endParaRPr lang="en-US" sz="850" dirty="0"/>
          </a:p>
        </p:txBody>
      </p:sp>
      <p:sp>
        <p:nvSpPr>
          <p:cNvPr id="32" name="Shape 30"/>
          <p:cNvSpPr/>
          <p:nvPr/>
        </p:nvSpPr>
        <p:spPr>
          <a:xfrm>
            <a:off x="7040880" y="1828800"/>
            <a:ext cx="365760" cy="0"/>
          </a:xfrm>
          <a:prstGeom prst="line">
            <a:avLst/>
          </a:prstGeom>
          <a:noFill/>
          <a:ln w="25400">
            <a:solidFill>
              <a:srgbClr val="00B8D4"/>
            </a:solidFill>
            <a:prstDash val="solid"/>
          </a:ln>
        </p:spPr>
      </p:sp>
      <p:sp>
        <p:nvSpPr>
          <p:cNvPr id="33" name="Shape 31"/>
          <p:cNvSpPr/>
          <p:nvPr/>
        </p:nvSpPr>
        <p:spPr>
          <a:xfrm>
            <a:off x="7370064" y="1764792"/>
            <a:ext cx="73152" cy="128016"/>
          </a:xfrm>
          <a:prstGeom prst="rect">
            <a:avLst/>
          </a:prstGeom>
          <a:solidFill>
            <a:srgbClr val="00B8D4"/>
          </a:solidFill>
          <a:ln w="12700">
            <a:solidFill>
              <a:srgbClr val="00B8D4"/>
            </a:solidFill>
            <a:prstDash val="solid"/>
          </a:ln>
        </p:spPr>
      </p:sp>
      <p:sp>
        <p:nvSpPr>
          <p:cNvPr id="34" name="Shape 32"/>
          <p:cNvSpPr/>
          <p:nvPr/>
        </p:nvSpPr>
        <p:spPr>
          <a:xfrm>
            <a:off x="7178040" y="914400"/>
            <a:ext cx="1600200" cy="1828800"/>
          </a:xfrm>
          <a:prstGeom prst="rect">
            <a:avLst/>
          </a:prstGeom>
          <a:solidFill>
            <a:srgbClr val="243656"/>
          </a:solidFill>
          <a:ln w="19050">
            <a:solidFill>
              <a:srgbClr val="1A78C2"/>
            </a:solidFill>
            <a:prstDash val="solid"/>
          </a:ln>
          <a:effectLst>
            <a:outerShdw sx="100000" sy="100000" kx="0" ky="0" algn="bl" rotWithShape="0" blurRad="76200" dist="25400" dir="8100000">
              <a:srgbClr val="000000">
                <a:alpha val="18000"/>
              </a:srgbClr>
            </a:outerShdw>
          </a:effectLst>
        </p:spPr>
      </p:sp>
      <p:sp>
        <p:nvSpPr>
          <p:cNvPr id="35" name="Shape 33"/>
          <p:cNvSpPr/>
          <p:nvPr/>
        </p:nvSpPr>
        <p:spPr>
          <a:xfrm>
            <a:off x="7776972" y="713232"/>
            <a:ext cx="402336" cy="402336"/>
          </a:xfrm>
          <a:prstGeom prst="ellipse">
            <a:avLst/>
          </a:prstGeom>
          <a:solidFill>
            <a:srgbClr val="1A78C2"/>
          </a:solidFill>
          <a:ln w="25400">
            <a:solidFill>
              <a:srgbClr val="1B2A4A"/>
            </a:solidFill>
            <a:prstDash val="solid"/>
          </a:ln>
        </p:spPr>
      </p:sp>
      <p:sp>
        <p:nvSpPr>
          <p:cNvPr id="36" name="Text 34"/>
          <p:cNvSpPr/>
          <p:nvPr/>
        </p:nvSpPr>
        <p:spPr>
          <a:xfrm>
            <a:off x="7776972" y="713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7" name="Text 35"/>
          <p:cNvSpPr/>
          <p:nvPr/>
        </p:nvSpPr>
        <p:spPr>
          <a:xfrm>
            <a:off x="7269480" y="1005840"/>
            <a:ext cx="1417320" cy="411480"/>
          </a:xfrm>
          <a:prstGeom prst="rect">
            <a:avLst/>
          </a:prstGeom>
          <a:noFill/>
          <a:ln/>
        </p:spPr>
        <p:txBody>
          <a:bodyPr wrap="square" lIns="0" tIns="0" rIns="0" bIns="0" rtlCol="0" anchor="ctr"/>
          <a:lstStyle/>
          <a:p>
            <a:pPr algn="ctr" indent="0" marL="0">
              <a:buNone/>
            </a:pPr>
            <a:r>
              <a:rPr lang="en-US" sz="1100" b="1" dirty="0">
                <a:solidFill>
                  <a:srgbClr val="1A78C2"/>
                </a:solidFill>
              </a:rPr>
              <a:t>Model</a:t>
            </a:r>
            <a:endParaRPr lang="en-US" sz="1100" dirty="0"/>
          </a:p>
          <a:p>
            <a:pPr algn="ctr" indent="0" marL="0">
              <a:buNone/>
            </a:pPr>
            <a:r>
              <a:rPr lang="en-US" sz="1100" b="1" dirty="0">
                <a:solidFill>
                  <a:srgbClr val="1A78C2"/>
                </a:solidFill>
              </a:rPr>
              <a:t>Training</a:t>
            </a:r>
            <a:endParaRPr lang="en-US" sz="1100" dirty="0"/>
          </a:p>
        </p:txBody>
      </p:sp>
      <p:sp>
        <p:nvSpPr>
          <p:cNvPr id="38" name="Text 36"/>
          <p:cNvSpPr/>
          <p:nvPr/>
        </p:nvSpPr>
        <p:spPr>
          <a:xfrm>
            <a:off x="7287768" y="1444752"/>
            <a:ext cx="1380744" cy="1207008"/>
          </a:xfrm>
          <a:prstGeom prst="rect">
            <a:avLst/>
          </a:prstGeom>
          <a:noFill/>
          <a:ln/>
        </p:spPr>
        <p:txBody>
          <a:bodyPr wrap="square" lIns="0" tIns="0" rIns="0" bIns="0" rtlCol="0" anchor="t"/>
          <a:lstStyle/>
          <a:p>
            <a:pPr algn="ctr" indent="0" marL="0">
              <a:buNone/>
            </a:pPr>
            <a:r>
              <a:rPr lang="en-US" sz="850" dirty="0">
                <a:solidFill>
                  <a:srgbClr val="8A9BB5"/>
                </a:solidFill>
              </a:rPr>
              <a:t>Random Forest</a:t>
            </a:r>
            <a:endParaRPr lang="en-US" sz="850" dirty="0"/>
          </a:p>
          <a:p>
            <a:pPr algn="ctr" indent="0" marL="0">
              <a:buNone/>
            </a:pPr>
            <a:r>
              <a:rPr lang="en-US" sz="850" dirty="0">
                <a:solidFill>
                  <a:srgbClr val="8A9BB5"/>
                </a:solidFill>
              </a:rPr>
              <a:t>200 trees</a:t>
            </a:r>
            <a:endParaRPr lang="en-US" sz="850" dirty="0"/>
          </a:p>
          <a:p>
            <a:pPr algn="ctr" indent="0" marL="0">
              <a:buNone/>
            </a:pPr>
            <a:r>
              <a:rPr lang="en-US" sz="850" dirty="0">
                <a:solidFill>
                  <a:srgbClr val="8A9BB5"/>
                </a:solidFill>
              </a:rPr>
              <a:t>Class balancing</a:t>
            </a:r>
            <a:endParaRPr lang="en-US" sz="850" dirty="0"/>
          </a:p>
          <a:p>
            <a:pPr algn="ctr" indent="0" marL="0">
              <a:buNone/>
            </a:pPr>
            <a:r>
              <a:rPr lang="en-US" sz="850" dirty="0">
                <a:solidFill>
                  <a:srgbClr val="8A9BB5"/>
                </a:solidFill>
              </a:rPr>
              <a:t>LOO validation</a:t>
            </a:r>
            <a:endParaRPr lang="en-US" sz="850" dirty="0"/>
          </a:p>
        </p:txBody>
      </p:sp>
      <p:sp>
        <p:nvSpPr>
          <p:cNvPr id="39" name="Shape 37"/>
          <p:cNvSpPr/>
          <p:nvPr/>
        </p:nvSpPr>
        <p:spPr>
          <a:xfrm>
            <a:off x="228600" y="3035808"/>
            <a:ext cx="9144000" cy="320040"/>
          </a:xfrm>
          <a:prstGeom prst="rect">
            <a:avLst/>
          </a:prstGeom>
          <a:solidFill>
            <a:srgbClr val="243656"/>
          </a:solidFill>
          <a:ln w="12700">
            <a:solidFill>
              <a:srgbClr val="2E4270"/>
            </a:solidFill>
            <a:prstDash val="solid"/>
          </a:ln>
        </p:spPr>
      </p:sp>
      <p:sp>
        <p:nvSpPr>
          <p:cNvPr id="40" name="Text 38"/>
          <p:cNvSpPr/>
          <p:nvPr/>
        </p:nvSpPr>
        <p:spPr>
          <a:xfrm>
            <a:off x="274320" y="3044952"/>
            <a:ext cx="1463040" cy="292608"/>
          </a:xfrm>
          <a:prstGeom prst="rect">
            <a:avLst/>
          </a:prstGeom>
          <a:noFill/>
          <a:ln/>
        </p:spPr>
        <p:txBody>
          <a:bodyPr wrap="square" lIns="0" tIns="0" rIns="0" bIns="0" rtlCol="0" anchor="ctr"/>
          <a:lstStyle/>
          <a:p>
            <a:pPr algn="l" indent="0" marL="0">
              <a:buNone/>
            </a:pPr>
            <a:r>
              <a:rPr lang="en-US" sz="850" b="1" spc="100" kern="0" dirty="0">
                <a:solidFill>
                  <a:srgbClr val="00B8D4"/>
                </a:solidFill>
              </a:rPr>
              <a:t>OUTPUT LAYER</a:t>
            </a:r>
            <a:endParaRPr lang="en-US" sz="850" dirty="0"/>
          </a:p>
        </p:txBody>
      </p:sp>
      <p:sp>
        <p:nvSpPr>
          <p:cNvPr id="41" name="Text 39"/>
          <p:cNvSpPr/>
          <p:nvPr/>
        </p:nvSpPr>
        <p:spPr>
          <a:xfrm>
            <a:off x="1828800" y="3044952"/>
            <a:ext cx="7223760" cy="292608"/>
          </a:xfrm>
          <a:prstGeom prst="rect">
            <a:avLst/>
          </a:prstGeom>
          <a:noFill/>
          <a:ln/>
        </p:spPr>
        <p:txBody>
          <a:bodyPr wrap="square" lIns="0" tIns="0" rIns="0" bIns="0" rtlCol="0" anchor="ctr"/>
          <a:lstStyle/>
          <a:p>
            <a:pPr algn="l" indent="0" marL="0">
              <a:buNone/>
            </a:pPr>
            <a:r>
              <a:rPr lang="en-US" sz="950" dirty="0">
                <a:solidFill>
                  <a:srgbClr val="FFFFFF"/>
                </a:solidFill>
              </a:rPr>
              <a:t>→  Prediction: OK ✅ / NOT OK ⚠️   |   Confidence Probability %   |   Per-file result log   |   Model .pkl export</a:t>
            </a:r>
            <a:endParaRPr lang="en-US" sz="950" dirty="0"/>
          </a:p>
        </p:txBody>
      </p:sp>
      <p:sp>
        <p:nvSpPr>
          <p:cNvPr id="42" name="Shape 40"/>
          <p:cNvSpPr/>
          <p:nvPr/>
        </p:nvSpPr>
        <p:spPr>
          <a:xfrm>
            <a:off x="228600" y="3520440"/>
            <a:ext cx="2103120" cy="1426464"/>
          </a:xfrm>
          <a:prstGeom prst="rect">
            <a:avLst/>
          </a:prstGeom>
          <a:solidFill>
            <a:srgbClr val="243656"/>
          </a:solidFill>
          <a:ln w="19050">
            <a:solidFill>
              <a:srgbClr val="00B8D4"/>
            </a:solidFill>
            <a:prstDash val="solid"/>
          </a:ln>
          <a:effectLst>
            <a:outerShdw sx="100000" sy="100000" kx="0" ky="0" algn="bl" rotWithShape="0" blurRad="63500" dist="25400" dir="8100000">
              <a:srgbClr val="000000">
                <a:alpha val="15000"/>
              </a:srgbClr>
            </a:outerShdw>
          </a:effectLst>
        </p:spPr>
      </p:sp>
      <p:sp>
        <p:nvSpPr>
          <p:cNvPr id="43" name="Shape 41"/>
          <p:cNvSpPr/>
          <p:nvPr/>
        </p:nvSpPr>
        <p:spPr>
          <a:xfrm>
            <a:off x="228600" y="3520440"/>
            <a:ext cx="54864" cy="1426464"/>
          </a:xfrm>
          <a:prstGeom prst="rect">
            <a:avLst/>
          </a:prstGeom>
          <a:solidFill>
            <a:srgbClr val="00B8D4"/>
          </a:solidFill>
          <a:ln w="12700">
            <a:solidFill>
              <a:srgbClr val="00B8D4"/>
            </a:solidFill>
            <a:prstDash val="solid"/>
          </a:ln>
        </p:spPr>
      </p:sp>
      <p:sp>
        <p:nvSpPr>
          <p:cNvPr id="44" name="Text 42"/>
          <p:cNvSpPr/>
          <p:nvPr/>
        </p:nvSpPr>
        <p:spPr>
          <a:xfrm>
            <a:off x="338328" y="3566160"/>
            <a:ext cx="1920240" cy="310896"/>
          </a:xfrm>
          <a:prstGeom prst="rect">
            <a:avLst/>
          </a:prstGeom>
          <a:noFill/>
          <a:ln/>
        </p:spPr>
        <p:txBody>
          <a:bodyPr wrap="square" lIns="0" tIns="0" rIns="0" bIns="0" rtlCol="0" anchor="ctr"/>
          <a:lstStyle/>
          <a:p>
            <a:pPr algn="l" indent="0" marL="0">
              <a:buNone/>
            </a:pPr>
            <a:r>
              <a:rPr lang="en-US" sz="1050" b="1" dirty="0">
                <a:solidFill>
                  <a:srgbClr val="00B8D4"/>
                </a:solidFill>
              </a:rPr>
              <a:t>MFCC Features</a:t>
            </a:r>
            <a:endParaRPr lang="en-US" sz="1050" dirty="0"/>
          </a:p>
        </p:txBody>
      </p:sp>
      <p:sp>
        <p:nvSpPr>
          <p:cNvPr id="45" name="Text 43"/>
          <p:cNvSpPr/>
          <p:nvPr/>
        </p:nvSpPr>
        <p:spPr>
          <a:xfrm>
            <a:off x="338328" y="3913632"/>
            <a:ext cx="1901952" cy="987552"/>
          </a:xfrm>
          <a:prstGeom prst="rect">
            <a:avLst/>
          </a:prstGeom>
          <a:noFill/>
          <a:ln/>
        </p:spPr>
        <p:txBody>
          <a:bodyPr wrap="square" lIns="0" tIns="0" rIns="0" bIns="0" rtlCol="0" anchor="t"/>
          <a:lstStyle/>
          <a:p>
            <a:pPr algn="l" indent="0" marL="0">
              <a:buNone/>
            </a:pPr>
            <a:r>
              <a:rPr lang="en-US" sz="850" dirty="0">
                <a:solidFill>
                  <a:srgbClr val="8A9BB5"/>
                </a:solidFill>
              </a:rPr>
              <a:t>20 coefficients × 4 stats</a:t>
            </a:r>
            <a:endParaRPr lang="en-US" sz="850" dirty="0"/>
          </a:p>
          <a:p>
            <a:pPr algn="l" indent="0" marL="0">
              <a:buNone/>
            </a:pPr>
            <a:r>
              <a:rPr lang="en-US" sz="850" dirty="0">
                <a:solidFill>
                  <a:srgbClr val="8A9BB5"/>
                </a:solidFill>
              </a:rPr>
              <a:t>= 80 MFCC values</a:t>
            </a:r>
            <a:endParaRPr lang="en-US" sz="850" dirty="0"/>
          </a:p>
          <a:p>
            <a:pPr algn="l" indent="0" marL="0">
              <a:buNone/>
            </a:pPr>
            <a:r>
              <a:rPr lang="en-US" sz="850" dirty="0">
                <a:solidFill>
                  <a:srgbClr val="8A9BB5"/>
                </a:solidFill>
              </a:rPr>
              <a:t>Captures timbre &amp; texture</a:t>
            </a:r>
            <a:endParaRPr lang="en-US" sz="850" dirty="0"/>
          </a:p>
          <a:p>
            <a:pPr algn="l" indent="0" marL="0">
              <a:buNone/>
            </a:pPr>
            <a:r>
              <a:rPr lang="en-US" sz="850" dirty="0">
                <a:solidFill>
                  <a:srgbClr val="8A9BB5"/>
                </a:solidFill>
              </a:rPr>
              <a:t>Most powerful feature group</a:t>
            </a:r>
            <a:endParaRPr lang="en-US" sz="850" dirty="0"/>
          </a:p>
        </p:txBody>
      </p:sp>
      <p:sp>
        <p:nvSpPr>
          <p:cNvPr id="46" name="Shape 44"/>
          <p:cNvSpPr/>
          <p:nvPr/>
        </p:nvSpPr>
        <p:spPr>
          <a:xfrm>
            <a:off x="2459736" y="3520440"/>
            <a:ext cx="2103120" cy="1426464"/>
          </a:xfrm>
          <a:prstGeom prst="rect">
            <a:avLst/>
          </a:prstGeom>
          <a:solidFill>
            <a:srgbClr val="243656"/>
          </a:solidFill>
          <a:ln w="19050">
            <a:solidFill>
              <a:srgbClr val="00A3B8"/>
            </a:solidFill>
            <a:prstDash val="solid"/>
          </a:ln>
          <a:effectLst>
            <a:outerShdw sx="100000" sy="100000" kx="0" ky="0" algn="bl" rotWithShape="0" blurRad="63500" dist="25400" dir="8100000">
              <a:srgbClr val="000000">
                <a:alpha val="15000"/>
              </a:srgbClr>
            </a:outerShdw>
          </a:effectLst>
        </p:spPr>
      </p:sp>
      <p:sp>
        <p:nvSpPr>
          <p:cNvPr id="47" name="Shape 45"/>
          <p:cNvSpPr/>
          <p:nvPr/>
        </p:nvSpPr>
        <p:spPr>
          <a:xfrm>
            <a:off x="2459736" y="3520440"/>
            <a:ext cx="54864" cy="1426464"/>
          </a:xfrm>
          <a:prstGeom prst="rect">
            <a:avLst/>
          </a:prstGeom>
          <a:solidFill>
            <a:srgbClr val="00A3B8"/>
          </a:solidFill>
          <a:ln w="12700">
            <a:solidFill>
              <a:srgbClr val="00A3B8"/>
            </a:solidFill>
            <a:prstDash val="solid"/>
          </a:ln>
        </p:spPr>
      </p:sp>
      <p:sp>
        <p:nvSpPr>
          <p:cNvPr id="48" name="Text 46"/>
          <p:cNvSpPr/>
          <p:nvPr/>
        </p:nvSpPr>
        <p:spPr>
          <a:xfrm>
            <a:off x="2569464" y="3566160"/>
            <a:ext cx="1920240" cy="310896"/>
          </a:xfrm>
          <a:prstGeom prst="rect">
            <a:avLst/>
          </a:prstGeom>
          <a:noFill/>
          <a:ln/>
        </p:spPr>
        <p:txBody>
          <a:bodyPr wrap="square" lIns="0" tIns="0" rIns="0" bIns="0" rtlCol="0" anchor="ctr"/>
          <a:lstStyle/>
          <a:p>
            <a:pPr algn="l" indent="0" marL="0">
              <a:buNone/>
            </a:pPr>
            <a:r>
              <a:rPr lang="en-US" sz="1050" b="1" dirty="0">
                <a:solidFill>
                  <a:srgbClr val="00A3B8"/>
                </a:solidFill>
              </a:rPr>
              <a:t>Spectral Features</a:t>
            </a:r>
            <a:endParaRPr lang="en-US" sz="1050" dirty="0"/>
          </a:p>
        </p:txBody>
      </p:sp>
      <p:sp>
        <p:nvSpPr>
          <p:cNvPr id="49" name="Text 47"/>
          <p:cNvSpPr/>
          <p:nvPr/>
        </p:nvSpPr>
        <p:spPr>
          <a:xfrm>
            <a:off x="2569464" y="3913632"/>
            <a:ext cx="1901952" cy="987552"/>
          </a:xfrm>
          <a:prstGeom prst="rect">
            <a:avLst/>
          </a:prstGeom>
          <a:noFill/>
          <a:ln/>
        </p:spPr>
        <p:txBody>
          <a:bodyPr wrap="square" lIns="0" tIns="0" rIns="0" bIns="0" rtlCol="0" anchor="t"/>
          <a:lstStyle/>
          <a:p>
            <a:pPr algn="l" indent="0" marL="0">
              <a:buNone/>
            </a:pPr>
            <a:r>
              <a:rPr lang="en-US" sz="850" dirty="0">
                <a:solidFill>
                  <a:srgbClr val="8A9BB5"/>
                </a:solidFill>
              </a:rPr>
              <a:t>Centroid, bandwidth,</a:t>
            </a:r>
            <a:endParaRPr lang="en-US" sz="850" dirty="0"/>
          </a:p>
          <a:p>
            <a:pPr algn="l" indent="0" marL="0">
              <a:buNone/>
            </a:pPr>
            <a:r>
              <a:rPr lang="en-US" sz="850" dirty="0">
                <a:solidFill>
                  <a:srgbClr val="8A9BB5"/>
                </a:solidFill>
              </a:rPr>
              <a:t>rolloff, flatness</a:t>
            </a:r>
            <a:endParaRPr lang="en-US" sz="850" dirty="0"/>
          </a:p>
          <a:p>
            <a:pPr algn="l" indent="0" marL="0">
              <a:buNone/>
            </a:pPr>
            <a:r>
              <a:rPr lang="en-US" sz="850" dirty="0">
                <a:solidFill>
                  <a:srgbClr val="8A9BB5"/>
                </a:solidFill>
              </a:rPr>
              <a:t>Frequency shape descriptors</a:t>
            </a:r>
            <a:endParaRPr lang="en-US" sz="850" dirty="0"/>
          </a:p>
          <a:p>
            <a:pPr algn="l" indent="0" marL="0">
              <a:buNone/>
            </a:pPr>
            <a:r>
              <a:rPr lang="en-US" sz="850" dirty="0">
                <a:solidFill>
                  <a:srgbClr val="8A9BB5"/>
                </a:solidFill>
              </a:rPr>
              <a:t>Detects tonal vs noisy sounds</a:t>
            </a:r>
            <a:endParaRPr lang="en-US" sz="850" dirty="0"/>
          </a:p>
        </p:txBody>
      </p:sp>
      <p:sp>
        <p:nvSpPr>
          <p:cNvPr id="50" name="Shape 48"/>
          <p:cNvSpPr/>
          <p:nvPr/>
        </p:nvSpPr>
        <p:spPr>
          <a:xfrm>
            <a:off x="4690872" y="3520440"/>
            <a:ext cx="2103120" cy="1426464"/>
          </a:xfrm>
          <a:prstGeom prst="rect">
            <a:avLst/>
          </a:prstGeom>
          <a:solidFill>
            <a:srgbClr val="243656"/>
          </a:solidFill>
          <a:ln w="19050">
            <a:solidFill>
              <a:srgbClr val="1A78C2"/>
            </a:solidFill>
            <a:prstDash val="solid"/>
          </a:ln>
          <a:effectLst>
            <a:outerShdw sx="100000" sy="100000" kx="0" ky="0" algn="bl" rotWithShape="0" blurRad="63500" dist="25400" dir="8100000">
              <a:srgbClr val="000000">
                <a:alpha val="15000"/>
              </a:srgbClr>
            </a:outerShdw>
          </a:effectLst>
        </p:spPr>
      </p:sp>
      <p:sp>
        <p:nvSpPr>
          <p:cNvPr id="51" name="Shape 49"/>
          <p:cNvSpPr/>
          <p:nvPr/>
        </p:nvSpPr>
        <p:spPr>
          <a:xfrm>
            <a:off x="4690872" y="3520440"/>
            <a:ext cx="54864" cy="1426464"/>
          </a:xfrm>
          <a:prstGeom prst="rect">
            <a:avLst/>
          </a:prstGeom>
          <a:solidFill>
            <a:srgbClr val="1A78C2"/>
          </a:solidFill>
          <a:ln w="12700">
            <a:solidFill>
              <a:srgbClr val="1A78C2"/>
            </a:solidFill>
            <a:prstDash val="solid"/>
          </a:ln>
        </p:spPr>
      </p:sp>
      <p:sp>
        <p:nvSpPr>
          <p:cNvPr id="52" name="Text 50"/>
          <p:cNvSpPr/>
          <p:nvPr/>
        </p:nvSpPr>
        <p:spPr>
          <a:xfrm>
            <a:off x="4800600" y="3566160"/>
            <a:ext cx="1920240" cy="310896"/>
          </a:xfrm>
          <a:prstGeom prst="rect">
            <a:avLst/>
          </a:prstGeom>
          <a:noFill/>
          <a:ln/>
        </p:spPr>
        <p:txBody>
          <a:bodyPr wrap="square" lIns="0" tIns="0" rIns="0" bIns="0" rtlCol="0" anchor="ctr"/>
          <a:lstStyle/>
          <a:p>
            <a:pPr algn="l" indent="0" marL="0">
              <a:buNone/>
            </a:pPr>
            <a:r>
              <a:rPr lang="en-US" sz="1050" b="1" dirty="0">
                <a:solidFill>
                  <a:srgbClr val="1A78C2"/>
                </a:solidFill>
              </a:rPr>
              <a:t>Energy Bands</a:t>
            </a:r>
            <a:endParaRPr lang="en-US" sz="1050" dirty="0"/>
          </a:p>
        </p:txBody>
      </p:sp>
      <p:sp>
        <p:nvSpPr>
          <p:cNvPr id="53" name="Text 51"/>
          <p:cNvSpPr/>
          <p:nvPr/>
        </p:nvSpPr>
        <p:spPr>
          <a:xfrm>
            <a:off x="4800600" y="3913632"/>
            <a:ext cx="1901952" cy="987552"/>
          </a:xfrm>
          <a:prstGeom prst="rect">
            <a:avLst/>
          </a:prstGeom>
          <a:noFill/>
          <a:ln/>
        </p:spPr>
        <p:txBody>
          <a:bodyPr wrap="square" lIns="0" tIns="0" rIns="0" bIns="0" rtlCol="0" anchor="t"/>
          <a:lstStyle/>
          <a:p>
            <a:pPr algn="l" indent="0" marL="0">
              <a:buNone/>
            </a:pPr>
            <a:r>
              <a:rPr lang="en-US" sz="850" dirty="0">
                <a:solidFill>
                  <a:srgbClr val="8A9BB5"/>
                </a:solidFill>
              </a:rPr>
              <a:t>5 frequency bands</a:t>
            </a:r>
            <a:endParaRPr lang="en-US" sz="850" dirty="0"/>
          </a:p>
          <a:p>
            <a:pPr algn="l" indent="0" marL="0">
              <a:buNone/>
            </a:pPr>
            <a:r>
              <a:rPr lang="en-US" sz="850" dirty="0">
                <a:solidFill>
                  <a:srgbClr val="8A9BB5"/>
                </a:solidFill>
              </a:rPr>
              <a:t>0-200, 200-500, 500-2k,</a:t>
            </a:r>
            <a:endParaRPr lang="en-US" sz="850" dirty="0"/>
          </a:p>
          <a:p>
            <a:pPr algn="l" indent="0" marL="0">
              <a:buNone/>
            </a:pPr>
            <a:r>
              <a:rPr lang="en-US" sz="850" dirty="0">
                <a:solidFill>
                  <a:srgbClr val="8A9BB5"/>
                </a:solidFill>
              </a:rPr>
              <a:t>2k-5k, 5k+ Hz</a:t>
            </a:r>
            <a:endParaRPr lang="en-US" sz="850" dirty="0"/>
          </a:p>
          <a:p>
            <a:pPr algn="l" indent="0" marL="0">
              <a:buNone/>
            </a:pPr>
            <a:r>
              <a:rPr lang="en-US" sz="850" dirty="0">
                <a:solidFill>
                  <a:srgbClr val="8A9BB5"/>
                </a:solidFill>
              </a:rPr>
              <a:t>Where is the energy?</a:t>
            </a:r>
            <a:endParaRPr lang="en-US" sz="850" dirty="0"/>
          </a:p>
        </p:txBody>
      </p:sp>
      <p:sp>
        <p:nvSpPr>
          <p:cNvPr id="54" name="Shape 52"/>
          <p:cNvSpPr/>
          <p:nvPr/>
        </p:nvSpPr>
        <p:spPr>
          <a:xfrm>
            <a:off x="6922008" y="3520440"/>
            <a:ext cx="2103120" cy="1426464"/>
          </a:xfrm>
          <a:prstGeom prst="rect">
            <a:avLst/>
          </a:prstGeom>
          <a:solidFill>
            <a:srgbClr val="243656"/>
          </a:solidFill>
          <a:ln w="19050">
            <a:solidFill>
              <a:srgbClr val="FFB300"/>
            </a:solidFill>
            <a:prstDash val="solid"/>
          </a:ln>
          <a:effectLst>
            <a:outerShdw sx="100000" sy="100000" kx="0" ky="0" algn="bl" rotWithShape="0" blurRad="63500" dist="25400" dir="8100000">
              <a:srgbClr val="000000">
                <a:alpha val="15000"/>
              </a:srgbClr>
            </a:outerShdw>
          </a:effectLst>
        </p:spPr>
      </p:sp>
      <p:sp>
        <p:nvSpPr>
          <p:cNvPr id="55" name="Shape 53"/>
          <p:cNvSpPr/>
          <p:nvPr/>
        </p:nvSpPr>
        <p:spPr>
          <a:xfrm>
            <a:off x="6922008" y="3520440"/>
            <a:ext cx="54864" cy="1426464"/>
          </a:xfrm>
          <a:prstGeom prst="rect">
            <a:avLst/>
          </a:prstGeom>
          <a:solidFill>
            <a:srgbClr val="FFB300"/>
          </a:solidFill>
          <a:ln w="12700">
            <a:solidFill>
              <a:srgbClr val="FFB300"/>
            </a:solidFill>
            <a:prstDash val="solid"/>
          </a:ln>
        </p:spPr>
      </p:sp>
      <p:sp>
        <p:nvSpPr>
          <p:cNvPr id="56" name="Text 54"/>
          <p:cNvSpPr/>
          <p:nvPr/>
        </p:nvSpPr>
        <p:spPr>
          <a:xfrm>
            <a:off x="7031736" y="3566160"/>
            <a:ext cx="1920240" cy="310896"/>
          </a:xfrm>
          <a:prstGeom prst="rect">
            <a:avLst/>
          </a:prstGeom>
          <a:noFill/>
          <a:ln/>
        </p:spPr>
        <p:txBody>
          <a:bodyPr wrap="square" lIns="0" tIns="0" rIns="0" bIns="0" rtlCol="0" anchor="ctr"/>
          <a:lstStyle/>
          <a:p>
            <a:pPr algn="l" indent="0" marL="0">
              <a:buNone/>
            </a:pPr>
            <a:r>
              <a:rPr lang="en-US" sz="1050" b="1" dirty="0">
                <a:solidFill>
                  <a:srgbClr val="FFB300"/>
                </a:solidFill>
              </a:rPr>
              <a:t>Time Domain</a:t>
            </a:r>
            <a:endParaRPr lang="en-US" sz="1050" dirty="0"/>
          </a:p>
        </p:txBody>
      </p:sp>
      <p:sp>
        <p:nvSpPr>
          <p:cNvPr id="57" name="Text 55"/>
          <p:cNvSpPr/>
          <p:nvPr/>
        </p:nvSpPr>
        <p:spPr>
          <a:xfrm>
            <a:off x="7031736" y="3913632"/>
            <a:ext cx="1901952" cy="987552"/>
          </a:xfrm>
          <a:prstGeom prst="rect">
            <a:avLst/>
          </a:prstGeom>
          <a:noFill/>
          <a:ln/>
        </p:spPr>
        <p:txBody>
          <a:bodyPr wrap="square" lIns="0" tIns="0" rIns="0" bIns="0" rtlCol="0" anchor="t"/>
          <a:lstStyle/>
          <a:p>
            <a:pPr algn="l" indent="0" marL="0">
              <a:buNone/>
            </a:pPr>
            <a:r>
              <a:rPr lang="en-US" sz="850" dirty="0">
                <a:solidFill>
                  <a:srgbClr val="8A9BB5"/>
                </a:solidFill>
              </a:rPr>
              <a:t>ZCR, RMS, Peak</a:t>
            </a:r>
            <a:endParaRPr lang="en-US" sz="850" dirty="0"/>
          </a:p>
          <a:p>
            <a:pPr algn="l" indent="0" marL="0">
              <a:buNone/>
            </a:pPr>
            <a:r>
              <a:rPr lang="en-US" sz="850" dirty="0">
                <a:solidFill>
                  <a:srgbClr val="8A9BB5"/>
                </a:solidFill>
              </a:rPr>
              <a:t>Dynamic range, Kurtosis</a:t>
            </a:r>
            <a:endParaRPr lang="en-US" sz="850" dirty="0"/>
          </a:p>
          <a:p>
            <a:pPr algn="l" indent="0" marL="0">
              <a:buNone/>
            </a:pPr>
            <a:r>
              <a:rPr lang="en-US" sz="850" dirty="0">
                <a:solidFill>
                  <a:srgbClr val="8A9BB5"/>
                </a:solidFill>
              </a:rPr>
              <a:t>Skewness, Impulse rate</a:t>
            </a:r>
            <a:endParaRPr lang="en-US" sz="850" dirty="0"/>
          </a:p>
          <a:p>
            <a:pPr algn="l" indent="0" marL="0">
              <a:buNone/>
            </a:pPr>
            <a:r>
              <a:rPr lang="en-US" sz="850" dirty="0">
                <a:solidFill>
                  <a:srgbClr val="8A9BB5"/>
                </a:solidFill>
              </a:rPr>
              <a:t>Detects rattles &amp; spikes</a:t>
            </a:r>
            <a:endParaRPr lang="en-US" sz="850" dirty="0"/>
          </a:p>
        </p:txBody>
      </p:sp>
      <p:sp>
        <p:nvSpPr>
          <p:cNvPr id="58" name="Text 56"/>
          <p:cNvSpPr/>
          <p:nvPr/>
        </p:nvSpPr>
        <p:spPr>
          <a:xfrm>
            <a:off x="228600" y="4846320"/>
            <a:ext cx="8686800" cy="256032"/>
          </a:xfrm>
          <a:prstGeom prst="rect">
            <a:avLst/>
          </a:prstGeom>
          <a:noFill/>
          <a:ln/>
        </p:spPr>
        <p:txBody>
          <a:bodyPr wrap="square" lIns="0" tIns="0" rIns="0" bIns="0" rtlCol="0" anchor="ctr"/>
          <a:lstStyle/>
          <a:p>
            <a:pPr algn="ctr" indent="0" marL="0">
              <a:buNone/>
            </a:pPr>
            <a:r>
              <a:rPr lang="en-US" sz="950" b="1" dirty="0">
                <a:solidFill>
                  <a:srgbClr val="8A9BB5"/>
                </a:solidFill>
              </a:rPr>
              <a:t>99 Total Features per Audio File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FEATURE ENGINEERING</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What the Model Learns from Each Audio File</a:t>
            </a:r>
            <a:endParaRPr lang="en-US" sz="1900" dirty="0"/>
          </a:p>
        </p:txBody>
      </p:sp>
      <p:pic>
        <p:nvPicPr>
          <p:cNvPr id="6" name="Image 0" descr="preencoded.png">    </p:cNvPr>
          <p:cNvPicPr>
            <a:picLocks noChangeAspect="1"/>
          </p:cNvPicPr>
          <p:nvPr/>
        </p:nvPicPr>
        <p:blipFill>
          <a:blip r:embed="rId1"/>
          <a:stretch>
            <a:fillRect/>
          </a:stretch>
        </p:blipFill>
        <p:spPr>
          <a:xfrm>
            <a:off x="274320" y="749808"/>
            <a:ext cx="5486400" cy="4206240"/>
          </a:xfrm>
          <a:prstGeom prst="rect">
            <a:avLst/>
          </a:prstGeom>
        </p:spPr>
      </p:pic>
      <p:sp>
        <p:nvSpPr>
          <p:cNvPr id="7" name="Shape 4"/>
          <p:cNvSpPr/>
          <p:nvPr/>
        </p:nvSpPr>
        <p:spPr>
          <a:xfrm>
            <a:off x="5961888" y="777240"/>
            <a:ext cx="2880360" cy="713232"/>
          </a:xfrm>
          <a:prstGeom prst="rect">
            <a:avLst/>
          </a:prstGeom>
          <a:solidFill>
            <a:srgbClr val="FFFFFF"/>
          </a:solidFill>
          <a:ln w="19050">
            <a:solidFill>
              <a:srgbClr val="00B8D4"/>
            </a:solidFill>
            <a:prstDash val="solid"/>
          </a:ln>
          <a:effectLst>
            <a:outerShdw sx="100000" sy="100000" kx="0" ky="0" algn="bl" rotWithShape="0" blurRad="50800" dist="12700" dir="8100000">
              <a:srgbClr val="000000">
                <a:alpha val="10000"/>
              </a:srgbClr>
            </a:outerShdw>
          </a:effectLst>
        </p:spPr>
      </p:sp>
      <p:sp>
        <p:nvSpPr>
          <p:cNvPr id="8" name="Shape 5"/>
          <p:cNvSpPr/>
          <p:nvPr/>
        </p:nvSpPr>
        <p:spPr>
          <a:xfrm>
            <a:off x="5961888" y="777240"/>
            <a:ext cx="54864" cy="713232"/>
          </a:xfrm>
          <a:prstGeom prst="rect">
            <a:avLst/>
          </a:prstGeom>
          <a:solidFill>
            <a:srgbClr val="00B8D4"/>
          </a:solidFill>
          <a:ln w="12700">
            <a:solidFill>
              <a:srgbClr val="00B8D4"/>
            </a:solidFill>
            <a:prstDash val="solid"/>
          </a:ln>
        </p:spPr>
      </p:sp>
      <p:sp>
        <p:nvSpPr>
          <p:cNvPr id="9" name="Text 6"/>
          <p:cNvSpPr/>
          <p:nvPr/>
        </p:nvSpPr>
        <p:spPr>
          <a:xfrm>
            <a:off x="6108192" y="813816"/>
            <a:ext cx="2651760" cy="256032"/>
          </a:xfrm>
          <a:prstGeom prst="rect">
            <a:avLst/>
          </a:prstGeom>
          <a:noFill/>
          <a:ln/>
        </p:spPr>
        <p:txBody>
          <a:bodyPr wrap="square" lIns="0" tIns="0" rIns="0" bIns="0" rtlCol="0" anchor="ctr"/>
          <a:lstStyle/>
          <a:p>
            <a:pPr algn="l" indent="0" marL="0">
              <a:buNone/>
            </a:pPr>
            <a:r>
              <a:rPr lang="en-US" sz="1050" b="1" dirty="0">
                <a:solidFill>
                  <a:srgbClr val="00B8D4"/>
                </a:solidFill>
              </a:rPr>
              <a:t>MFCC</a:t>
            </a:r>
            <a:endParaRPr lang="en-US" sz="1050" dirty="0"/>
          </a:p>
        </p:txBody>
      </p:sp>
      <p:sp>
        <p:nvSpPr>
          <p:cNvPr id="10" name="Text 7"/>
          <p:cNvSpPr/>
          <p:nvPr/>
        </p:nvSpPr>
        <p:spPr>
          <a:xfrm>
            <a:off x="6108192" y="1088136"/>
            <a:ext cx="2651760" cy="384048"/>
          </a:xfrm>
          <a:prstGeom prst="rect">
            <a:avLst/>
          </a:prstGeom>
          <a:noFill/>
          <a:ln/>
        </p:spPr>
        <p:txBody>
          <a:bodyPr wrap="square" lIns="0" tIns="0" rIns="0" bIns="0" rtlCol="0" anchor="t"/>
          <a:lstStyle/>
          <a:p>
            <a:pPr algn="l" indent="0" marL="0">
              <a:buNone/>
            </a:pPr>
            <a:r>
              <a:rPr lang="en-US" sz="750" dirty="0">
                <a:solidFill>
                  <a:srgbClr val="3D5076"/>
                </a:solidFill>
              </a:rPr>
              <a:t>Mel Frequency Cepstral Coefficients — captures the overall 'texture' of sound. IP rattles and steering squeaks have a very different texture to normal road noise.</a:t>
            </a:r>
            <a:endParaRPr lang="en-US" sz="750" dirty="0"/>
          </a:p>
        </p:txBody>
      </p:sp>
      <p:sp>
        <p:nvSpPr>
          <p:cNvPr id="11" name="Shape 8"/>
          <p:cNvSpPr/>
          <p:nvPr/>
        </p:nvSpPr>
        <p:spPr>
          <a:xfrm>
            <a:off x="5961888" y="1581912"/>
            <a:ext cx="2880360" cy="713232"/>
          </a:xfrm>
          <a:prstGeom prst="rect">
            <a:avLst/>
          </a:prstGeom>
          <a:solidFill>
            <a:srgbClr val="FFFFFF"/>
          </a:solidFill>
          <a:ln w="19050">
            <a:solidFill>
              <a:srgbClr val="FF3D3D"/>
            </a:solidFill>
            <a:prstDash val="solid"/>
          </a:ln>
          <a:effectLst>
            <a:outerShdw sx="100000" sy="100000" kx="0" ky="0" algn="bl" rotWithShape="0" blurRad="50800" dist="12700" dir="8100000">
              <a:srgbClr val="000000">
                <a:alpha val="10000"/>
              </a:srgbClr>
            </a:outerShdw>
          </a:effectLst>
        </p:spPr>
      </p:sp>
      <p:sp>
        <p:nvSpPr>
          <p:cNvPr id="12" name="Shape 9"/>
          <p:cNvSpPr/>
          <p:nvPr/>
        </p:nvSpPr>
        <p:spPr>
          <a:xfrm>
            <a:off x="5961888" y="1581912"/>
            <a:ext cx="54864" cy="713232"/>
          </a:xfrm>
          <a:prstGeom prst="rect">
            <a:avLst/>
          </a:prstGeom>
          <a:solidFill>
            <a:srgbClr val="FF3D3D"/>
          </a:solidFill>
          <a:ln w="12700">
            <a:solidFill>
              <a:srgbClr val="FF3D3D"/>
            </a:solidFill>
            <a:prstDash val="solid"/>
          </a:ln>
        </p:spPr>
      </p:sp>
      <p:sp>
        <p:nvSpPr>
          <p:cNvPr id="13" name="Text 10"/>
          <p:cNvSpPr/>
          <p:nvPr/>
        </p:nvSpPr>
        <p:spPr>
          <a:xfrm>
            <a:off x="6108192" y="1618488"/>
            <a:ext cx="2651760" cy="256032"/>
          </a:xfrm>
          <a:prstGeom prst="rect">
            <a:avLst/>
          </a:prstGeom>
          <a:noFill/>
          <a:ln/>
        </p:spPr>
        <p:txBody>
          <a:bodyPr wrap="square" lIns="0" tIns="0" rIns="0" bIns="0" rtlCol="0" anchor="ctr"/>
          <a:lstStyle/>
          <a:p>
            <a:pPr algn="l" indent="0" marL="0">
              <a:buNone/>
            </a:pPr>
            <a:r>
              <a:rPr lang="en-US" sz="1050" b="1" dirty="0">
                <a:solidFill>
                  <a:srgbClr val="FF3D3D"/>
                </a:solidFill>
              </a:rPr>
              <a:t>Kurtosis</a:t>
            </a:r>
            <a:endParaRPr lang="en-US" sz="1050" dirty="0"/>
          </a:p>
        </p:txBody>
      </p:sp>
      <p:sp>
        <p:nvSpPr>
          <p:cNvPr id="14" name="Text 11"/>
          <p:cNvSpPr/>
          <p:nvPr/>
        </p:nvSpPr>
        <p:spPr>
          <a:xfrm>
            <a:off x="6108192" y="1892808"/>
            <a:ext cx="2651760" cy="384048"/>
          </a:xfrm>
          <a:prstGeom prst="rect">
            <a:avLst/>
          </a:prstGeom>
          <a:noFill/>
          <a:ln/>
        </p:spPr>
        <p:txBody>
          <a:bodyPr wrap="square" lIns="0" tIns="0" rIns="0" bIns="0" rtlCol="0" anchor="t"/>
          <a:lstStyle/>
          <a:p>
            <a:pPr algn="l" indent="0" marL="0">
              <a:buNone/>
            </a:pPr>
            <a:r>
              <a:rPr lang="en-US" sz="750" dirty="0">
                <a:solidFill>
                  <a:srgbClr val="3D5076"/>
                </a:solidFill>
              </a:rPr>
              <a:t>Measures impulsive spikes in audio. Rattles = short sharp hits = high kurtosis. OK vehicles have low kurtosis (smooth continuous noise).</a:t>
            </a:r>
            <a:endParaRPr lang="en-US" sz="750" dirty="0"/>
          </a:p>
        </p:txBody>
      </p:sp>
      <p:sp>
        <p:nvSpPr>
          <p:cNvPr id="15" name="Shape 12"/>
          <p:cNvSpPr/>
          <p:nvPr/>
        </p:nvSpPr>
        <p:spPr>
          <a:xfrm>
            <a:off x="5961888" y="2386584"/>
            <a:ext cx="2880360" cy="713232"/>
          </a:xfrm>
          <a:prstGeom prst="rect">
            <a:avLst/>
          </a:prstGeom>
          <a:solidFill>
            <a:srgbClr val="FFFFFF"/>
          </a:solidFill>
          <a:ln w="19050">
            <a:solidFill>
              <a:srgbClr val="FFB300"/>
            </a:solidFill>
            <a:prstDash val="solid"/>
          </a:ln>
          <a:effectLst>
            <a:outerShdw sx="100000" sy="100000" kx="0" ky="0" algn="bl" rotWithShape="0" blurRad="50800" dist="12700" dir="8100000">
              <a:srgbClr val="000000">
                <a:alpha val="10000"/>
              </a:srgbClr>
            </a:outerShdw>
          </a:effectLst>
        </p:spPr>
      </p:sp>
      <p:sp>
        <p:nvSpPr>
          <p:cNvPr id="16" name="Shape 13"/>
          <p:cNvSpPr/>
          <p:nvPr/>
        </p:nvSpPr>
        <p:spPr>
          <a:xfrm>
            <a:off x="5961888" y="2386584"/>
            <a:ext cx="54864" cy="713232"/>
          </a:xfrm>
          <a:prstGeom prst="rect">
            <a:avLst/>
          </a:prstGeom>
          <a:solidFill>
            <a:srgbClr val="FFB300"/>
          </a:solidFill>
          <a:ln w="12700">
            <a:solidFill>
              <a:srgbClr val="FFB300"/>
            </a:solidFill>
            <a:prstDash val="solid"/>
          </a:ln>
        </p:spPr>
      </p:sp>
      <p:sp>
        <p:nvSpPr>
          <p:cNvPr id="17" name="Text 14"/>
          <p:cNvSpPr/>
          <p:nvPr/>
        </p:nvSpPr>
        <p:spPr>
          <a:xfrm>
            <a:off x="6108192" y="2423160"/>
            <a:ext cx="2651760" cy="256032"/>
          </a:xfrm>
          <a:prstGeom prst="rect">
            <a:avLst/>
          </a:prstGeom>
          <a:noFill/>
          <a:ln/>
        </p:spPr>
        <p:txBody>
          <a:bodyPr wrap="square" lIns="0" tIns="0" rIns="0" bIns="0" rtlCol="0" anchor="ctr"/>
          <a:lstStyle/>
          <a:p>
            <a:pPr algn="l" indent="0" marL="0">
              <a:buNone/>
            </a:pPr>
            <a:r>
              <a:rPr lang="en-US" sz="1050" b="1" dirty="0">
                <a:solidFill>
                  <a:srgbClr val="FFB300"/>
                </a:solidFill>
              </a:rPr>
              <a:t>Spectral Centroid</a:t>
            </a:r>
            <a:endParaRPr lang="en-US" sz="1050" dirty="0"/>
          </a:p>
        </p:txBody>
      </p:sp>
      <p:sp>
        <p:nvSpPr>
          <p:cNvPr id="18" name="Text 15"/>
          <p:cNvSpPr/>
          <p:nvPr/>
        </p:nvSpPr>
        <p:spPr>
          <a:xfrm>
            <a:off x="6108192" y="2697480"/>
            <a:ext cx="2651760" cy="384048"/>
          </a:xfrm>
          <a:prstGeom prst="rect">
            <a:avLst/>
          </a:prstGeom>
          <a:noFill/>
          <a:ln/>
        </p:spPr>
        <p:txBody>
          <a:bodyPr wrap="square" lIns="0" tIns="0" rIns="0" bIns="0" rtlCol="0" anchor="t"/>
          <a:lstStyle/>
          <a:p>
            <a:pPr algn="l" indent="0" marL="0">
              <a:buNone/>
            </a:pPr>
            <a:r>
              <a:rPr lang="en-US" sz="750" dirty="0">
                <a:solidFill>
                  <a:srgbClr val="3D5076"/>
                </a:solidFill>
              </a:rPr>
              <a:t>Where the 'center of mass' of frequency sits. High-pitched squeaks push centroid up. Normal tire/road noise stays low.</a:t>
            </a:r>
            <a:endParaRPr lang="en-US" sz="750" dirty="0"/>
          </a:p>
        </p:txBody>
      </p:sp>
      <p:sp>
        <p:nvSpPr>
          <p:cNvPr id="19" name="Shape 16"/>
          <p:cNvSpPr/>
          <p:nvPr/>
        </p:nvSpPr>
        <p:spPr>
          <a:xfrm>
            <a:off x="5961888" y="3191256"/>
            <a:ext cx="2880360" cy="713232"/>
          </a:xfrm>
          <a:prstGeom prst="rect">
            <a:avLst/>
          </a:prstGeom>
          <a:solidFill>
            <a:srgbClr val="FFFFFF"/>
          </a:solidFill>
          <a:ln w="19050">
            <a:solidFill>
              <a:srgbClr val="00A3B8"/>
            </a:solidFill>
            <a:prstDash val="solid"/>
          </a:ln>
          <a:effectLst>
            <a:outerShdw sx="100000" sy="100000" kx="0" ky="0" algn="bl" rotWithShape="0" blurRad="50800" dist="12700" dir="8100000">
              <a:srgbClr val="000000">
                <a:alpha val="10000"/>
              </a:srgbClr>
            </a:outerShdw>
          </a:effectLst>
        </p:spPr>
      </p:sp>
      <p:sp>
        <p:nvSpPr>
          <p:cNvPr id="20" name="Shape 17"/>
          <p:cNvSpPr/>
          <p:nvPr/>
        </p:nvSpPr>
        <p:spPr>
          <a:xfrm>
            <a:off x="5961888" y="3191256"/>
            <a:ext cx="54864" cy="713232"/>
          </a:xfrm>
          <a:prstGeom prst="rect">
            <a:avLst/>
          </a:prstGeom>
          <a:solidFill>
            <a:srgbClr val="00A3B8"/>
          </a:solidFill>
          <a:ln w="12700">
            <a:solidFill>
              <a:srgbClr val="00A3B8"/>
            </a:solidFill>
            <a:prstDash val="solid"/>
          </a:ln>
        </p:spPr>
      </p:sp>
      <p:sp>
        <p:nvSpPr>
          <p:cNvPr id="21" name="Text 18"/>
          <p:cNvSpPr/>
          <p:nvPr/>
        </p:nvSpPr>
        <p:spPr>
          <a:xfrm>
            <a:off x="6108192" y="3227832"/>
            <a:ext cx="2651760" cy="256032"/>
          </a:xfrm>
          <a:prstGeom prst="rect">
            <a:avLst/>
          </a:prstGeom>
          <a:noFill/>
          <a:ln/>
        </p:spPr>
        <p:txBody>
          <a:bodyPr wrap="square" lIns="0" tIns="0" rIns="0" bIns="0" rtlCol="0" anchor="ctr"/>
          <a:lstStyle/>
          <a:p>
            <a:pPr algn="l" indent="0" marL="0">
              <a:buNone/>
            </a:pPr>
            <a:r>
              <a:rPr lang="en-US" sz="1050" b="1" dirty="0">
                <a:solidFill>
                  <a:srgbClr val="00A3B8"/>
                </a:solidFill>
              </a:rPr>
              <a:t>ZCR</a:t>
            </a:r>
            <a:endParaRPr lang="en-US" sz="1050" dirty="0"/>
          </a:p>
        </p:txBody>
      </p:sp>
      <p:sp>
        <p:nvSpPr>
          <p:cNvPr id="22" name="Text 19"/>
          <p:cNvSpPr/>
          <p:nvPr/>
        </p:nvSpPr>
        <p:spPr>
          <a:xfrm>
            <a:off x="6108192" y="3502152"/>
            <a:ext cx="2651760" cy="384048"/>
          </a:xfrm>
          <a:prstGeom prst="rect">
            <a:avLst/>
          </a:prstGeom>
          <a:noFill/>
          <a:ln/>
        </p:spPr>
        <p:txBody>
          <a:bodyPr wrap="square" lIns="0" tIns="0" rIns="0" bIns="0" rtlCol="0" anchor="t"/>
          <a:lstStyle/>
          <a:p>
            <a:pPr algn="l" indent="0" marL="0">
              <a:buNone/>
            </a:pPr>
            <a:r>
              <a:rPr lang="en-US" sz="750" dirty="0">
                <a:solidFill>
                  <a:srgbClr val="3D5076"/>
                </a:solidFill>
              </a:rPr>
              <a:t>Zero Crossing Rate — how quickly the signal crosses zero. Friction and rattle noises cross zero far more rapidly than wind noise.</a:t>
            </a:r>
            <a:endParaRPr lang="en-US" sz="750" dirty="0"/>
          </a:p>
        </p:txBody>
      </p:sp>
      <p:sp>
        <p:nvSpPr>
          <p:cNvPr id="23" name="Shape 20"/>
          <p:cNvSpPr/>
          <p:nvPr/>
        </p:nvSpPr>
        <p:spPr>
          <a:xfrm>
            <a:off x="5961888" y="3995928"/>
            <a:ext cx="2880360" cy="713232"/>
          </a:xfrm>
          <a:prstGeom prst="rect">
            <a:avLst/>
          </a:prstGeom>
          <a:solidFill>
            <a:srgbClr val="FFFFFF"/>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24" name="Shape 21"/>
          <p:cNvSpPr/>
          <p:nvPr/>
        </p:nvSpPr>
        <p:spPr>
          <a:xfrm>
            <a:off x="5961888" y="3995928"/>
            <a:ext cx="54864" cy="713232"/>
          </a:xfrm>
          <a:prstGeom prst="rect">
            <a:avLst/>
          </a:prstGeom>
          <a:solidFill>
            <a:srgbClr val="00C853"/>
          </a:solidFill>
          <a:ln w="12700">
            <a:solidFill>
              <a:srgbClr val="00C853"/>
            </a:solidFill>
            <a:prstDash val="solid"/>
          </a:ln>
        </p:spPr>
      </p:sp>
      <p:sp>
        <p:nvSpPr>
          <p:cNvPr id="25" name="Text 22"/>
          <p:cNvSpPr/>
          <p:nvPr/>
        </p:nvSpPr>
        <p:spPr>
          <a:xfrm>
            <a:off x="6108192" y="4032504"/>
            <a:ext cx="2651760" cy="256032"/>
          </a:xfrm>
          <a:prstGeom prst="rect">
            <a:avLst/>
          </a:prstGeom>
          <a:noFill/>
          <a:ln/>
        </p:spPr>
        <p:txBody>
          <a:bodyPr wrap="square" lIns="0" tIns="0" rIns="0" bIns="0" rtlCol="0" anchor="ctr"/>
          <a:lstStyle/>
          <a:p>
            <a:pPr algn="l" indent="0" marL="0">
              <a:buNone/>
            </a:pPr>
            <a:r>
              <a:rPr lang="en-US" sz="1050" b="1" dirty="0">
                <a:solidFill>
                  <a:srgbClr val="00C853"/>
                </a:solidFill>
              </a:rPr>
              <a:t>Band Energy</a:t>
            </a:r>
            <a:endParaRPr lang="en-US" sz="1050" dirty="0"/>
          </a:p>
        </p:txBody>
      </p:sp>
      <p:sp>
        <p:nvSpPr>
          <p:cNvPr id="26" name="Text 23"/>
          <p:cNvSpPr/>
          <p:nvPr/>
        </p:nvSpPr>
        <p:spPr>
          <a:xfrm>
            <a:off x="6108192" y="4306824"/>
            <a:ext cx="2651760" cy="384048"/>
          </a:xfrm>
          <a:prstGeom prst="rect">
            <a:avLst/>
          </a:prstGeom>
          <a:noFill/>
          <a:ln/>
        </p:spPr>
        <p:txBody>
          <a:bodyPr wrap="square" lIns="0" tIns="0" rIns="0" bIns="0" rtlCol="0" anchor="t"/>
          <a:lstStyle/>
          <a:p>
            <a:pPr algn="l" indent="0" marL="0">
              <a:buNone/>
            </a:pPr>
            <a:r>
              <a:rPr lang="en-US" sz="750" dirty="0">
                <a:solidFill>
                  <a:srgbClr val="3D5076"/>
                </a:solidFill>
              </a:rPr>
              <a:t>Energy in 5 frequency bands. Part noises concentrate energy in specific bands (e.g., 500–2kHz for metallic rattles).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43656"/>
          </a:solidFill>
          <a:ln w="12700">
            <a:solidFill>
              <a:srgbClr val="243656"/>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AUDIO ANALYSIS</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800" b="1" dirty="0">
                <a:solidFill>
                  <a:srgbClr val="FFFFFF"/>
                </a:solidFill>
              </a:rPr>
              <a:t>Waveforms &amp; Spectrograms — Visual Audio Fingerprints</a:t>
            </a:r>
            <a:endParaRPr lang="en-US" sz="1800" dirty="0"/>
          </a:p>
        </p:txBody>
      </p:sp>
      <p:pic>
        <p:nvPicPr>
          <p:cNvPr id="6" name="Image 0" descr="preencoded.png">    </p:cNvPr>
          <p:cNvPicPr>
            <a:picLocks noChangeAspect="1"/>
          </p:cNvPicPr>
          <p:nvPr/>
        </p:nvPicPr>
        <p:blipFill>
          <a:blip r:embed="rId1"/>
          <a:stretch>
            <a:fillRect/>
          </a:stretch>
        </p:blipFill>
        <p:spPr>
          <a:xfrm>
            <a:off x="228600" y="749808"/>
            <a:ext cx="4389120" cy="2331720"/>
          </a:xfrm>
          <a:prstGeom prst="rect">
            <a:avLst/>
          </a:prstGeom>
        </p:spPr>
      </p:pic>
      <p:sp>
        <p:nvSpPr>
          <p:cNvPr id="7" name="Text 4"/>
          <p:cNvSpPr/>
          <p:nvPr/>
        </p:nvSpPr>
        <p:spPr>
          <a:xfrm>
            <a:off x="228600" y="3127248"/>
            <a:ext cx="4389120" cy="274320"/>
          </a:xfrm>
          <a:prstGeom prst="rect">
            <a:avLst/>
          </a:prstGeom>
          <a:noFill/>
          <a:ln/>
        </p:spPr>
        <p:txBody>
          <a:bodyPr wrap="square" lIns="0" tIns="0" rIns="0" bIns="0" rtlCol="0" anchor="ctr"/>
          <a:lstStyle/>
          <a:p>
            <a:pPr algn="ctr" indent="0" marL="0">
              <a:buNone/>
            </a:pPr>
            <a:r>
              <a:rPr lang="en-US" sz="900" dirty="0">
                <a:solidFill>
                  <a:srgbClr val="8A9BB5"/>
                </a:solidFill>
              </a:rPr>
              <a:t>Waveform Amplitude vs Time</a:t>
            </a:r>
            <a:endParaRPr lang="en-US" sz="900" dirty="0"/>
          </a:p>
        </p:txBody>
      </p:sp>
      <p:pic>
        <p:nvPicPr>
          <p:cNvPr id="8" name="Image 1" descr="preencoded.png">    </p:cNvPr>
          <p:cNvPicPr>
            <a:picLocks noChangeAspect="1"/>
          </p:cNvPicPr>
          <p:nvPr/>
        </p:nvPicPr>
        <p:blipFill>
          <a:blip r:embed="rId2"/>
          <a:stretch>
            <a:fillRect/>
          </a:stretch>
        </p:blipFill>
        <p:spPr>
          <a:xfrm>
            <a:off x="4754880" y="749808"/>
            <a:ext cx="4160520" cy="2331720"/>
          </a:xfrm>
          <a:prstGeom prst="rect">
            <a:avLst/>
          </a:prstGeom>
        </p:spPr>
      </p:pic>
      <p:sp>
        <p:nvSpPr>
          <p:cNvPr id="9" name="Text 5"/>
          <p:cNvSpPr/>
          <p:nvPr/>
        </p:nvSpPr>
        <p:spPr>
          <a:xfrm>
            <a:off x="4754880" y="3127248"/>
            <a:ext cx="4160520" cy="274320"/>
          </a:xfrm>
          <a:prstGeom prst="rect">
            <a:avLst/>
          </a:prstGeom>
          <a:noFill/>
          <a:ln/>
        </p:spPr>
        <p:txBody>
          <a:bodyPr wrap="square" lIns="0" tIns="0" rIns="0" bIns="0" rtlCol="0" anchor="ctr"/>
          <a:lstStyle/>
          <a:p>
            <a:pPr algn="ctr" indent="0" marL="0">
              <a:buNone/>
            </a:pPr>
            <a:r>
              <a:rPr lang="en-US" sz="900" dirty="0">
                <a:solidFill>
                  <a:srgbClr val="8A9BB5"/>
                </a:solidFill>
              </a:rPr>
              <a:t>Spectrogram — Frequency Energy Over Time</a:t>
            </a:r>
            <a:endParaRPr lang="en-US" sz="900" dirty="0"/>
          </a:p>
        </p:txBody>
      </p:sp>
      <p:sp>
        <p:nvSpPr>
          <p:cNvPr id="10" name="Text 6"/>
          <p:cNvSpPr/>
          <p:nvPr/>
        </p:nvSpPr>
        <p:spPr>
          <a:xfrm>
            <a:off x="365760" y="3566160"/>
            <a:ext cx="2011680" cy="347472"/>
          </a:xfrm>
          <a:prstGeom prst="rect">
            <a:avLst/>
          </a:prstGeom>
          <a:noFill/>
          <a:ln/>
        </p:spPr>
        <p:txBody>
          <a:bodyPr wrap="square" lIns="0" tIns="0" rIns="0" bIns="0" rtlCol="0" anchor="ctr"/>
          <a:lstStyle/>
          <a:p>
            <a:pPr algn="l" indent="0" marL="0">
              <a:buNone/>
            </a:pPr>
            <a:r>
              <a:rPr lang="en-US" sz="1000" b="1" dirty="0">
                <a:solidFill>
                  <a:srgbClr val="FFFFFF"/>
                </a:solidFill>
              </a:rPr>
              <a:t>🟢  OK vehicles:</a:t>
            </a:r>
            <a:endParaRPr lang="en-US" sz="1000" dirty="0"/>
          </a:p>
        </p:txBody>
      </p:sp>
      <p:sp>
        <p:nvSpPr>
          <p:cNvPr id="11" name="Text 7"/>
          <p:cNvSpPr/>
          <p:nvPr/>
        </p:nvSpPr>
        <p:spPr>
          <a:xfrm>
            <a:off x="2468880" y="3566160"/>
            <a:ext cx="6400800" cy="347472"/>
          </a:xfrm>
          <a:prstGeom prst="rect">
            <a:avLst/>
          </a:prstGeom>
          <a:noFill/>
          <a:ln/>
        </p:spPr>
        <p:txBody>
          <a:bodyPr wrap="square" lIns="0" tIns="0" rIns="0" bIns="0" rtlCol="0" anchor="ctr"/>
          <a:lstStyle/>
          <a:p>
            <a:pPr algn="l" indent="0" marL="0">
              <a:buNone/>
            </a:pPr>
            <a:r>
              <a:rPr lang="en-US" sz="950" dirty="0">
                <a:solidFill>
                  <a:srgbClr val="8A9BB5"/>
                </a:solidFill>
              </a:rPr>
              <a:t>Smooth continuous patterns, low-energy rattles — mainly road/wind noise</a:t>
            </a:r>
            <a:endParaRPr lang="en-US" sz="950" dirty="0"/>
          </a:p>
        </p:txBody>
      </p:sp>
      <p:sp>
        <p:nvSpPr>
          <p:cNvPr id="12" name="Text 8"/>
          <p:cNvSpPr/>
          <p:nvPr/>
        </p:nvSpPr>
        <p:spPr>
          <a:xfrm>
            <a:off x="365760" y="3959352"/>
            <a:ext cx="2011680" cy="347472"/>
          </a:xfrm>
          <a:prstGeom prst="rect">
            <a:avLst/>
          </a:prstGeom>
          <a:noFill/>
          <a:ln/>
        </p:spPr>
        <p:txBody>
          <a:bodyPr wrap="square" lIns="0" tIns="0" rIns="0" bIns="0" rtlCol="0" anchor="ctr"/>
          <a:lstStyle/>
          <a:p>
            <a:pPr algn="l" indent="0" marL="0">
              <a:buNone/>
            </a:pPr>
            <a:r>
              <a:rPr lang="en-US" sz="1000" b="1" dirty="0">
                <a:solidFill>
                  <a:srgbClr val="FFFFFF"/>
                </a:solidFill>
              </a:rPr>
              <a:t>🔴  NOT OK vehicles:</a:t>
            </a:r>
            <a:endParaRPr lang="en-US" sz="1000" dirty="0"/>
          </a:p>
        </p:txBody>
      </p:sp>
      <p:sp>
        <p:nvSpPr>
          <p:cNvPr id="13" name="Text 9"/>
          <p:cNvSpPr/>
          <p:nvPr/>
        </p:nvSpPr>
        <p:spPr>
          <a:xfrm>
            <a:off x="2468880" y="3959352"/>
            <a:ext cx="6400800" cy="347472"/>
          </a:xfrm>
          <a:prstGeom prst="rect">
            <a:avLst/>
          </a:prstGeom>
          <a:noFill/>
          <a:ln/>
        </p:spPr>
        <p:txBody>
          <a:bodyPr wrap="square" lIns="0" tIns="0" rIns="0" bIns="0" rtlCol="0" anchor="ctr"/>
          <a:lstStyle/>
          <a:p>
            <a:pPr algn="l" indent="0" marL="0">
              <a:buNone/>
            </a:pPr>
            <a:r>
              <a:rPr lang="en-US" sz="950" dirty="0">
                <a:solidFill>
                  <a:srgbClr val="8A9BB5"/>
                </a:solidFill>
              </a:rPr>
              <a:t>Distinct energy spikes at specific frequencies, irregular patterns, impulsive events</a:t>
            </a:r>
            <a:endParaRPr lang="en-US" sz="950" dirty="0"/>
          </a:p>
        </p:txBody>
      </p:sp>
      <p:sp>
        <p:nvSpPr>
          <p:cNvPr id="14" name="Text 10"/>
          <p:cNvSpPr/>
          <p:nvPr/>
        </p:nvSpPr>
        <p:spPr>
          <a:xfrm>
            <a:off x="365760" y="4352544"/>
            <a:ext cx="2011680" cy="347472"/>
          </a:xfrm>
          <a:prstGeom prst="rect">
            <a:avLst/>
          </a:prstGeom>
          <a:noFill/>
          <a:ln/>
        </p:spPr>
        <p:txBody>
          <a:bodyPr wrap="square" lIns="0" tIns="0" rIns="0" bIns="0" rtlCol="0" anchor="ctr"/>
          <a:lstStyle/>
          <a:p>
            <a:pPr algn="l" indent="0" marL="0">
              <a:buNone/>
            </a:pPr>
            <a:r>
              <a:rPr lang="en-US" sz="1000" b="1" dirty="0">
                <a:solidFill>
                  <a:srgbClr val="FFFFFF"/>
                </a:solidFill>
              </a:rPr>
              <a:t>🔵  Blue spectrograms:</a:t>
            </a:r>
            <a:endParaRPr lang="en-US" sz="1000" dirty="0"/>
          </a:p>
        </p:txBody>
      </p:sp>
      <p:sp>
        <p:nvSpPr>
          <p:cNvPr id="15" name="Text 11"/>
          <p:cNvSpPr/>
          <p:nvPr/>
        </p:nvSpPr>
        <p:spPr>
          <a:xfrm>
            <a:off x="2468880" y="4352544"/>
            <a:ext cx="6400800" cy="347472"/>
          </a:xfrm>
          <a:prstGeom prst="rect">
            <a:avLst/>
          </a:prstGeom>
          <a:noFill/>
          <a:ln/>
        </p:spPr>
        <p:txBody>
          <a:bodyPr wrap="square" lIns="0" tIns="0" rIns="0" bIns="0" rtlCol="0" anchor="ctr"/>
          <a:lstStyle/>
          <a:p>
            <a:pPr algn="l" indent="0" marL="0">
              <a:buNone/>
            </a:pPr>
            <a:r>
              <a:rPr lang="en-US" sz="950" dirty="0">
                <a:solidFill>
                  <a:srgbClr val="8A9BB5"/>
                </a:solidFill>
              </a:rPr>
              <a:t>OK files — lower concentrated energy across narrow bands</a:t>
            </a:r>
            <a:endParaRPr lang="en-US" sz="950" dirty="0"/>
          </a:p>
        </p:txBody>
      </p:sp>
      <p:sp>
        <p:nvSpPr>
          <p:cNvPr id="16" name="Text 12"/>
          <p:cNvSpPr/>
          <p:nvPr/>
        </p:nvSpPr>
        <p:spPr>
          <a:xfrm>
            <a:off x="365760" y="4745736"/>
            <a:ext cx="2011680" cy="347472"/>
          </a:xfrm>
          <a:prstGeom prst="rect">
            <a:avLst/>
          </a:prstGeom>
          <a:noFill/>
          <a:ln/>
        </p:spPr>
        <p:txBody>
          <a:bodyPr wrap="square" lIns="0" tIns="0" rIns="0" bIns="0" rtlCol="0" anchor="ctr"/>
          <a:lstStyle/>
          <a:p>
            <a:pPr algn="l" indent="0" marL="0">
              <a:buNone/>
            </a:pPr>
            <a:r>
              <a:rPr lang="en-US" sz="1000" b="1" dirty="0">
                <a:solidFill>
                  <a:srgbClr val="FFFFFF"/>
                </a:solidFill>
              </a:rPr>
              <a:t>🔴  Red spectrograms:</a:t>
            </a:r>
            <a:endParaRPr lang="en-US" sz="1000" dirty="0"/>
          </a:p>
        </p:txBody>
      </p:sp>
      <p:sp>
        <p:nvSpPr>
          <p:cNvPr id="17" name="Text 13"/>
          <p:cNvSpPr/>
          <p:nvPr/>
        </p:nvSpPr>
        <p:spPr>
          <a:xfrm>
            <a:off x="2468880" y="4745736"/>
            <a:ext cx="6400800" cy="347472"/>
          </a:xfrm>
          <a:prstGeom prst="rect">
            <a:avLst/>
          </a:prstGeom>
          <a:noFill/>
          <a:ln/>
        </p:spPr>
        <p:txBody>
          <a:bodyPr wrap="square" lIns="0" tIns="0" rIns="0" bIns="0" rtlCol="0" anchor="ctr"/>
          <a:lstStyle/>
          <a:p>
            <a:pPr algn="l" indent="0" marL="0">
              <a:buNone/>
            </a:pPr>
            <a:r>
              <a:rPr lang="en-US" sz="950" dirty="0">
                <a:solidFill>
                  <a:srgbClr val="8A9BB5"/>
                </a:solidFill>
              </a:rPr>
              <a:t>NOT OK files — bright spots show abnormal energy at specific moments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TRAINING RESULTS</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Model Training &amp; Validation Results</a:t>
            </a:r>
            <a:endParaRPr lang="en-US" sz="1900" dirty="0"/>
          </a:p>
        </p:txBody>
      </p:sp>
      <p:pic>
        <p:nvPicPr>
          <p:cNvPr id="6" name="Image 0" descr="preencoded.png">    </p:cNvPr>
          <p:cNvPicPr>
            <a:picLocks noChangeAspect="1"/>
          </p:cNvPicPr>
          <p:nvPr/>
        </p:nvPicPr>
        <p:blipFill>
          <a:blip r:embed="rId1"/>
          <a:stretch>
            <a:fillRect/>
          </a:stretch>
        </p:blipFill>
        <p:spPr>
          <a:xfrm>
            <a:off x="274320" y="749808"/>
            <a:ext cx="5577840" cy="4224528"/>
          </a:xfrm>
          <a:prstGeom prst="rect">
            <a:avLst/>
          </a:prstGeom>
        </p:spPr>
      </p:pic>
      <p:sp>
        <p:nvSpPr>
          <p:cNvPr id="7" name="Shape 4"/>
          <p:cNvSpPr/>
          <p:nvPr/>
        </p:nvSpPr>
        <p:spPr>
          <a:xfrm>
            <a:off x="6035040" y="777240"/>
            <a:ext cx="1417320" cy="1261872"/>
          </a:xfrm>
          <a:prstGeom prst="rect">
            <a:avLst/>
          </a:prstGeom>
          <a:solidFill>
            <a:srgbClr val="1B2A4A"/>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8" name="Text 5"/>
          <p:cNvSpPr/>
          <p:nvPr/>
        </p:nvSpPr>
        <p:spPr>
          <a:xfrm>
            <a:off x="6035040" y="868680"/>
            <a:ext cx="1417320" cy="530352"/>
          </a:xfrm>
          <a:prstGeom prst="rect">
            <a:avLst/>
          </a:prstGeom>
          <a:noFill/>
          <a:ln/>
        </p:spPr>
        <p:txBody>
          <a:bodyPr wrap="square" lIns="0" tIns="0" rIns="0" bIns="0" rtlCol="0" anchor="ctr"/>
          <a:lstStyle/>
          <a:p>
            <a:pPr algn="ctr" indent="0" marL="0">
              <a:buNone/>
            </a:pPr>
            <a:r>
              <a:rPr lang="en-US" sz="2800" b="1" dirty="0">
                <a:solidFill>
                  <a:srgbClr val="00C853"/>
                </a:solidFill>
              </a:rPr>
              <a:t>100%</a:t>
            </a:r>
            <a:endParaRPr lang="en-US" sz="2800" dirty="0"/>
          </a:p>
        </p:txBody>
      </p:sp>
      <p:sp>
        <p:nvSpPr>
          <p:cNvPr id="9" name="Text 6"/>
          <p:cNvSpPr/>
          <p:nvPr/>
        </p:nvSpPr>
        <p:spPr>
          <a:xfrm>
            <a:off x="6035040" y="1417320"/>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Recall</a:t>
            </a:r>
            <a:endParaRPr lang="en-US" sz="1050" dirty="0"/>
          </a:p>
        </p:txBody>
      </p:sp>
      <p:sp>
        <p:nvSpPr>
          <p:cNvPr id="10" name="Text 7"/>
          <p:cNvSpPr/>
          <p:nvPr/>
        </p:nvSpPr>
        <p:spPr>
          <a:xfrm>
            <a:off x="6035040" y="1746504"/>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All defects caught</a:t>
            </a:r>
            <a:endParaRPr lang="en-US" sz="750" dirty="0"/>
          </a:p>
        </p:txBody>
      </p:sp>
      <p:sp>
        <p:nvSpPr>
          <p:cNvPr id="11" name="Shape 8"/>
          <p:cNvSpPr/>
          <p:nvPr/>
        </p:nvSpPr>
        <p:spPr>
          <a:xfrm>
            <a:off x="7589520" y="777240"/>
            <a:ext cx="1417320" cy="1261872"/>
          </a:xfrm>
          <a:prstGeom prst="rect">
            <a:avLst/>
          </a:prstGeom>
          <a:solidFill>
            <a:srgbClr val="1B2A4A"/>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12" name="Text 9"/>
          <p:cNvSpPr/>
          <p:nvPr/>
        </p:nvSpPr>
        <p:spPr>
          <a:xfrm>
            <a:off x="7589520" y="868680"/>
            <a:ext cx="1417320" cy="530352"/>
          </a:xfrm>
          <a:prstGeom prst="rect">
            <a:avLst/>
          </a:prstGeom>
          <a:noFill/>
          <a:ln/>
        </p:spPr>
        <p:txBody>
          <a:bodyPr wrap="square" lIns="0" tIns="0" rIns="0" bIns="0" rtlCol="0" anchor="ctr"/>
          <a:lstStyle/>
          <a:p>
            <a:pPr algn="ctr" indent="0" marL="0">
              <a:buNone/>
            </a:pPr>
            <a:r>
              <a:rPr lang="en-US" sz="2800" b="1" dirty="0">
                <a:solidFill>
                  <a:srgbClr val="00C853"/>
                </a:solidFill>
              </a:rPr>
              <a:t>100%</a:t>
            </a:r>
            <a:endParaRPr lang="en-US" sz="2800" dirty="0"/>
          </a:p>
        </p:txBody>
      </p:sp>
      <p:sp>
        <p:nvSpPr>
          <p:cNvPr id="13" name="Text 10"/>
          <p:cNvSpPr/>
          <p:nvPr/>
        </p:nvSpPr>
        <p:spPr>
          <a:xfrm>
            <a:off x="7589520" y="1417320"/>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Precision</a:t>
            </a:r>
            <a:endParaRPr lang="en-US" sz="1050" dirty="0"/>
          </a:p>
        </p:txBody>
      </p:sp>
      <p:sp>
        <p:nvSpPr>
          <p:cNvPr id="14" name="Text 11"/>
          <p:cNvSpPr/>
          <p:nvPr/>
        </p:nvSpPr>
        <p:spPr>
          <a:xfrm>
            <a:off x="7589520" y="1746504"/>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No false alarms</a:t>
            </a:r>
            <a:endParaRPr lang="en-US" sz="750" dirty="0"/>
          </a:p>
        </p:txBody>
      </p:sp>
      <p:sp>
        <p:nvSpPr>
          <p:cNvPr id="15" name="Shape 12"/>
          <p:cNvSpPr/>
          <p:nvPr/>
        </p:nvSpPr>
        <p:spPr>
          <a:xfrm>
            <a:off x="6035040" y="2203704"/>
            <a:ext cx="1417320" cy="1261872"/>
          </a:xfrm>
          <a:prstGeom prst="rect">
            <a:avLst/>
          </a:prstGeom>
          <a:solidFill>
            <a:srgbClr val="1B2A4A"/>
          </a:solidFill>
          <a:ln w="19050">
            <a:solidFill>
              <a:srgbClr val="00B8D4"/>
            </a:solidFill>
            <a:prstDash val="solid"/>
          </a:ln>
          <a:effectLst>
            <a:outerShdw sx="100000" sy="100000" kx="0" ky="0" algn="bl" rotWithShape="0" blurRad="50800" dist="12700" dir="8100000">
              <a:srgbClr val="000000">
                <a:alpha val="10000"/>
              </a:srgbClr>
            </a:outerShdw>
          </a:effectLst>
        </p:spPr>
      </p:sp>
      <p:sp>
        <p:nvSpPr>
          <p:cNvPr id="16" name="Text 13"/>
          <p:cNvSpPr/>
          <p:nvPr/>
        </p:nvSpPr>
        <p:spPr>
          <a:xfrm>
            <a:off x="6035040" y="2295144"/>
            <a:ext cx="1417320" cy="530352"/>
          </a:xfrm>
          <a:prstGeom prst="rect">
            <a:avLst/>
          </a:prstGeom>
          <a:noFill/>
          <a:ln/>
        </p:spPr>
        <p:txBody>
          <a:bodyPr wrap="square" lIns="0" tIns="0" rIns="0" bIns="0" rtlCol="0" anchor="ctr"/>
          <a:lstStyle/>
          <a:p>
            <a:pPr algn="ctr" indent="0" marL="0">
              <a:buNone/>
            </a:pPr>
            <a:r>
              <a:rPr lang="en-US" sz="2800" b="1" dirty="0">
                <a:solidFill>
                  <a:srgbClr val="00B8D4"/>
                </a:solidFill>
              </a:rPr>
              <a:t>100%</a:t>
            </a:r>
            <a:endParaRPr lang="en-US" sz="2800" dirty="0"/>
          </a:p>
        </p:txBody>
      </p:sp>
      <p:sp>
        <p:nvSpPr>
          <p:cNvPr id="17" name="Text 14"/>
          <p:cNvSpPr/>
          <p:nvPr/>
        </p:nvSpPr>
        <p:spPr>
          <a:xfrm>
            <a:off x="6035040" y="2843784"/>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F1 Score</a:t>
            </a:r>
            <a:endParaRPr lang="en-US" sz="1050" dirty="0"/>
          </a:p>
        </p:txBody>
      </p:sp>
      <p:sp>
        <p:nvSpPr>
          <p:cNvPr id="18" name="Text 15"/>
          <p:cNvSpPr/>
          <p:nvPr/>
        </p:nvSpPr>
        <p:spPr>
          <a:xfrm>
            <a:off x="6035040" y="3172968"/>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Perfect balance</a:t>
            </a:r>
            <a:endParaRPr lang="en-US" sz="750" dirty="0"/>
          </a:p>
        </p:txBody>
      </p:sp>
      <p:sp>
        <p:nvSpPr>
          <p:cNvPr id="19" name="Shape 16"/>
          <p:cNvSpPr/>
          <p:nvPr/>
        </p:nvSpPr>
        <p:spPr>
          <a:xfrm>
            <a:off x="7589520" y="2203704"/>
            <a:ext cx="1417320" cy="1261872"/>
          </a:xfrm>
          <a:prstGeom prst="rect">
            <a:avLst/>
          </a:prstGeom>
          <a:solidFill>
            <a:srgbClr val="1B2A4A"/>
          </a:solidFill>
          <a:ln w="19050">
            <a:solidFill>
              <a:srgbClr val="00B8D4"/>
            </a:solidFill>
            <a:prstDash val="solid"/>
          </a:ln>
          <a:effectLst>
            <a:outerShdw sx="100000" sy="100000" kx="0" ky="0" algn="bl" rotWithShape="0" blurRad="50800" dist="12700" dir="8100000">
              <a:srgbClr val="000000">
                <a:alpha val="10000"/>
              </a:srgbClr>
            </a:outerShdw>
          </a:effectLst>
        </p:spPr>
      </p:sp>
      <p:sp>
        <p:nvSpPr>
          <p:cNvPr id="20" name="Text 17"/>
          <p:cNvSpPr/>
          <p:nvPr/>
        </p:nvSpPr>
        <p:spPr>
          <a:xfrm>
            <a:off x="7589520" y="2295144"/>
            <a:ext cx="1417320" cy="530352"/>
          </a:xfrm>
          <a:prstGeom prst="rect">
            <a:avLst/>
          </a:prstGeom>
          <a:noFill/>
          <a:ln/>
        </p:spPr>
        <p:txBody>
          <a:bodyPr wrap="square" lIns="0" tIns="0" rIns="0" bIns="0" rtlCol="0" anchor="ctr"/>
          <a:lstStyle/>
          <a:p>
            <a:pPr algn="ctr" indent="0" marL="0">
              <a:buNone/>
            </a:pPr>
            <a:r>
              <a:rPr lang="en-US" sz="2800" b="1" dirty="0">
                <a:solidFill>
                  <a:srgbClr val="00B8D4"/>
                </a:solidFill>
              </a:rPr>
              <a:t>1.000</a:t>
            </a:r>
            <a:endParaRPr lang="en-US" sz="2800" dirty="0"/>
          </a:p>
        </p:txBody>
      </p:sp>
      <p:sp>
        <p:nvSpPr>
          <p:cNvPr id="21" name="Text 18"/>
          <p:cNvSpPr/>
          <p:nvPr/>
        </p:nvSpPr>
        <p:spPr>
          <a:xfrm>
            <a:off x="7589520" y="2843784"/>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AUC</a:t>
            </a:r>
            <a:endParaRPr lang="en-US" sz="1050" dirty="0"/>
          </a:p>
        </p:txBody>
      </p:sp>
      <p:sp>
        <p:nvSpPr>
          <p:cNvPr id="22" name="Text 19"/>
          <p:cNvSpPr/>
          <p:nvPr/>
        </p:nvSpPr>
        <p:spPr>
          <a:xfrm>
            <a:off x="7589520" y="3172968"/>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Perfect separation</a:t>
            </a:r>
            <a:endParaRPr lang="en-US" sz="750" dirty="0"/>
          </a:p>
        </p:txBody>
      </p:sp>
      <p:sp>
        <p:nvSpPr>
          <p:cNvPr id="23" name="Shape 20"/>
          <p:cNvSpPr/>
          <p:nvPr/>
        </p:nvSpPr>
        <p:spPr>
          <a:xfrm>
            <a:off x="6035040" y="3630168"/>
            <a:ext cx="1417320" cy="1261872"/>
          </a:xfrm>
          <a:prstGeom prst="rect">
            <a:avLst/>
          </a:prstGeom>
          <a:solidFill>
            <a:srgbClr val="1B2A4A"/>
          </a:solidFill>
          <a:ln w="19050">
            <a:solidFill>
              <a:srgbClr val="FF3D3D"/>
            </a:solidFill>
            <a:prstDash val="solid"/>
          </a:ln>
          <a:effectLst>
            <a:outerShdw sx="100000" sy="100000" kx="0" ky="0" algn="bl" rotWithShape="0" blurRad="50800" dist="12700" dir="8100000">
              <a:srgbClr val="000000">
                <a:alpha val="10000"/>
              </a:srgbClr>
            </a:outerShdw>
          </a:effectLst>
        </p:spPr>
      </p:sp>
      <p:sp>
        <p:nvSpPr>
          <p:cNvPr id="24" name="Text 21"/>
          <p:cNvSpPr/>
          <p:nvPr/>
        </p:nvSpPr>
        <p:spPr>
          <a:xfrm>
            <a:off x="6035040" y="3721608"/>
            <a:ext cx="1417320" cy="530352"/>
          </a:xfrm>
          <a:prstGeom prst="rect">
            <a:avLst/>
          </a:prstGeom>
          <a:noFill/>
          <a:ln/>
        </p:spPr>
        <p:txBody>
          <a:bodyPr wrap="square" lIns="0" tIns="0" rIns="0" bIns="0" rtlCol="0" anchor="ctr"/>
          <a:lstStyle/>
          <a:p>
            <a:pPr algn="ctr" indent="0" marL="0">
              <a:buNone/>
            </a:pPr>
            <a:r>
              <a:rPr lang="en-US" sz="2800" b="1" dirty="0">
                <a:solidFill>
                  <a:srgbClr val="FF3D3D"/>
                </a:solidFill>
              </a:rPr>
              <a:t>7/7</a:t>
            </a:r>
            <a:endParaRPr lang="en-US" sz="2800" dirty="0"/>
          </a:p>
        </p:txBody>
      </p:sp>
      <p:sp>
        <p:nvSpPr>
          <p:cNvPr id="25" name="Text 22"/>
          <p:cNvSpPr/>
          <p:nvPr/>
        </p:nvSpPr>
        <p:spPr>
          <a:xfrm>
            <a:off x="6035040" y="4270248"/>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NOT OK Found</a:t>
            </a:r>
            <a:endParaRPr lang="en-US" sz="1050" dirty="0"/>
          </a:p>
        </p:txBody>
      </p:sp>
      <p:sp>
        <p:nvSpPr>
          <p:cNvPr id="26" name="Text 23"/>
          <p:cNvSpPr/>
          <p:nvPr/>
        </p:nvSpPr>
        <p:spPr>
          <a:xfrm>
            <a:off x="6035040" y="4599432"/>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All defects caught</a:t>
            </a:r>
            <a:endParaRPr lang="en-US" sz="750" dirty="0"/>
          </a:p>
        </p:txBody>
      </p:sp>
      <p:sp>
        <p:nvSpPr>
          <p:cNvPr id="27" name="Shape 24"/>
          <p:cNvSpPr/>
          <p:nvPr/>
        </p:nvSpPr>
        <p:spPr>
          <a:xfrm>
            <a:off x="7589520" y="3630168"/>
            <a:ext cx="1417320" cy="1261872"/>
          </a:xfrm>
          <a:prstGeom prst="rect">
            <a:avLst/>
          </a:prstGeom>
          <a:solidFill>
            <a:srgbClr val="1B2A4A"/>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28" name="Text 25"/>
          <p:cNvSpPr/>
          <p:nvPr/>
        </p:nvSpPr>
        <p:spPr>
          <a:xfrm>
            <a:off x="7589520" y="3721608"/>
            <a:ext cx="1417320" cy="530352"/>
          </a:xfrm>
          <a:prstGeom prst="rect">
            <a:avLst/>
          </a:prstGeom>
          <a:noFill/>
          <a:ln/>
        </p:spPr>
        <p:txBody>
          <a:bodyPr wrap="square" lIns="0" tIns="0" rIns="0" bIns="0" rtlCol="0" anchor="ctr"/>
          <a:lstStyle/>
          <a:p>
            <a:pPr algn="ctr" indent="0" marL="0">
              <a:buNone/>
            </a:pPr>
            <a:r>
              <a:rPr lang="en-US" sz="2800" b="1" dirty="0">
                <a:solidFill>
                  <a:srgbClr val="00C853"/>
                </a:solidFill>
              </a:rPr>
              <a:t>13/13</a:t>
            </a:r>
            <a:endParaRPr lang="en-US" sz="2800" dirty="0"/>
          </a:p>
        </p:txBody>
      </p:sp>
      <p:sp>
        <p:nvSpPr>
          <p:cNvPr id="29" name="Text 26"/>
          <p:cNvSpPr/>
          <p:nvPr/>
        </p:nvSpPr>
        <p:spPr>
          <a:xfrm>
            <a:off x="7589520" y="4270248"/>
            <a:ext cx="1417320" cy="329184"/>
          </a:xfrm>
          <a:prstGeom prst="rect">
            <a:avLst/>
          </a:prstGeom>
          <a:noFill/>
          <a:ln/>
        </p:spPr>
        <p:txBody>
          <a:bodyPr wrap="square" lIns="0" tIns="0" rIns="0" bIns="0" rtlCol="0" anchor="ctr"/>
          <a:lstStyle/>
          <a:p>
            <a:pPr algn="ctr" indent="0" marL="0">
              <a:buNone/>
            </a:pPr>
            <a:r>
              <a:rPr lang="en-US" sz="1050" b="1" dirty="0">
                <a:solidFill>
                  <a:srgbClr val="FFFFFF"/>
                </a:solidFill>
              </a:rPr>
              <a:t>OK Passed</a:t>
            </a:r>
            <a:endParaRPr lang="en-US" sz="1050" dirty="0"/>
          </a:p>
        </p:txBody>
      </p:sp>
      <p:sp>
        <p:nvSpPr>
          <p:cNvPr id="30" name="Text 27"/>
          <p:cNvSpPr/>
          <p:nvPr/>
        </p:nvSpPr>
        <p:spPr>
          <a:xfrm>
            <a:off x="7589520" y="4599432"/>
            <a:ext cx="1417320" cy="274320"/>
          </a:xfrm>
          <a:prstGeom prst="rect">
            <a:avLst/>
          </a:prstGeom>
          <a:noFill/>
          <a:ln/>
        </p:spPr>
        <p:txBody>
          <a:bodyPr wrap="square" lIns="0" tIns="0" rIns="0" bIns="0" rtlCol="0" anchor="ctr"/>
          <a:lstStyle/>
          <a:p>
            <a:pPr algn="ctr" indent="0" marL="0">
              <a:buNone/>
            </a:pPr>
            <a:r>
              <a:rPr lang="en-US" sz="750" dirty="0">
                <a:solidFill>
                  <a:srgbClr val="8A9BB5"/>
                </a:solidFill>
              </a:rPr>
              <a:t>No wrong rejects</a:t>
            </a:r>
            <a:endParaRPr lang="en-US" sz="750" dirty="0"/>
          </a:p>
        </p:txBody>
      </p:sp>
      <p:sp>
        <p:nvSpPr>
          <p:cNvPr id="31" name="Text 28"/>
          <p:cNvSpPr/>
          <p:nvPr/>
        </p:nvSpPr>
        <p:spPr>
          <a:xfrm>
            <a:off x="5943600" y="4773168"/>
            <a:ext cx="2926080" cy="274320"/>
          </a:xfrm>
          <a:prstGeom prst="rect">
            <a:avLst/>
          </a:prstGeom>
          <a:noFill/>
          <a:ln/>
        </p:spPr>
        <p:txBody>
          <a:bodyPr wrap="square" lIns="0" tIns="0" rIns="0" bIns="0" rtlCol="0" anchor="ctr"/>
          <a:lstStyle/>
          <a:p>
            <a:pPr algn="ctr" indent="0" marL="0">
              <a:buNone/>
            </a:pPr>
            <a:r>
              <a:rPr lang="en-US" sz="750" i="1" dirty="0">
                <a:solidFill>
                  <a:srgbClr val="FFB300"/>
                </a:solidFill>
              </a:rPr>
              <a:t>⚠️ Note: Training on same 20 files; needs more data for production use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43656"/>
          </a:solidFill>
          <a:ln w="12700">
            <a:solidFill>
              <a:srgbClr val="243656"/>
            </a:solidFill>
            <a:prstDash val="solid"/>
          </a:ln>
        </p:spPr>
      </p:sp>
      <p:sp>
        <p:nvSpPr>
          <p:cNvPr id="3" name="Shape 1"/>
          <p:cNvSpPr/>
          <p:nvPr/>
        </p:nvSpPr>
        <p:spPr>
          <a:xfrm>
            <a:off x="347472" y="164592"/>
            <a:ext cx="2011680" cy="256032"/>
          </a:xfrm>
          <a:prstGeom prst="roundRect">
            <a:avLst>
              <a:gd name="adj" fmla="val 50000"/>
            </a:avLst>
          </a:prstGeom>
          <a:solidFill>
            <a:srgbClr val="FFB300">
              <a:alpha val="85000"/>
            </a:srgbClr>
          </a:solidFill>
          <a:ln w="12700">
            <a:solidFill>
              <a:srgbClr val="FFB300"/>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DATA AUGMENTATION</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Expanding 20 Files → 180 Training Samples</a:t>
            </a:r>
            <a:endParaRPr lang="en-US" sz="1900" dirty="0"/>
          </a:p>
        </p:txBody>
      </p:sp>
      <p:sp>
        <p:nvSpPr>
          <p:cNvPr id="6" name="Shape 4"/>
          <p:cNvSpPr/>
          <p:nvPr/>
        </p:nvSpPr>
        <p:spPr>
          <a:xfrm>
            <a:off x="320040" y="777240"/>
            <a:ext cx="8503920" cy="566928"/>
          </a:xfrm>
          <a:prstGeom prst="rect">
            <a:avLst/>
          </a:prstGeom>
          <a:solidFill>
            <a:srgbClr val="243656"/>
          </a:solidFill>
          <a:ln w="19050">
            <a:solidFill>
              <a:srgbClr val="FFB300"/>
            </a:solidFill>
            <a:prstDash val="solid"/>
          </a:ln>
        </p:spPr>
      </p:sp>
      <p:sp>
        <p:nvSpPr>
          <p:cNvPr id="7" name="Text 5"/>
          <p:cNvSpPr/>
          <p:nvPr/>
        </p:nvSpPr>
        <p:spPr>
          <a:xfrm>
            <a:off x="457200" y="804672"/>
            <a:ext cx="2286000" cy="502920"/>
          </a:xfrm>
          <a:prstGeom prst="rect">
            <a:avLst/>
          </a:prstGeom>
          <a:noFill/>
          <a:ln/>
        </p:spPr>
        <p:txBody>
          <a:bodyPr wrap="square" lIns="0" tIns="0" rIns="0" bIns="0" rtlCol="0" anchor="ctr"/>
          <a:lstStyle/>
          <a:p>
            <a:pPr algn="l" indent="0" marL="0">
              <a:buNone/>
            </a:pPr>
            <a:r>
              <a:rPr lang="en-US" sz="1050" b="1" dirty="0">
                <a:solidFill>
                  <a:srgbClr val="FFB300"/>
                </a:solidFill>
              </a:rPr>
              <a:t>Why augmentation is needed:</a:t>
            </a:r>
            <a:endParaRPr lang="en-US" sz="1050" dirty="0"/>
          </a:p>
        </p:txBody>
      </p:sp>
      <p:sp>
        <p:nvSpPr>
          <p:cNvPr id="8" name="Text 6"/>
          <p:cNvSpPr/>
          <p:nvPr/>
        </p:nvSpPr>
        <p:spPr>
          <a:xfrm>
            <a:off x="2834640" y="804672"/>
            <a:ext cx="5852160" cy="502920"/>
          </a:xfrm>
          <a:prstGeom prst="rect">
            <a:avLst/>
          </a:prstGeom>
          <a:noFill/>
          <a:ln/>
        </p:spPr>
        <p:txBody>
          <a:bodyPr wrap="square" lIns="0" tIns="0" rIns="0" bIns="0" rtlCol="0" anchor="ctr"/>
          <a:lstStyle/>
          <a:p>
            <a:pPr algn="l" indent="0" marL="0">
              <a:buNone/>
            </a:pPr>
            <a:r>
              <a:rPr lang="en-US" sz="950" dirty="0">
                <a:solidFill>
                  <a:srgbClr val="FFFFFF"/>
                </a:solidFill>
              </a:rPr>
              <a:t>With only 20 files, the model can memorize training data instead of learning real patterns. Augmentation creates realistic variations so the model generalizes to new recordings it has never seen before.</a:t>
            </a:r>
            <a:endParaRPr lang="en-US" sz="950" dirty="0"/>
          </a:p>
        </p:txBody>
      </p:sp>
      <p:sp>
        <p:nvSpPr>
          <p:cNvPr id="9" name="Shape 7"/>
          <p:cNvSpPr/>
          <p:nvPr/>
        </p:nvSpPr>
        <p:spPr>
          <a:xfrm>
            <a:off x="320040" y="1508760"/>
            <a:ext cx="2011680" cy="182880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320040" y="1554480"/>
            <a:ext cx="20116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411480" y="2103120"/>
            <a:ext cx="1828800" cy="475488"/>
          </a:xfrm>
          <a:prstGeom prst="rect">
            <a:avLst/>
          </a:prstGeom>
          <a:noFill/>
          <a:ln/>
        </p:spPr>
        <p:txBody>
          <a:bodyPr wrap="square" lIns="0" tIns="0" rIns="0" bIns="0" rtlCol="0" anchor="ctr"/>
          <a:lstStyle/>
          <a:p>
            <a:pPr algn="ctr" indent="0" marL="0">
              <a:buNone/>
            </a:pPr>
            <a:r>
              <a:rPr lang="en-US" sz="1100" b="1" dirty="0">
                <a:solidFill>
                  <a:srgbClr val="00B8D4"/>
                </a:solidFill>
              </a:rPr>
              <a:t>Gaussian Noise</a:t>
            </a:r>
            <a:endParaRPr lang="en-US" sz="1100" dirty="0"/>
          </a:p>
          <a:p>
            <a:pPr algn="ctr" indent="0" marL="0">
              <a:buNone/>
            </a:pPr>
            <a:r>
              <a:rPr lang="en-US" sz="1100" b="1" dirty="0">
                <a:solidFill>
                  <a:srgbClr val="00B8D4"/>
                </a:solidFill>
              </a:rPr>
              <a:t>Injection</a:t>
            </a:r>
            <a:endParaRPr lang="en-US" sz="1100" dirty="0"/>
          </a:p>
        </p:txBody>
      </p:sp>
      <p:sp>
        <p:nvSpPr>
          <p:cNvPr id="12" name="Text 10"/>
          <p:cNvSpPr/>
          <p:nvPr/>
        </p:nvSpPr>
        <p:spPr>
          <a:xfrm>
            <a:off x="411480" y="2615184"/>
            <a:ext cx="1828800" cy="685800"/>
          </a:xfrm>
          <a:prstGeom prst="rect">
            <a:avLst/>
          </a:prstGeom>
          <a:noFill/>
          <a:ln/>
        </p:spPr>
        <p:txBody>
          <a:bodyPr wrap="square" lIns="0" tIns="0" rIns="0" bIns="0" rtlCol="0" anchor="t"/>
          <a:lstStyle/>
          <a:p>
            <a:pPr algn="ctr" indent="0" marL="0">
              <a:buNone/>
            </a:pPr>
            <a:r>
              <a:rPr lang="en-US" sz="900" dirty="0">
                <a:solidFill>
                  <a:srgbClr val="8A9BB5"/>
                </a:solidFill>
              </a:rPr>
              <a:t>Adds tiny random</a:t>
            </a:r>
            <a:endParaRPr lang="en-US" sz="900" dirty="0"/>
          </a:p>
          <a:p>
            <a:pPr algn="ctr" indent="0" marL="0">
              <a:buNone/>
            </a:pPr>
            <a:r>
              <a:rPr lang="en-US" sz="900" dirty="0">
                <a:solidFill>
                  <a:srgbClr val="8A9BB5"/>
                </a:solidFill>
              </a:rPr>
              <a:t>noise to features</a:t>
            </a:r>
            <a:endParaRPr lang="en-US" sz="900" dirty="0"/>
          </a:p>
          <a:p>
            <a:pPr algn="ctr" indent="0" marL="0">
              <a:buNone/>
            </a:pPr>
            <a:r>
              <a:rPr lang="en-US" sz="900" dirty="0">
                <a:solidFill>
                  <a:srgbClr val="8A9BB5"/>
                </a:solidFill>
              </a:rPr>
              <a:t>(4 levels: 0.8%–4%)</a:t>
            </a:r>
            <a:endParaRPr lang="en-US" sz="900" dirty="0"/>
          </a:p>
        </p:txBody>
      </p:sp>
      <p:sp>
        <p:nvSpPr>
          <p:cNvPr id="13" name="Shape 11"/>
          <p:cNvSpPr/>
          <p:nvPr/>
        </p:nvSpPr>
        <p:spPr>
          <a:xfrm>
            <a:off x="2496312" y="1508760"/>
            <a:ext cx="2011680" cy="1828800"/>
          </a:xfrm>
          <a:prstGeom prst="rect">
            <a:avLst/>
          </a:prstGeom>
          <a:solidFill>
            <a:srgbClr val="243656"/>
          </a:solidFill>
          <a:ln w="19050">
            <a:solidFill>
              <a:srgbClr val="00A3B8"/>
            </a:solidFill>
            <a:prstDash val="solid"/>
          </a:ln>
          <a:effectLst>
            <a:outerShdw sx="100000" sy="100000" kx="0" ky="0" algn="bl" rotWithShape="0" blurRad="76200" dist="25400" dir="8100000">
              <a:srgbClr val="000000">
                <a:alpha val="15000"/>
              </a:srgbClr>
            </a:outerShdw>
          </a:effectLst>
        </p:spPr>
      </p:sp>
      <p:sp>
        <p:nvSpPr>
          <p:cNvPr id="14" name="Text 12"/>
          <p:cNvSpPr/>
          <p:nvPr/>
        </p:nvSpPr>
        <p:spPr>
          <a:xfrm>
            <a:off x="2496312" y="1554480"/>
            <a:ext cx="20116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2587752" y="2103120"/>
            <a:ext cx="1828800" cy="475488"/>
          </a:xfrm>
          <a:prstGeom prst="rect">
            <a:avLst/>
          </a:prstGeom>
          <a:noFill/>
          <a:ln/>
        </p:spPr>
        <p:txBody>
          <a:bodyPr wrap="square" lIns="0" tIns="0" rIns="0" bIns="0" rtlCol="0" anchor="ctr"/>
          <a:lstStyle/>
          <a:p>
            <a:pPr algn="ctr" indent="0" marL="0">
              <a:buNone/>
            </a:pPr>
            <a:r>
              <a:rPr lang="en-US" sz="1100" b="1" dirty="0">
                <a:solidFill>
                  <a:srgbClr val="00A3B8"/>
                </a:solidFill>
              </a:rPr>
              <a:t>Feature</a:t>
            </a:r>
            <a:endParaRPr lang="en-US" sz="1100" dirty="0"/>
          </a:p>
          <a:p>
            <a:pPr algn="ctr" indent="0" marL="0">
              <a:buNone/>
            </a:pPr>
            <a:r>
              <a:rPr lang="en-US" sz="1100" b="1" dirty="0">
                <a:solidFill>
                  <a:srgbClr val="00A3B8"/>
                </a:solidFill>
              </a:rPr>
              <a:t>Scaling</a:t>
            </a:r>
            <a:endParaRPr lang="en-US" sz="1100" dirty="0"/>
          </a:p>
        </p:txBody>
      </p:sp>
      <p:sp>
        <p:nvSpPr>
          <p:cNvPr id="16" name="Text 14"/>
          <p:cNvSpPr/>
          <p:nvPr/>
        </p:nvSpPr>
        <p:spPr>
          <a:xfrm>
            <a:off x="2587752" y="2615184"/>
            <a:ext cx="1828800" cy="685800"/>
          </a:xfrm>
          <a:prstGeom prst="rect">
            <a:avLst/>
          </a:prstGeom>
          <a:noFill/>
          <a:ln/>
        </p:spPr>
        <p:txBody>
          <a:bodyPr wrap="square" lIns="0" tIns="0" rIns="0" bIns="0" rtlCol="0" anchor="t"/>
          <a:lstStyle/>
          <a:p>
            <a:pPr algn="ctr" indent="0" marL="0">
              <a:buNone/>
            </a:pPr>
            <a:r>
              <a:rPr lang="en-US" sz="900" dirty="0">
                <a:solidFill>
                  <a:srgbClr val="8A9BB5"/>
                </a:solidFill>
              </a:rPr>
              <a:t>Multiplies all values</a:t>
            </a:r>
            <a:endParaRPr lang="en-US" sz="900" dirty="0"/>
          </a:p>
          <a:p>
            <a:pPr algn="ctr" indent="0" marL="0">
              <a:buNone/>
            </a:pPr>
            <a:r>
              <a:rPr lang="en-US" sz="900" dirty="0">
                <a:solidFill>
                  <a:srgbClr val="8A9BB5"/>
                </a:solidFill>
              </a:rPr>
              <a:t>by 0.93× or 1.07×</a:t>
            </a:r>
            <a:endParaRPr lang="en-US" sz="900" dirty="0"/>
          </a:p>
          <a:p>
            <a:pPr algn="ctr" indent="0" marL="0">
              <a:buNone/>
            </a:pPr>
            <a:r>
              <a:rPr lang="en-US" sz="900" dirty="0">
                <a:solidFill>
                  <a:srgbClr val="8A9BB5"/>
                </a:solidFill>
              </a:rPr>
              <a:t>Simulates volume changes</a:t>
            </a:r>
            <a:endParaRPr lang="en-US" sz="900" dirty="0"/>
          </a:p>
        </p:txBody>
      </p:sp>
      <p:sp>
        <p:nvSpPr>
          <p:cNvPr id="17" name="Shape 15"/>
          <p:cNvSpPr/>
          <p:nvPr/>
        </p:nvSpPr>
        <p:spPr>
          <a:xfrm>
            <a:off x="4672584" y="1508760"/>
            <a:ext cx="2011680" cy="1828800"/>
          </a:xfrm>
          <a:prstGeom prst="rect">
            <a:avLst/>
          </a:prstGeom>
          <a:solidFill>
            <a:srgbClr val="243656"/>
          </a:solidFill>
          <a:ln w="19050">
            <a:solidFill>
              <a:srgbClr val="FFB300"/>
            </a:solidFill>
            <a:prstDash val="solid"/>
          </a:ln>
          <a:effectLst>
            <a:outerShdw sx="100000" sy="100000" kx="0" ky="0" algn="bl" rotWithShape="0" blurRad="76200" dist="25400" dir="8100000">
              <a:srgbClr val="000000">
                <a:alpha val="15000"/>
              </a:srgbClr>
            </a:outerShdw>
          </a:effectLst>
        </p:spPr>
      </p:sp>
      <p:sp>
        <p:nvSpPr>
          <p:cNvPr id="18" name="Text 16"/>
          <p:cNvSpPr/>
          <p:nvPr/>
        </p:nvSpPr>
        <p:spPr>
          <a:xfrm>
            <a:off x="4672584" y="1554480"/>
            <a:ext cx="20116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4764024" y="2103120"/>
            <a:ext cx="1828800" cy="475488"/>
          </a:xfrm>
          <a:prstGeom prst="rect">
            <a:avLst/>
          </a:prstGeom>
          <a:noFill/>
          <a:ln/>
        </p:spPr>
        <p:txBody>
          <a:bodyPr wrap="square" lIns="0" tIns="0" rIns="0" bIns="0" rtlCol="0" anchor="ctr"/>
          <a:lstStyle/>
          <a:p>
            <a:pPr algn="ctr" indent="0" marL="0">
              <a:buNone/>
            </a:pPr>
            <a:r>
              <a:rPr lang="en-US" sz="1100" b="1" dirty="0">
                <a:solidFill>
                  <a:srgbClr val="FFB300"/>
                </a:solidFill>
              </a:rPr>
              <a:t>Combined</a:t>
            </a:r>
            <a:endParaRPr lang="en-US" sz="1100" dirty="0"/>
          </a:p>
          <a:p>
            <a:pPr algn="ctr" indent="0" marL="0">
              <a:buNone/>
            </a:pPr>
            <a:r>
              <a:rPr lang="en-US" sz="1100" b="1" dirty="0">
                <a:solidFill>
                  <a:srgbClr val="FFB300"/>
                </a:solidFill>
              </a:rPr>
              <a:t>Variations</a:t>
            </a:r>
            <a:endParaRPr lang="en-US" sz="1100" dirty="0"/>
          </a:p>
        </p:txBody>
      </p:sp>
      <p:sp>
        <p:nvSpPr>
          <p:cNvPr id="20" name="Text 18"/>
          <p:cNvSpPr/>
          <p:nvPr/>
        </p:nvSpPr>
        <p:spPr>
          <a:xfrm>
            <a:off x="4764024" y="2615184"/>
            <a:ext cx="1828800" cy="685800"/>
          </a:xfrm>
          <a:prstGeom prst="rect">
            <a:avLst/>
          </a:prstGeom>
          <a:noFill/>
          <a:ln/>
        </p:spPr>
        <p:txBody>
          <a:bodyPr wrap="square" lIns="0" tIns="0" rIns="0" bIns="0" rtlCol="0" anchor="t"/>
          <a:lstStyle/>
          <a:p>
            <a:pPr algn="ctr" indent="0" marL="0">
              <a:buNone/>
            </a:pPr>
            <a:r>
              <a:rPr lang="en-US" sz="900" dirty="0">
                <a:solidFill>
                  <a:srgbClr val="8A9BB5"/>
                </a:solidFill>
              </a:rPr>
              <a:t>4 noise levels</a:t>
            </a:r>
            <a:endParaRPr lang="en-US" sz="900" dirty="0"/>
          </a:p>
          <a:p>
            <a:pPr algn="ctr" indent="0" marL="0">
              <a:buNone/>
            </a:pPr>
            <a:r>
              <a:rPr lang="en-US" sz="900" dirty="0">
                <a:solidFill>
                  <a:srgbClr val="8A9BB5"/>
                </a:solidFill>
              </a:rPr>
              <a:t>+ 4 scale levels</a:t>
            </a:r>
            <a:endParaRPr lang="en-US" sz="900" dirty="0"/>
          </a:p>
          <a:p>
            <a:pPr algn="ctr" indent="0" marL="0">
              <a:buNone/>
            </a:pPr>
            <a:r>
              <a:rPr lang="en-US" sz="900" dirty="0">
                <a:solidFill>
                  <a:srgbClr val="8A9BB5"/>
                </a:solidFill>
              </a:rPr>
              <a:t>= 9× original data</a:t>
            </a:r>
            <a:endParaRPr lang="en-US" sz="900" dirty="0"/>
          </a:p>
        </p:txBody>
      </p:sp>
      <p:sp>
        <p:nvSpPr>
          <p:cNvPr id="21" name="Shape 19"/>
          <p:cNvSpPr/>
          <p:nvPr/>
        </p:nvSpPr>
        <p:spPr>
          <a:xfrm>
            <a:off x="6848856" y="1508760"/>
            <a:ext cx="2011680" cy="1828800"/>
          </a:xfrm>
          <a:prstGeom prst="rect">
            <a:avLst/>
          </a:prstGeom>
          <a:solidFill>
            <a:srgbClr val="243656"/>
          </a:solidFill>
          <a:ln w="19050">
            <a:solidFill>
              <a:srgbClr val="00C853"/>
            </a:solidFill>
            <a:prstDash val="solid"/>
          </a:ln>
          <a:effectLst>
            <a:outerShdw sx="100000" sy="100000" kx="0" ky="0" algn="bl" rotWithShape="0" blurRad="76200" dist="25400" dir="8100000">
              <a:srgbClr val="000000">
                <a:alpha val="15000"/>
              </a:srgbClr>
            </a:outerShdw>
          </a:effectLst>
        </p:spPr>
      </p:sp>
      <p:sp>
        <p:nvSpPr>
          <p:cNvPr id="22" name="Text 20"/>
          <p:cNvSpPr/>
          <p:nvPr/>
        </p:nvSpPr>
        <p:spPr>
          <a:xfrm>
            <a:off x="6848856" y="1554480"/>
            <a:ext cx="20116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6940296" y="2103120"/>
            <a:ext cx="1828800" cy="475488"/>
          </a:xfrm>
          <a:prstGeom prst="rect">
            <a:avLst/>
          </a:prstGeom>
          <a:noFill/>
          <a:ln/>
        </p:spPr>
        <p:txBody>
          <a:bodyPr wrap="square" lIns="0" tIns="0" rIns="0" bIns="0" rtlCol="0" anchor="ctr"/>
          <a:lstStyle/>
          <a:p>
            <a:pPr algn="ctr" indent="0" marL="0">
              <a:buNone/>
            </a:pPr>
            <a:r>
              <a:rPr lang="en-US" sz="1100" b="1" dirty="0">
                <a:solidFill>
                  <a:srgbClr val="00C853"/>
                </a:solidFill>
              </a:rPr>
              <a:t>Class</a:t>
            </a:r>
            <a:endParaRPr lang="en-US" sz="1100" dirty="0"/>
          </a:p>
          <a:p>
            <a:pPr algn="ctr" indent="0" marL="0">
              <a:buNone/>
            </a:pPr>
            <a:r>
              <a:rPr lang="en-US" sz="1100" b="1" dirty="0">
                <a:solidFill>
                  <a:srgbClr val="00C853"/>
                </a:solidFill>
              </a:rPr>
              <a:t>Balancing</a:t>
            </a:r>
            <a:endParaRPr lang="en-US" sz="1100" dirty="0"/>
          </a:p>
        </p:txBody>
      </p:sp>
      <p:sp>
        <p:nvSpPr>
          <p:cNvPr id="24" name="Text 22"/>
          <p:cNvSpPr/>
          <p:nvPr/>
        </p:nvSpPr>
        <p:spPr>
          <a:xfrm>
            <a:off x="6940296" y="2615184"/>
            <a:ext cx="1828800" cy="685800"/>
          </a:xfrm>
          <a:prstGeom prst="rect">
            <a:avLst/>
          </a:prstGeom>
          <a:noFill/>
          <a:ln/>
        </p:spPr>
        <p:txBody>
          <a:bodyPr wrap="square" lIns="0" tIns="0" rIns="0" bIns="0" rtlCol="0" anchor="t"/>
          <a:lstStyle/>
          <a:p>
            <a:pPr algn="ctr" indent="0" marL="0">
              <a:buNone/>
            </a:pPr>
            <a:r>
              <a:rPr lang="en-US" sz="900" dirty="0">
                <a:solidFill>
                  <a:srgbClr val="8A9BB5"/>
                </a:solidFill>
              </a:rPr>
              <a:t>Equal weight given</a:t>
            </a:r>
            <a:endParaRPr lang="en-US" sz="900" dirty="0"/>
          </a:p>
          <a:p>
            <a:pPr algn="ctr" indent="0" marL="0">
              <a:buNone/>
            </a:pPr>
            <a:r>
              <a:rPr lang="en-US" sz="900" dirty="0">
                <a:solidFill>
                  <a:srgbClr val="8A9BB5"/>
                </a:solidFill>
              </a:rPr>
              <a:t>to OK and NOT OK</a:t>
            </a:r>
            <a:endParaRPr lang="en-US" sz="900" dirty="0"/>
          </a:p>
          <a:p>
            <a:pPr algn="ctr" indent="0" marL="0">
              <a:buNone/>
            </a:pPr>
            <a:r>
              <a:rPr lang="en-US" sz="900" dirty="0">
                <a:solidFill>
                  <a:srgbClr val="8A9BB5"/>
                </a:solidFill>
              </a:rPr>
              <a:t>Prevents bias</a:t>
            </a:r>
            <a:endParaRPr lang="en-US" sz="900" dirty="0"/>
          </a:p>
        </p:txBody>
      </p:sp>
      <p:sp>
        <p:nvSpPr>
          <p:cNvPr id="25" name="Shape 23"/>
          <p:cNvSpPr/>
          <p:nvPr/>
        </p:nvSpPr>
        <p:spPr>
          <a:xfrm>
            <a:off x="731520" y="3566160"/>
            <a:ext cx="2468880" cy="1325880"/>
          </a:xfrm>
          <a:prstGeom prst="rect">
            <a:avLst/>
          </a:prstGeom>
          <a:solidFill>
            <a:srgbClr val="1B2A4A"/>
          </a:solidFill>
          <a:ln w="12700">
            <a:solidFill>
              <a:srgbClr val="00B8D4"/>
            </a:solidFill>
            <a:prstDash val="solid"/>
          </a:ln>
          <a:effectLst>
            <a:outerShdw sx="100000" sy="100000" kx="0" ky="0" algn="bl" rotWithShape="0" blurRad="50800" dist="12700" dir="8100000">
              <a:srgbClr val="000000">
                <a:alpha val="12000"/>
              </a:srgbClr>
            </a:outerShdw>
          </a:effectLst>
        </p:spPr>
      </p:sp>
      <p:sp>
        <p:nvSpPr>
          <p:cNvPr id="26" name="Text 24"/>
          <p:cNvSpPr/>
          <p:nvPr/>
        </p:nvSpPr>
        <p:spPr>
          <a:xfrm>
            <a:off x="731520" y="3639312"/>
            <a:ext cx="2468880" cy="566928"/>
          </a:xfrm>
          <a:prstGeom prst="rect">
            <a:avLst/>
          </a:prstGeom>
          <a:noFill/>
          <a:ln/>
        </p:spPr>
        <p:txBody>
          <a:bodyPr wrap="square" lIns="0" tIns="0" rIns="0" bIns="0" rtlCol="0" anchor="ctr"/>
          <a:lstStyle/>
          <a:p>
            <a:pPr algn="ctr" indent="0" marL="0">
              <a:buNone/>
            </a:pPr>
            <a:r>
              <a:rPr lang="en-US" sz="2200" b="1" dirty="0">
                <a:solidFill>
                  <a:srgbClr val="00B8D4"/>
                </a:solidFill>
              </a:rPr>
              <a:t>20  →  180</a:t>
            </a:r>
            <a:endParaRPr lang="en-US" sz="2200" dirty="0"/>
          </a:p>
        </p:txBody>
      </p:sp>
      <p:sp>
        <p:nvSpPr>
          <p:cNvPr id="27" name="Text 25"/>
          <p:cNvSpPr/>
          <p:nvPr/>
        </p:nvSpPr>
        <p:spPr>
          <a:xfrm>
            <a:off x="731520" y="4224528"/>
            <a:ext cx="2468880" cy="320040"/>
          </a:xfrm>
          <a:prstGeom prst="rect">
            <a:avLst/>
          </a:prstGeom>
          <a:noFill/>
          <a:ln/>
        </p:spPr>
        <p:txBody>
          <a:bodyPr wrap="square" lIns="0" tIns="0" rIns="0" bIns="0" rtlCol="0" anchor="ctr"/>
          <a:lstStyle/>
          <a:p>
            <a:pPr algn="ctr" indent="0" marL="0">
              <a:buNone/>
            </a:pPr>
            <a:r>
              <a:rPr lang="en-US" sz="1050" b="1" dirty="0">
                <a:solidFill>
                  <a:srgbClr val="FFFFFF"/>
                </a:solidFill>
              </a:rPr>
              <a:t>Total Samples</a:t>
            </a:r>
            <a:endParaRPr lang="en-US" sz="1050" dirty="0"/>
          </a:p>
        </p:txBody>
      </p:sp>
      <p:sp>
        <p:nvSpPr>
          <p:cNvPr id="28" name="Text 26"/>
          <p:cNvSpPr/>
          <p:nvPr/>
        </p:nvSpPr>
        <p:spPr>
          <a:xfrm>
            <a:off x="731520" y="4572000"/>
            <a:ext cx="2468880" cy="256032"/>
          </a:xfrm>
          <a:prstGeom prst="rect">
            <a:avLst/>
          </a:prstGeom>
          <a:noFill/>
          <a:ln/>
        </p:spPr>
        <p:txBody>
          <a:bodyPr wrap="square" lIns="0" tIns="0" rIns="0" bIns="0" rtlCol="0" anchor="ctr"/>
          <a:lstStyle/>
          <a:p>
            <a:pPr algn="ctr" indent="0" marL="0">
              <a:buNone/>
            </a:pPr>
            <a:r>
              <a:rPr lang="en-US" sz="850" dirty="0">
                <a:solidFill>
                  <a:srgbClr val="8A9BB5"/>
                </a:solidFill>
              </a:rPr>
              <a:t>×9 expansion</a:t>
            </a:r>
            <a:endParaRPr lang="en-US" sz="850" dirty="0"/>
          </a:p>
        </p:txBody>
      </p:sp>
      <p:sp>
        <p:nvSpPr>
          <p:cNvPr id="29" name="Shape 27"/>
          <p:cNvSpPr/>
          <p:nvPr/>
        </p:nvSpPr>
        <p:spPr>
          <a:xfrm>
            <a:off x="3566160" y="3566160"/>
            <a:ext cx="2468880" cy="1325880"/>
          </a:xfrm>
          <a:prstGeom prst="rect">
            <a:avLst/>
          </a:prstGeom>
          <a:solidFill>
            <a:srgbClr val="1B2A4A"/>
          </a:solidFill>
          <a:ln w="12700">
            <a:solidFill>
              <a:srgbClr val="00B8D4"/>
            </a:solidFill>
            <a:prstDash val="solid"/>
          </a:ln>
          <a:effectLst>
            <a:outerShdw sx="100000" sy="100000" kx="0" ky="0" algn="bl" rotWithShape="0" blurRad="50800" dist="12700" dir="8100000">
              <a:srgbClr val="000000">
                <a:alpha val="12000"/>
              </a:srgbClr>
            </a:outerShdw>
          </a:effectLst>
        </p:spPr>
      </p:sp>
      <p:sp>
        <p:nvSpPr>
          <p:cNvPr id="30" name="Text 28"/>
          <p:cNvSpPr/>
          <p:nvPr/>
        </p:nvSpPr>
        <p:spPr>
          <a:xfrm>
            <a:off x="3566160" y="3639312"/>
            <a:ext cx="2468880" cy="566928"/>
          </a:xfrm>
          <a:prstGeom prst="rect">
            <a:avLst/>
          </a:prstGeom>
          <a:noFill/>
          <a:ln/>
        </p:spPr>
        <p:txBody>
          <a:bodyPr wrap="square" lIns="0" tIns="0" rIns="0" bIns="0" rtlCol="0" anchor="ctr"/>
          <a:lstStyle/>
          <a:p>
            <a:pPr algn="ctr" indent="0" marL="0">
              <a:buNone/>
            </a:pPr>
            <a:r>
              <a:rPr lang="en-US" sz="2200" b="1" dirty="0">
                <a:solidFill>
                  <a:srgbClr val="00B8D4"/>
                </a:solidFill>
              </a:rPr>
              <a:t>13  →  117</a:t>
            </a:r>
            <a:endParaRPr lang="en-US" sz="2200" dirty="0"/>
          </a:p>
        </p:txBody>
      </p:sp>
      <p:sp>
        <p:nvSpPr>
          <p:cNvPr id="31" name="Text 29"/>
          <p:cNvSpPr/>
          <p:nvPr/>
        </p:nvSpPr>
        <p:spPr>
          <a:xfrm>
            <a:off x="3566160" y="4224528"/>
            <a:ext cx="2468880" cy="320040"/>
          </a:xfrm>
          <a:prstGeom prst="rect">
            <a:avLst/>
          </a:prstGeom>
          <a:noFill/>
          <a:ln/>
        </p:spPr>
        <p:txBody>
          <a:bodyPr wrap="square" lIns="0" tIns="0" rIns="0" bIns="0" rtlCol="0" anchor="ctr"/>
          <a:lstStyle/>
          <a:p>
            <a:pPr algn="ctr" indent="0" marL="0">
              <a:buNone/>
            </a:pPr>
            <a:r>
              <a:rPr lang="en-US" sz="1050" b="1" dirty="0">
                <a:solidFill>
                  <a:srgbClr val="FFFFFF"/>
                </a:solidFill>
              </a:rPr>
              <a:t>OK Samples</a:t>
            </a:r>
            <a:endParaRPr lang="en-US" sz="1050" dirty="0"/>
          </a:p>
        </p:txBody>
      </p:sp>
      <p:sp>
        <p:nvSpPr>
          <p:cNvPr id="32" name="Text 30"/>
          <p:cNvSpPr/>
          <p:nvPr/>
        </p:nvSpPr>
        <p:spPr>
          <a:xfrm>
            <a:off x="3566160" y="4572000"/>
            <a:ext cx="2468880" cy="256032"/>
          </a:xfrm>
          <a:prstGeom prst="rect">
            <a:avLst/>
          </a:prstGeom>
          <a:noFill/>
          <a:ln/>
        </p:spPr>
        <p:txBody>
          <a:bodyPr wrap="square" lIns="0" tIns="0" rIns="0" bIns="0" rtlCol="0" anchor="ctr"/>
          <a:lstStyle/>
          <a:p>
            <a:pPr algn="ctr" indent="0" marL="0">
              <a:buNone/>
            </a:pPr>
            <a:r>
              <a:rPr lang="en-US" sz="850" dirty="0">
                <a:solidFill>
                  <a:srgbClr val="8A9BB5"/>
                </a:solidFill>
              </a:rPr>
              <a:t>×9 expansion</a:t>
            </a:r>
            <a:endParaRPr lang="en-US" sz="850" dirty="0"/>
          </a:p>
        </p:txBody>
      </p:sp>
      <p:sp>
        <p:nvSpPr>
          <p:cNvPr id="33" name="Shape 31"/>
          <p:cNvSpPr/>
          <p:nvPr/>
        </p:nvSpPr>
        <p:spPr>
          <a:xfrm>
            <a:off x="6400800" y="3566160"/>
            <a:ext cx="2468880" cy="1325880"/>
          </a:xfrm>
          <a:prstGeom prst="rect">
            <a:avLst/>
          </a:prstGeom>
          <a:solidFill>
            <a:srgbClr val="1B2A4A"/>
          </a:solidFill>
          <a:ln w="12700">
            <a:solidFill>
              <a:srgbClr val="00B8D4"/>
            </a:solidFill>
            <a:prstDash val="solid"/>
          </a:ln>
          <a:effectLst>
            <a:outerShdw sx="100000" sy="100000" kx="0" ky="0" algn="bl" rotWithShape="0" blurRad="50800" dist="12700" dir="8100000">
              <a:srgbClr val="000000">
                <a:alpha val="12000"/>
              </a:srgbClr>
            </a:outerShdw>
          </a:effectLst>
        </p:spPr>
      </p:sp>
      <p:sp>
        <p:nvSpPr>
          <p:cNvPr id="34" name="Text 32"/>
          <p:cNvSpPr/>
          <p:nvPr/>
        </p:nvSpPr>
        <p:spPr>
          <a:xfrm>
            <a:off x="6400800" y="3639312"/>
            <a:ext cx="2468880" cy="566928"/>
          </a:xfrm>
          <a:prstGeom prst="rect">
            <a:avLst/>
          </a:prstGeom>
          <a:noFill/>
          <a:ln/>
        </p:spPr>
        <p:txBody>
          <a:bodyPr wrap="square" lIns="0" tIns="0" rIns="0" bIns="0" rtlCol="0" anchor="ctr"/>
          <a:lstStyle/>
          <a:p>
            <a:pPr algn="ctr" indent="0" marL="0">
              <a:buNone/>
            </a:pPr>
            <a:r>
              <a:rPr lang="en-US" sz="2200" b="1" dirty="0">
                <a:solidFill>
                  <a:srgbClr val="00B8D4"/>
                </a:solidFill>
              </a:rPr>
              <a:t>7  →  63</a:t>
            </a:r>
            <a:endParaRPr lang="en-US" sz="2200" dirty="0"/>
          </a:p>
        </p:txBody>
      </p:sp>
      <p:sp>
        <p:nvSpPr>
          <p:cNvPr id="35" name="Text 33"/>
          <p:cNvSpPr/>
          <p:nvPr/>
        </p:nvSpPr>
        <p:spPr>
          <a:xfrm>
            <a:off x="6400800" y="4224528"/>
            <a:ext cx="2468880" cy="320040"/>
          </a:xfrm>
          <a:prstGeom prst="rect">
            <a:avLst/>
          </a:prstGeom>
          <a:noFill/>
          <a:ln/>
        </p:spPr>
        <p:txBody>
          <a:bodyPr wrap="square" lIns="0" tIns="0" rIns="0" bIns="0" rtlCol="0" anchor="ctr"/>
          <a:lstStyle/>
          <a:p>
            <a:pPr algn="ctr" indent="0" marL="0">
              <a:buNone/>
            </a:pPr>
            <a:r>
              <a:rPr lang="en-US" sz="1050" b="1" dirty="0">
                <a:solidFill>
                  <a:srgbClr val="FFFFFF"/>
                </a:solidFill>
              </a:rPr>
              <a:t>NOT OK Samples</a:t>
            </a:r>
            <a:endParaRPr lang="en-US" sz="1050" dirty="0"/>
          </a:p>
        </p:txBody>
      </p:sp>
      <p:sp>
        <p:nvSpPr>
          <p:cNvPr id="36" name="Text 34"/>
          <p:cNvSpPr/>
          <p:nvPr/>
        </p:nvSpPr>
        <p:spPr>
          <a:xfrm>
            <a:off x="6400800" y="4572000"/>
            <a:ext cx="2468880" cy="256032"/>
          </a:xfrm>
          <a:prstGeom prst="rect">
            <a:avLst/>
          </a:prstGeom>
          <a:noFill/>
          <a:ln/>
        </p:spPr>
        <p:txBody>
          <a:bodyPr wrap="square" lIns="0" tIns="0" rIns="0" bIns="0" rtlCol="0" anchor="ctr"/>
          <a:lstStyle/>
          <a:p>
            <a:pPr algn="ctr" indent="0" marL="0">
              <a:buNone/>
            </a:pPr>
            <a:r>
              <a:rPr lang="en-US" sz="850" dirty="0">
                <a:solidFill>
                  <a:srgbClr val="8A9BB5"/>
                </a:solidFill>
              </a:rPr>
              <a:t>×9 expansion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347472" y="164592"/>
            <a:ext cx="2011680" cy="256032"/>
          </a:xfrm>
          <a:prstGeom prst="roundRect">
            <a:avLst>
              <a:gd name="adj" fmla="val 50000"/>
            </a:avLst>
          </a:prstGeom>
          <a:solidFill>
            <a:srgbClr val="00B8D4">
              <a:alpha val="85000"/>
            </a:srgbClr>
          </a:solidFill>
          <a:ln w="12700">
            <a:solidFill>
              <a:srgbClr val="00B8D4"/>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MODEL SELECTION</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Why Random Forest? — 3-Model Comparison</a:t>
            </a:r>
            <a:endParaRPr lang="en-US" sz="1900" dirty="0"/>
          </a:p>
        </p:txBody>
      </p:sp>
      <p:graphicFrame>
        <p:nvGraphicFramePr>
          <p:cNvPr id="6" name="Chart 0" descr=""/>
          <p:cNvGraphicFramePr/>
          <p:nvPr/>
        </p:nvGraphicFramePr>
        <p:xfrm>
          <a:off x="320040" y="77724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77840" y="804672"/>
            <a:ext cx="1627632" cy="1536192"/>
          </a:xfrm>
          <a:prstGeom prst="rect">
            <a:avLst/>
          </a:prstGeom>
          <a:solidFill>
            <a:srgbClr val="FFFFFF"/>
          </a:solidFill>
          <a:ln w="19050">
            <a:solidFill>
              <a:srgbClr val="00B8D4"/>
            </a:solidFill>
            <a:prstDash val="solid"/>
          </a:ln>
          <a:effectLst>
            <a:outerShdw sx="100000" sy="100000" kx="0" ky="0" algn="bl" rotWithShape="0" blurRad="50800" dist="12700" dir="8100000">
              <a:srgbClr val="000000">
                <a:alpha val="10000"/>
              </a:srgbClr>
            </a:outerShdw>
          </a:effectLst>
        </p:spPr>
      </p:sp>
      <p:sp>
        <p:nvSpPr>
          <p:cNvPr id="8" name="Shape 5"/>
          <p:cNvSpPr/>
          <p:nvPr/>
        </p:nvSpPr>
        <p:spPr>
          <a:xfrm>
            <a:off x="5577840" y="804672"/>
            <a:ext cx="54864" cy="1536192"/>
          </a:xfrm>
          <a:prstGeom prst="rect">
            <a:avLst/>
          </a:prstGeom>
          <a:solidFill>
            <a:srgbClr val="00B8D4"/>
          </a:solidFill>
          <a:ln w="12700">
            <a:solidFill>
              <a:srgbClr val="00B8D4"/>
            </a:solidFill>
            <a:prstDash val="solid"/>
          </a:ln>
        </p:spPr>
      </p:sp>
      <p:sp>
        <p:nvSpPr>
          <p:cNvPr id="9" name="Text 6"/>
          <p:cNvSpPr/>
          <p:nvPr/>
        </p:nvSpPr>
        <p:spPr>
          <a:xfrm>
            <a:off x="5705856" y="877824"/>
            <a:ext cx="1426464" cy="365760"/>
          </a:xfrm>
          <a:prstGeom prst="rect">
            <a:avLst/>
          </a:prstGeom>
          <a:noFill/>
          <a:ln/>
        </p:spPr>
        <p:txBody>
          <a:bodyPr wrap="square" lIns="0" tIns="0" rIns="0" bIns="0" rtlCol="0" anchor="ctr"/>
          <a:lstStyle/>
          <a:p>
            <a:pPr algn="l" indent="0" marL="0">
              <a:buNone/>
            </a:pPr>
            <a:r>
              <a:rPr lang="en-US" sz="950" b="1" dirty="0">
                <a:solidFill>
                  <a:srgbClr val="00B8D4"/>
                </a:solidFill>
              </a:rPr>
              <a:t>Works with Small Data</a:t>
            </a:r>
            <a:endParaRPr lang="en-US" sz="950" dirty="0"/>
          </a:p>
        </p:txBody>
      </p:sp>
      <p:sp>
        <p:nvSpPr>
          <p:cNvPr id="10" name="Text 7"/>
          <p:cNvSpPr/>
          <p:nvPr/>
        </p:nvSpPr>
        <p:spPr>
          <a:xfrm>
            <a:off x="5705856" y="1280160"/>
            <a:ext cx="1426464" cy="1005840"/>
          </a:xfrm>
          <a:prstGeom prst="rect">
            <a:avLst/>
          </a:prstGeom>
          <a:noFill/>
          <a:ln/>
        </p:spPr>
        <p:txBody>
          <a:bodyPr wrap="square" lIns="0" tIns="0" rIns="0" bIns="0" rtlCol="0" anchor="t"/>
          <a:lstStyle/>
          <a:p>
            <a:pPr algn="l" indent="0" marL="0">
              <a:buNone/>
            </a:pPr>
            <a:r>
              <a:rPr lang="en-US" sz="850" dirty="0">
                <a:solidFill>
                  <a:srgbClr val="3D5076"/>
                </a:solidFill>
              </a:rPr>
              <a:t>Ensemble of 200 decision trees — each tree sees a random subset of data. Robust even with 20 files.</a:t>
            </a:r>
            <a:endParaRPr lang="en-US" sz="850" dirty="0"/>
          </a:p>
        </p:txBody>
      </p:sp>
      <p:sp>
        <p:nvSpPr>
          <p:cNvPr id="11" name="Shape 8"/>
          <p:cNvSpPr/>
          <p:nvPr/>
        </p:nvSpPr>
        <p:spPr>
          <a:xfrm>
            <a:off x="7360920" y="804672"/>
            <a:ext cx="1627632" cy="1536192"/>
          </a:xfrm>
          <a:prstGeom prst="rect">
            <a:avLst/>
          </a:prstGeom>
          <a:solidFill>
            <a:srgbClr val="FFFFFF"/>
          </a:solidFill>
          <a:ln w="19050">
            <a:solidFill>
              <a:srgbClr val="00A3B8"/>
            </a:solidFill>
            <a:prstDash val="solid"/>
          </a:ln>
          <a:effectLst>
            <a:outerShdw sx="100000" sy="100000" kx="0" ky="0" algn="bl" rotWithShape="0" blurRad="50800" dist="12700" dir="8100000">
              <a:srgbClr val="000000">
                <a:alpha val="10000"/>
              </a:srgbClr>
            </a:outerShdw>
          </a:effectLst>
        </p:spPr>
      </p:sp>
      <p:sp>
        <p:nvSpPr>
          <p:cNvPr id="12" name="Shape 9"/>
          <p:cNvSpPr/>
          <p:nvPr/>
        </p:nvSpPr>
        <p:spPr>
          <a:xfrm>
            <a:off x="7360920" y="804672"/>
            <a:ext cx="54864" cy="1536192"/>
          </a:xfrm>
          <a:prstGeom prst="rect">
            <a:avLst/>
          </a:prstGeom>
          <a:solidFill>
            <a:srgbClr val="00A3B8"/>
          </a:solidFill>
          <a:ln w="12700">
            <a:solidFill>
              <a:srgbClr val="00A3B8"/>
            </a:solidFill>
            <a:prstDash val="solid"/>
          </a:ln>
        </p:spPr>
      </p:sp>
      <p:sp>
        <p:nvSpPr>
          <p:cNvPr id="13" name="Text 10"/>
          <p:cNvSpPr/>
          <p:nvPr/>
        </p:nvSpPr>
        <p:spPr>
          <a:xfrm>
            <a:off x="7488936" y="877824"/>
            <a:ext cx="1426464" cy="365760"/>
          </a:xfrm>
          <a:prstGeom prst="rect">
            <a:avLst/>
          </a:prstGeom>
          <a:noFill/>
          <a:ln/>
        </p:spPr>
        <p:txBody>
          <a:bodyPr wrap="square" lIns="0" tIns="0" rIns="0" bIns="0" rtlCol="0" anchor="ctr"/>
          <a:lstStyle/>
          <a:p>
            <a:pPr algn="l" indent="0" marL="0">
              <a:buNone/>
            </a:pPr>
            <a:r>
              <a:rPr lang="en-US" sz="950" b="1" dirty="0">
                <a:solidFill>
                  <a:srgbClr val="00A3B8"/>
                </a:solidFill>
              </a:rPr>
              <a:t>Feature Importance</a:t>
            </a:r>
            <a:endParaRPr lang="en-US" sz="950" dirty="0"/>
          </a:p>
        </p:txBody>
      </p:sp>
      <p:sp>
        <p:nvSpPr>
          <p:cNvPr id="14" name="Text 11"/>
          <p:cNvSpPr/>
          <p:nvPr/>
        </p:nvSpPr>
        <p:spPr>
          <a:xfrm>
            <a:off x="7488936" y="1280160"/>
            <a:ext cx="1426464" cy="1005840"/>
          </a:xfrm>
          <a:prstGeom prst="rect">
            <a:avLst/>
          </a:prstGeom>
          <a:noFill/>
          <a:ln/>
        </p:spPr>
        <p:txBody>
          <a:bodyPr wrap="square" lIns="0" tIns="0" rIns="0" bIns="0" rtlCol="0" anchor="t"/>
          <a:lstStyle/>
          <a:p>
            <a:pPr algn="l" indent="0" marL="0">
              <a:buNone/>
            </a:pPr>
            <a:r>
              <a:rPr lang="en-US" sz="850" dirty="0">
                <a:solidFill>
                  <a:srgbClr val="3D5076"/>
                </a:solidFill>
              </a:rPr>
              <a:t>Tells us WHICH audio features matter most — kurtosis, MFCC, spectral centroid. Explainable to managers.</a:t>
            </a:r>
            <a:endParaRPr lang="en-US" sz="850" dirty="0"/>
          </a:p>
        </p:txBody>
      </p:sp>
      <p:sp>
        <p:nvSpPr>
          <p:cNvPr id="15" name="Shape 12"/>
          <p:cNvSpPr/>
          <p:nvPr/>
        </p:nvSpPr>
        <p:spPr>
          <a:xfrm>
            <a:off x="5577840" y="2496312"/>
            <a:ext cx="1627632" cy="1536192"/>
          </a:xfrm>
          <a:prstGeom prst="rect">
            <a:avLst/>
          </a:prstGeom>
          <a:solidFill>
            <a:srgbClr val="FFFFFF"/>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16" name="Shape 13"/>
          <p:cNvSpPr/>
          <p:nvPr/>
        </p:nvSpPr>
        <p:spPr>
          <a:xfrm>
            <a:off x="5577840" y="2496312"/>
            <a:ext cx="54864" cy="1536192"/>
          </a:xfrm>
          <a:prstGeom prst="rect">
            <a:avLst/>
          </a:prstGeom>
          <a:solidFill>
            <a:srgbClr val="00C853"/>
          </a:solidFill>
          <a:ln w="12700">
            <a:solidFill>
              <a:srgbClr val="00C853"/>
            </a:solidFill>
            <a:prstDash val="solid"/>
          </a:ln>
        </p:spPr>
      </p:sp>
      <p:sp>
        <p:nvSpPr>
          <p:cNvPr id="17" name="Text 14"/>
          <p:cNvSpPr/>
          <p:nvPr/>
        </p:nvSpPr>
        <p:spPr>
          <a:xfrm>
            <a:off x="5705856" y="2569464"/>
            <a:ext cx="1426464" cy="365760"/>
          </a:xfrm>
          <a:prstGeom prst="rect">
            <a:avLst/>
          </a:prstGeom>
          <a:noFill/>
          <a:ln/>
        </p:spPr>
        <p:txBody>
          <a:bodyPr wrap="square" lIns="0" tIns="0" rIns="0" bIns="0" rtlCol="0" anchor="ctr"/>
          <a:lstStyle/>
          <a:p>
            <a:pPr algn="l" indent="0" marL="0">
              <a:buNone/>
            </a:pPr>
            <a:r>
              <a:rPr lang="en-US" sz="950" b="1" dirty="0">
                <a:solidFill>
                  <a:srgbClr val="00C853"/>
                </a:solidFill>
              </a:rPr>
              <a:t>Class Balancing</a:t>
            </a:r>
            <a:endParaRPr lang="en-US" sz="950" dirty="0"/>
          </a:p>
        </p:txBody>
      </p:sp>
      <p:sp>
        <p:nvSpPr>
          <p:cNvPr id="18" name="Text 15"/>
          <p:cNvSpPr/>
          <p:nvPr/>
        </p:nvSpPr>
        <p:spPr>
          <a:xfrm>
            <a:off x="5705856" y="2971800"/>
            <a:ext cx="1426464" cy="1005840"/>
          </a:xfrm>
          <a:prstGeom prst="rect">
            <a:avLst/>
          </a:prstGeom>
          <a:noFill/>
          <a:ln/>
        </p:spPr>
        <p:txBody>
          <a:bodyPr wrap="square" lIns="0" tIns="0" rIns="0" bIns="0" rtlCol="0" anchor="t"/>
          <a:lstStyle/>
          <a:p>
            <a:pPr algn="l" indent="0" marL="0">
              <a:buNone/>
            </a:pPr>
            <a:r>
              <a:rPr lang="en-US" sz="850" dirty="0">
                <a:solidFill>
                  <a:srgbClr val="3D5076"/>
                </a:solidFill>
              </a:rPr>
              <a:t>Built-in class_weight='balanced' — handles 13 OK vs 7 NOT OK imbalance automatically.</a:t>
            </a:r>
            <a:endParaRPr lang="en-US" sz="850" dirty="0"/>
          </a:p>
        </p:txBody>
      </p:sp>
      <p:sp>
        <p:nvSpPr>
          <p:cNvPr id="19" name="Shape 16"/>
          <p:cNvSpPr/>
          <p:nvPr/>
        </p:nvSpPr>
        <p:spPr>
          <a:xfrm>
            <a:off x="7360920" y="2496312"/>
            <a:ext cx="1627632" cy="1536192"/>
          </a:xfrm>
          <a:prstGeom prst="rect">
            <a:avLst/>
          </a:prstGeom>
          <a:solidFill>
            <a:srgbClr val="FFFFFF"/>
          </a:solidFill>
          <a:ln w="19050">
            <a:solidFill>
              <a:srgbClr val="FFB300"/>
            </a:solidFill>
            <a:prstDash val="solid"/>
          </a:ln>
          <a:effectLst>
            <a:outerShdw sx="100000" sy="100000" kx="0" ky="0" algn="bl" rotWithShape="0" blurRad="50800" dist="12700" dir="8100000">
              <a:srgbClr val="000000">
                <a:alpha val="10000"/>
              </a:srgbClr>
            </a:outerShdw>
          </a:effectLst>
        </p:spPr>
      </p:sp>
      <p:sp>
        <p:nvSpPr>
          <p:cNvPr id="20" name="Shape 17"/>
          <p:cNvSpPr/>
          <p:nvPr/>
        </p:nvSpPr>
        <p:spPr>
          <a:xfrm>
            <a:off x="7360920" y="2496312"/>
            <a:ext cx="54864" cy="1536192"/>
          </a:xfrm>
          <a:prstGeom prst="rect">
            <a:avLst/>
          </a:prstGeom>
          <a:solidFill>
            <a:srgbClr val="FFB300"/>
          </a:solidFill>
          <a:ln w="12700">
            <a:solidFill>
              <a:srgbClr val="FFB300"/>
            </a:solidFill>
            <a:prstDash val="solid"/>
          </a:ln>
        </p:spPr>
      </p:sp>
      <p:sp>
        <p:nvSpPr>
          <p:cNvPr id="21" name="Text 18"/>
          <p:cNvSpPr/>
          <p:nvPr/>
        </p:nvSpPr>
        <p:spPr>
          <a:xfrm>
            <a:off x="7488936" y="2569464"/>
            <a:ext cx="1426464" cy="365760"/>
          </a:xfrm>
          <a:prstGeom prst="rect">
            <a:avLst/>
          </a:prstGeom>
          <a:noFill/>
          <a:ln/>
        </p:spPr>
        <p:txBody>
          <a:bodyPr wrap="square" lIns="0" tIns="0" rIns="0" bIns="0" rtlCol="0" anchor="ctr"/>
          <a:lstStyle/>
          <a:p>
            <a:pPr algn="l" indent="0" marL="0">
              <a:buNone/>
            </a:pPr>
            <a:r>
              <a:rPr lang="en-US" sz="950" b="1" dirty="0">
                <a:solidFill>
                  <a:srgbClr val="FFB300"/>
                </a:solidFill>
              </a:rPr>
              <a:t>No Hyperparameter Tuning</a:t>
            </a:r>
            <a:endParaRPr lang="en-US" sz="950" dirty="0"/>
          </a:p>
        </p:txBody>
      </p:sp>
      <p:sp>
        <p:nvSpPr>
          <p:cNvPr id="22" name="Text 19"/>
          <p:cNvSpPr/>
          <p:nvPr/>
        </p:nvSpPr>
        <p:spPr>
          <a:xfrm>
            <a:off x="7488936" y="2971800"/>
            <a:ext cx="1426464" cy="1005840"/>
          </a:xfrm>
          <a:prstGeom prst="rect">
            <a:avLst/>
          </a:prstGeom>
          <a:noFill/>
          <a:ln/>
        </p:spPr>
        <p:txBody>
          <a:bodyPr wrap="square" lIns="0" tIns="0" rIns="0" bIns="0" rtlCol="0" anchor="t"/>
          <a:lstStyle/>
          <a:p>
            <a:pPr algn="l" indent="0" marL="0">
              <a:buNone/>
            </a:pPr>
            <a:r>
              <a:rPr lang="en-US" sz="850" dirty="0">
                <a:solidFill>
                  <a:srgbClr val="3D5076"/>
                </a:solidFill>
              </a:rPr>
              <a:t>Works well out of the box. Doesn't need GPU or complex setup. Fast prediction.</a:t>
            </a:r>
            <a:endParaRPr lang="en-US" sz="850" dirty="0"/>
          </a:p>
        </p:txBody>
      </p:sp>
      <p:sp>
        <p:nvSpPr>
          <p:cNvPr id="23" name="Shape 20"/>
          <p:cNvSpPr/>
          <p:nvPr/>
        </p:nvSpPr>
        <p:spPr>
          <a:xfrm>
            <a:off x="320040" y="4133088"/>
            <a:ext cx="8503920" cy="768096"/>
          </a:xfrm>
          <a:prstGeom prst="rect">
            <a:avLst/>
          </a:prstGeom>
          <a:solidFill>
            <a:srgbClr val="1B2A4A"/>
          </a:solidFill>
          <a:ln w="12700">
            <a:solidFill>
              <a:srgbClr val="2E4270"/>
            </a:solidFill>
            <a:prstDash val="solid"/>
          </a:ln>
        </p:spPr>
      </p:sp>
      <p:sp>
        <p:nvSpPr>
          <p:cNvPr id="24" name="Text 21"/>
          <p:cNvSpPr/>
          <p:nvPr/>
        </p:nvSpPr>
        <p:spPr>
          <a:xfrm>
            <a:off x="457200" y="4187952"/>
            <a:ext cx="2560320" cy="274320"/>
          </a:xfrm>
          <a:prstGeom prst="rect">
            <a:avLst/>
          </a:prstGeom>
          <a:noFill/>
          <a:ln/>
        </p:spPr>
        <p:txBody>
          <a:bodyPr wrap="square" lIns="0" tIns="0" rIns="0" bIns="0" rtlCol="0" anchor="ctr"/>
          <a:lstStyle/>
          <a:p>
            <a:pPr algn="l" indent="0" marL="0">
              <a:buNone/>
            </a:pPr>
            <a:r>
              <a:rPr lang="en-US" sz="950" b="1" dirty="0">
                <a:solidFill>
                  <a:srgbClr val="00B8D4"/>
                </a:solidFill>
              </a:rPr>
              <a:t>Future Model Upgrades (as data grows):</a:t>
            </a:r>
            <a:endParaRPr lang="en-US" sz="950" dirty="0"/>
          </a:p>
        </p:txBody>
      </p:sp>
      <p:sp>
        <p:nvSpPr>
          <p:cNvPr id="25" name="Text 22"/>
          <p:cNvSpPr/>
          <p:nvPr/>
        </p:nvSpPr>
        <p:spPr>
          <a:xfrm>
            <a:off x="457200" y="4462272"/>
            <a:ext cx="8321040" cy="365760"/>
          </a:xfrm>
          <a:prstGeom prst="rect">
            <a:avLst/>
          </a:prstGeom>
          <a:noFill/>
          <a:ln/>
        </p:spPr>
        <p:txBody>
          <a:bodyPr wrap="square" lIns="0" tIns="0" rIns="0" bIns="0" rtlCol="0" anchor="ctr"/>
          <a:lstStyle/>
          <a:p>
            <a:pPr algn="l" indent="0" marL="0">
              <a:buNone/>
            </a:pPr>
            <a:r>
              <a:rPr lang="en-US" sz="900" b="1" dirty="0">
                <a:solidFill>
                  <a:srgbClr val="00B8D4"/>
                </a:solidFill>
              </a:rPr>
              <a:t>50+ files/class:  </a:t>
            </a:r>
            <a:pPr algn="l" indent="0" marL="0">
              <a:buNone/>
            </a:pPr>
            <a:r>
              <a:rPr lang="en-US" sz="900" dirty="0">
                <a:solidFill>
                  <a:srgbClr val="FFFFFF"/>
                </a:solidFill>
              </a:rPr>
              <a:t>YAMNet Transfer Learning (Google pre-trained audio model)  </a:t>
            </a:r>
            <a:pPr algn="l" indent="0" marL="0">
              <a:buNone/>
            </a:pPr>
            <a:r>
              <a:rPr lang="en-US" sz="900" b="1" dirty="0">
                <a:solidFill>
                  <a:srgbClr val="FFB300"/>
                </a:solidFill>
              </a:rPr>
              <a:t>  100+ files/class:  </a:t>
            </a:r>
            <a:pPr algn="l" indent="0" marL="0">
              <a:buNone/>
            </a:pPr>
            <a:r>
              <a:rPr lang="en-US" sz="900" dirty="0">
                <a:solidFill>
                  <a:srgbClr val="FFFFFF"/>
                </a:solidFill>
              </a:rPr>
              <a:t>CNN on Mel Spectrogram (deep learning image classification on frequency maps)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43656"/>
          </a:solidFill>
          <a:ln w="12700">
            <a:solidFill>
              <a:srgbClr val="243656"/>
            </a:solidFill>
            <a:prstDash val="solid"/>
          </a:ln>
        </p:spPr>
      </p:sp>
      <p:sp>
        <p:nvSpPr>
          <p:cNvPr id="3" name="Shape 1"/>
          <p:cNvSpPr/>
          <p:nvPr/>
        </p:nvSpPr>
        <p:spPr>
          <a:xfrm>
            <a:off x="347472" y="164592"/>
            <a:ext cx="2011680" cy="256032"/>
          </a:xfrm>
          <a:prstGeom prst="roundRect">
            <a:avLst>
              <a:gd name="adj" fmla="val 50000"/>
            </a:avLst>
          </a:prstGeom>
          <a:solidFill>
            <a:srgbClr val="00C853">
              <a:alpha val="85000"/>
            </a:srgbClr>
          </a:solidFill>
          <a:ln w="12700">
            <a:solidFill>
              <a:srgbClr val="00C853"/>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DEPLOYMENT</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How Evaluators Use the System at BSR Track</a:t>
            </a:r>
            <a:endParaRPr lang="en-US" sz="1900" dirty="0"/>
          </a:p>
        </p:txBody>
      </p:sp>
      <p:sp>
        <p:nvSpPr>
          <p:cNvPr id="6" name="Shape 4"/>
          <p:cNvSpPr/>
          <p:nvPr/>
        </p:nvSpPr>
        <p:spPr>
          <a:xfrm>
            <a:off x="320040" y="914400"/>
            <a:ext cx="1572768" cy="219456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7" name="Shape 5"/>
          <p:cNvSpPr/>
          <p:nvPr/>
        </p:nvSpPr>
        <p:spPr>
          <a:xfrm>
            <a:off x="914400" y="722376"/>
            <a:ext cx="384048" cy="384048"/>
          </a:xfrm>
          <a:prstGeom prst="ellipse">
            <a:avLst/>
          </a:prstGeom>
          <a:solidFill>
            <a:srgbClr val="00B8D4"/>
          </a:solidFill>
          <a:ln w="25400">
            <a:solidFill>
              <a:srgbClr val="1B2A4A"/>
            </a:solidFill>
            <a:prstDash val="solid"/>
          </a:ln>
        </p:spPr>
      </p:sp>
      <p:sp>
        <p:nvSpPr>
          <p:cNvPr id="8" name="Text 6"/>
          <p:cNvSpPr/>
          <p:nvPr/>
        </p:nvSpPr>
        <p:spPr>
          <a:xfrm>
            <a:off x="914400" y="722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320040" y="987552"/>
            <a:ext cx="1572768"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20040" y="1536192"/>
            <a:ext cx="1572768" cy="310896"/>
          </a:xfrm>
          <a:prstGeom prst="rect">
            <a:avLst/>
          </a:prstGeom>
          <a:noFill/>
          <a:ln/>
        </p:spPr>
        <p:txBody>
          <a:bodyPr wrap="square" lIns="0" tIns="0" rIns="0" bIns="0" rtlCol="0" anchor="ctr"/>
          <a:lstStyle/>
          <a:p>
            <a:pPr algn="ctr" indent="0" marL="0">
              <a:buNone/>
            </a:pPr>
            <a:r>
              <a:rPr lang="en-US" sz="1100" b="1" dirty="0">
                <a:solidFill>
                  <a:srgbClr val="00B8D4"/>
                </a:solidFill>
              </a:rPr>
              <a:t>Record</a:t>
            </a:r>
            <a:endParaRPr lang="en-US" sz="1100" dirty="0"/>
          </a:p>
        </p:txBody>
      </p:sp>
      <p:sp>
        <p:nvSpPr>
          <p:cNvPr id="11" name="Text 9"/>
          <p:cNvSpPr/>
          <p:nvPr/>
        </p:nvSpPr>
        <p:spPr>
          <a:xfrm>
            <a:off x="411480" y="1901952"/>
            <a:ext cx="1389888" cy="1152144"/>
          </a:xfrm>
          <a:prstGeom prst="rect">
            <a:avLst/>
          </a:prstGeom>
          <a:noFill/>
          <a:ln/>
        </p:spPr>
        <p:txBody>
          <a:bodyPr wrap="square" lIns="0" tIns="0" rIns="0" bIns="0" rtlCol="0" anchor="t"/>
          <a:lstStyle/>
          <a:p>
            <a:pPr algn="ctr" indent="0" marL="0">
              <a:buNone/>
            </a:pPr>
            <a:r>
              <a:rPr lang="en-US" sz="850" dirty="0">
                <a:solidFill>
                  <a:srgbClr val="8A9BB5"/>
                </a:solidFill>
              </a:rPr>
              <a:t>Evaluator wears</a:t>
            </a:r>
            <a:endParaRPr lang="en-US" sz="850" dirty="0"/>
          </a:p>
          <a:p>
            <a:pPr algn="ctr" indent="0" marL="0">
              <a:buNone/>
            </a:pPr>
            <a:r>
              <a:rPr lang="en-US" sz="850" dirty="0">
                <a:solidFill>
                  <a:srgbClr val="8A9BB5"/>
                </a:solidFill>
              </a:rPr>
              <a:t>Bluetooth mic.</a:t>
            </a:r>
            <a:endParaRPr lang="en-US" sz="850" dirty="0"/>
          </a:p>
          <a:p>
            <a:pPr algn="ctr" indent="0" marL="0">
              <a:buNone/>
            </a:pPr>
            <a:r>
              <a:rPr lang="en-US" sz="850" dirty="0">
                <a:solidFill>
                  <a:srgbClr val="8A9BB5"/>
                </a:solidFill>
              </a:rPr>
              <a:t>Drive vehicle on</a:t>
            </a:r>
            <a:endParaRPr lang="en-US" sz="850" dirty="0"/>
          </a:p>
          <a:p>
            <a:pPr algn="ctr" indent="0" marL="0">
              <a:buNone/>
            </a:pPr>
            <a:r>
              <a:rPr lang="en-US" sz="850" dirty="0">
                <a:solidFill>
                  <a:srgbClr val="8A9BB5"/>
                </a:solidFill>
              </a:rPr>
              <a:t>BSR Track circuit.</a:t>
            </a:r>
            <a:endParaRPr lang="en-US" sz="850" dirty="0"/>
          </a:p>
        </p:txBody>
      </p:sp>
      <p:sp>
        <p:nvSpPr>
          <p:cNvPr id="12" name="Shape 10"/>
          <p:cNvSpPr/>
          <p:nvPr/>
        </p:nvSpPr>
        <p:spPr>
          <a:xfrm>
            <a:off x="1892808" y="2011680"/>
            <a:ext cx="137160" cy="0"/>
          </a:xfrm>
          <a:prstGeom prst="line">
            <a:avLst/>
          </a:prstGeom>
          <a:noFill/>
          <a:ln w="25400">
            <a:solidFill>
              <a:srgbClr val="00B8D4"/>
            </a:solidFill>
            <a:prstDash val="solid"/>
          </a:ln>
        </p:spPr>
      </p:sp>
      <p:sp>
        <p:nvSpPr>
          <p:cNvPr id="13" name="Shape 11"/>
          <p:cNvSpPr/>
          <p:nvPr/>
        </p:nvSpPr>
        <p:spPr>
          <a:xfrm>
            <a:off x="2029968" y="914400"/>
            <a:ext cx="1572768" cy="219456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2624328" y="722376"/>
            <a:ext cx="384048" cy="384048"/>
          </a:xfrm>
          <a:prstGeom prst="ellipse">
            <a:avLst/>
          </a:prstGeom>
          <a:solidFill>
            <a:srgbClr val="00B8D4"/>
          </a:solidFill>
          <a:ln w="25400">
            <a:solidFill>
              <a:srgbClr val="1B2A4A"/>
            </a:solidFill>
            <a:prstDash val="solid"/>
          </a:ln>
        </p:spPr>
      </p:sp>
      <p:sp>
        <p:nvSpPr>
          <p:cNvPr id="15" name="Text 13"/>
          <p:cNvSpPr/>
          <p:nvPr/>
        </p:nvSpPr>
        <p:spPr>
          <a:xfrm>
            <a:off x="2624328" y="722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4"/>
          <p:cNvSpPr/>
          <p:nvPr/>
        </p:nvSpPr>
        <p:spPr>
          <a:xfrm>
            <a:off x="2029968" y="987552"/>
            <a:ext cx="1572768"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2029968" y="1536192"/>
            <a:ext cx="1572768" cy="310896"/>
          </a:xfrm>
          <a:prstGeom prst="rect">
            <a:avLst/>
          </a:prstGeom>
          <a:noFill/>
          <a:ln/>
        </p:spPr>
        <p:txBody>
          <a:bodyPr wrap="square" lIns="0" tIns="0" rIns="0" bIns="0" rtlCol="0" anchor="ctr"/>
          <a:lstStyle/>
          <a:p>
            <a:pPr algn="ctr" indent="0" marL="0">
              <a:buNone/>
            </a:pPr>
            <a:r>
              <a:rPr lang="en-US" sz="1100" b="1" dirty="0">
                <a:solidFill>
                  <a:srgbClr val="00B8D4"/>
                </a:solidFill>
              </a:rPr>
              <a:t>Save File</a:t>
            </a:r>
            <a:endParaRPr lang="en-US" sz="1100" dirty="0"/>
          </a:p>
        </p:txBody>
      </p:sp>
      <p:sp>
        <p:nvSpPr>
          <p:cNvPr id="18" name="Text 16"/>
          <p:cNvSpPr/>
          <p:nvPr/>
        </p:nvSpPr>
        <p:spPr>
          <a:xfrm>
            <a:off x="2121408" y="1901952"/>
            <a:ext cx="1389888" cy="1152144"/>
          </a:xfrm>
          <a:prstGeom prst="rect">
            <a:avLst/>
          </a:prstGeom>
          <a:noFill/>
          <a:ln/>
        </p:spPr>
        <p:txBody>
          <a:bodyPr wrap="square" lIns="0" tIns="0" rIns="0" bIns="0" rtlCol="0" anchor="t"/>
          <a:lstStyle/>
          <a:p>
            <a:pPr algn="ctr" indent="0" marL="0">
              <a:buNone/>
            </a:pPr>
            <a:r>
              <a:rPr lang="en-US" sz="850" dirty="0">
                <a:solidFill>
                  <a:srgbClr val="8A9BB5"/>
                </a:solidFill>
              </a:rPr>
              <a:t>Save .WAV recording</a:t>
            </a:r>
            <a:endParaRPr lang="en-US" sz="850" dirty="0"/>
          </a:p>
          <a:p>
            <a:pPr algn="ctr" indent="0" marL="0">
              <a:buNone/>
            </a:pPr>
            <a:r>
              <a:rPr lang="en-US" sz="850" dirty="0">
                <a:solidFill>
                  <a:srgbClr val="8A9BB5"/>
                </a:solidFill>
              </a:rPr>
              <a:t>to OK or NOTOK</a:t>
            </a:r>
            <a:endParaRPr lang="en-US" sz="850" dirty="0"/>
          </a:p>
          <a:p>
            <a:pPr algn="ctr" indent="0" marL="0">
              <a:buNone/>
            </a:pPr>
            <a:r>
              <a:rPr lang="en-US" sz="850" dirty="0">
                <a:solidFill>
                  <a:srgbClr val="8A9BB5"/>
                </a:solidFill>
              </a:rPr>
              <a:t>folder on PC/laptop.</a:t>
            </a:r>
            <a:endParaRPr lang="en-US" sz="850" dirty="0"/>
          </a:p>
        </p:txBody>
      </p:sp>
      <p:sp>
        <p:nvSpPr>
          <p:cNvPr id="19" name="Shape 17"/>
          <p:cNvSpPr/>
          <p:nvPr/>
        </p:nvSpPr>
        <p:spPr>
          <a:xfrm>
            <a:off x="3602736" y="2011680"/>
            <a:ext cx="137160" cy="0"/>
          </a:xfrm>
          <a:prstGeom prst="line">
            <a:avLst/>
          </a:prstGeom>
          <a:noFill/>
          <a:ln w="25400">
            <a:solidFill>
              <a:srgbClr val="00B8D4"/>
            </a:solidFill>
            <a:prstDash val="solid"/>
          </a:ln>
        </p:spPr>
      </p:sp>
      <p:sp>
        <p:nvSpPr>
          <p:cNvPr id="20" name="Shape 18"/>
          <p:cNvSpPr/>
          <p:nvPr/>
        </p:nvSpPr>
        <p:spPr>
          <a:xfrm>
            <a:off x="3739896" y="914400"/>
            <a:ext cx="1572768" cy="219456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21" name="Shape 19"/>
          <p:cNvSpPr/>
          <p:nvPr/>
        </p:nvSpPr>
        <p:spPr>
          <a:xfrm>
            <a:off x="4334256" y="722376"/>
            <a:ext cx="384048" cy="384048"/>
          </a:xfrm>
          <a:prstGeom prst="ellipse">
            <a:avLst/>
          </a:prstGeom>
          <a:solidFill>
            <a:srgbClr val="00B8D4"/>
          </a:solidFill>
          <a:ln w="25400">
            <a:solidFill>
              <a:srgbClr val="1B2A4A"/>
            </a:solidFill>
            <a:prstDash val="solid"/>
          </a:ln>
        </p:spPr>
      </p:sp>
      <p:sp>
        <p:nvSpPr>
          <p:cNvPr id="22" name="Text 20"/>
          <p:cNvSpPr/>
          <p:nvPr/>
        </p:nvSpPr>
        <p:spPr>
          <a:xfrm>
            <a:off x="4334256" y="722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1"/>
          <p:cNvSpPr/>
          <p:nvPr/>
        </p:nvSpPr>
        <p:spPr>
          <a:xfrm>
            <a:off x="3739896" y="987552"/>
            <a:ext cx="1572768"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4" name="Text 22"/>
          <p:cNvSpPr/>
          <p:nvPr/>
        </p:nvSpPr>
        <p:spPr>
          <a:xfrm>
            <a:off x="3739896" y="1536192"/>
            <a:ext cx="1572768" cy="310896"/>
          </a:xfrm>
          <a:prstGeom prst="rect">
            <a:avLst/>
          </a:prstGeom>
          <a:noFill/>
          <a:ln/>
        </p:spPr>
        <p:txBody>
          <a:bodyPr wrap="square" lIns="0" tIns="0" rIns="0" bIns="0" rtlCol="0" anchor="ctr"/>
          <a:lstStyle/>
          <a:p>
            <a:pPr algn="ctr" indent="0" marL="0">
              <a:buNone/>
            </a:pPr>
            <a:r>
              <a:rPr lang="en-US" sz="1100" b="1" dirty="0">
                <a:solidFill>
                  <a:srgbClr val="00B8D4"/>
                </a:solidFill>
              </a:rPr>
              <a:t>Run Prediction</a:t>
            </a:r>
            <a:endParaRPr lang="en-US" sz="1100" dirty="0"/>
          </a:p>
        </p:txBody>
      </p:sp>
      <p:sp>
        <p:nvSpPr>
          <p:cNvPr id="25" name="Text 23"/>
          <p:cNvSpPr/>
          <p:nvPr/>
        </p:nvSpPr>
        <p:spPr>
          <a:xfrm>
            <a:off x="3831336" y="1901952"/>
            <a:ext cx="1389888" cy="1152144"/>
          </a:xfrm>
          <a:prstGeom prst="rect">
            <a:avLst/>
          </a:prstGeom>
          <a:noFill/>
          <a:ln/>
        </p:spPr>
        <p:txBody>
          <a:bodyPr wrap="square" lIns="0" tIns="0" rIns="0" bIns="0" rtlCol="0" anchor="t"/>
          <a:lstStyle/>
          <a:p>
            <a:pPr algn="ctr" indent="0" marL="0">
              <a:buNone/>
            </a:pPr>
            <a:r>
              <a:rPr lang="en-US" sz="850" dirty="0">
                <a:solidFill>
                  <a:srgbClr val="8A9BB5"/>
                </a:solidFill>
              </a:rPr>
              <a:t>python predict.py</a:t>
            </a:r>
            <a:endParaRPr lang="en-US" sz="850" dirty="0"/>
          </a:p>
          <a:p>
            <a:pPr algn="ctr" indent="0" marL="0">
              <a:buNone/>
            </a:pPr>
            <a:r>
              <a:rPr lang="en-US" sz="850" dirty="0">
                <a:solidFill>
                  <a:srgbClr val="8A9BB5"/>
                </a:solidFill>
              </a:rPr>
              <a:t>audio_file.wav</a:t>
            </a:r>
            <a:endParaRPr lang="en-US" sz="850" dirty="0"/>
          </a:p>
          <a:p>
            <a:pPr algn="ctr" indent="0" marL="0">
              <a:buNone/>
            </a:pPr>
            <a:r>
              <a:rPr lang="en-US" sz="850" dirty="0">
                <a:solidFill>
                  <a:srgbClr val="8A9BB5"/>
                </a:solidFill>
              </a:rPr>
              <a:t>Instant result</a:t>
            </a:r>
            <a:endParaRPr lang="en-US" sz="850" dirty="0"/>
          </a:p>
          <a:p>
            <a:pPr algn="ctr" indent="0" marL="0">
              <a:buNone/>
            </a:pPr>
            <a:r>
              <a:rPr lang="en-US" sz="850" dirty="0">
                <a:solidFill>
                  <a:srgbClr val="8A9BB5"/>
                </a:solidFill>
              </a:rPr>
              <a:t>&lt; 1 second.</a:t>
            </a:r>
            <a:endParaRPr lang="en-US" sz="850" dirty="0"/>
          </a:p>
        </p:txBody>
      </p:sp>
      <p:sp>
        <p:nvSpPr>
          <p:cNvPr id="26" name="Shape 24"/>
          <p:cNvSpPr/>
          <p:nvPr/>
        </p:nvSpPr>
        <p:spPr>
          <a:xfrm>
            <a:off x="5312664" y="2011680"/>
            <a:ext cx="137160" cy="0"/>
          </a:xfrm>
          <a:prstGeom prst="line">
            <a:avLst/>
          </a:prstGeom>
          <a:noFill/>
          <a:ln w="25400">
            <a:solidFill>
              <a:srgbClr val="00B8D4"/>
            </a:solidFill>
            <a:prstDash val="solid"/>
          </a:ln>
        </p:spPr>
      </p:sp>
      <p:sp>
        <p:nvSpPr>
          <p:cNvPr id="27" name="Shape 25"/>
          <p:cNvSpPr/>
          <p:nvPr/>
        </p:nvSpPr>
        <p:spPr>
          <a:xfrm>
            <a:off x="5449824" y="914400"/>
            <a:ext cx="1572768" cy="219456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28" name="Shape 26"/>
          <p:cNvSpPr/>
          <p:nvPr/>
        </p:nvSpPr>
        <p:spPr>
          <a:xfrm>
            <a:off x="6044184" y="722376"/>
            <a:ext cx="384048" cy="384048"/>
          </a:xfrm>
          <a:prstGeom prst="ellipse">
            <a:avLst/>
          </a:prstGeom>
          <a:solidFill>
            <a:srgbClr val="00B8D4"/>
          </a:solidFill>
          <a:ln w="25400">
            <a:solidFill>
              <a:srgbClr val="1B2A4A"/>
            </a:solidFill>
            <a:prstDash val="solid"/>
          </a:ln>
        </p:spPr>
      </p:sp>
      <p:sp>
        <p:nvSpPr>
          <p:cNvPr id="29" name="Text 27"/>
          <p:cNvSpPr/>
          <p:nvPr/>
        </p:nvSpPr>
        <p:spPr>
          <a:xfrm>
            <a:off x="6044184" y="722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0" name="Text 28"/>
          <p:cNvSpPr/>
          <p:nvPr/>
        </p:nvSpPr>
        <p:spPr>
          <a:xfrm>
            <a:off x="5449824" y="987552"/>
            <a:ext cx="1572768"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31" name="Text 29"/>
          <p:cNvSpPr/>
          <p:nvPr/>
        </p:nvSpPr>
        <p:spPr>
          <a:xfrm>
            <a:off x="5449824" y="1536192"/>
            <a:ext cx="1572768" cy="310896"/>
          </a:xfrm>
          <a:prstGeom prst="rect">
            <a:avLst/>
          </a:prstGeom>
          <a:noFill/>
          <a:ln/>
        </p:spPr>
        <p:txBody>
          <a:bodyPr wrap="square" lIns="0" tIns="0" rIns="0" bIns="0" rtlCol="0" anchor="ctr"/>
          <a:lstStyle/>
          <a:p>
            <a:pPr algn="ctr" indent="0" marL="0">
              <a:buNone/>
            </a:pPr>
            <a:r>
              <a:rPr lang="en-US" sz="1100" b="1" dirty="0">
                <a:solidFill>
                  <a:srgbClr val="00B8D4"/>
                </a:solidFill>
              </a:rPr>
              <a:t>Get Result</a:t>
            </a:r>
            <a:endParaRPr lang="en-US" sz="1100" dirty="0"/>
          </a:p>
        </p:txBody>
      </p:sp>
      <p:sp>
        <p:nvSpPr>
          <p:cNvPr id="32" name="Text 30"/>
          <p:cNvSpPr/>
          <p:nvPr/>
        </p:nvSpPr>
        <p:spPr>
          <a:xfrm>
            <a:off x="5541264" y="1901952"/>
            <a:ext cx="1389888" cy="1152144"/>
          </a:xfrm>
          <a:prstGeom prst="rect">
            <a:avLst/>
          </a:prstGeom>
          <a:noFill/>
          <a:ln/>
        </p:spPr>
        <p:txBody>
          <a:bodyPr wrap="square" lIns="0" tIns="0" rIns="0" bIns="0" rtlCol="0" anchor="t"/>
          <a:lstStyle/>
          <a:p>
            <a:pPr algn="ctr" indent="0" marL="0">
              <a:buNone/>
            </a:pPr>
            <a:r>
              <a:rPr lang="en-US" sz="850" dirty="0">
                <a:solidFill>
                  <a:srgbClr val="8A9BB5"/>
                </a:solidFill>
              </a:rPr>
              <a:t>OK ✅ or NOT OK ⚠️</a:t>
            </a:r>
            <a:endParaRPr lang="en-US" sz="850" dirty="0"/>
          </a:p>
          <a:p>
            <a:pPr algn="ctr" indent="0" marL="0">
              <a:buNone/>
            </a:pPr>
            <a:r>
              <a:rPr lang="en-US" sz="850" dirty="0">
                <a:solidFill>
                  <a:srgbClr val="8A9BB5"/>
                </a:solidFill>
              </a:rPr>
              <a:t>With % confidence</a:t>
            </a:r>
            <a:endParaRPr lang="en-US" sz="850" dirty="0"/>
          </a:p>
          <a:p>
            <a:pPr algn="ctr" indent="0" marL="0">
              <a:buNone/>
            </a:pPr>
            <a:r>
              <a:rPr lang="en-US" sz="850" dirty="0">
                <a:solidFill>
                  <a:srgbClr val="8A9BB5"/>
                </a:solidFill>
              </a:rPr>
              <a:t>All files logged</a:t>
            </a:r>
            <a:endParaRPr lang="en-US" sz="850" dirty="0"/>
          </a:p>
          <a:p>
            <a:pPr algn="ctr" indent="0" marL="0">
              <a:buNone/>
            </a:pPr>
            <a:r>
              <a:rPr lang="en-US" sz="850" dirty="0">
                <a:solidFill>
                  <a:srgbClr val="8A9BB5"/>
                </a:solidFill>
              </a:rPr>
              <a:t>automatically.</a:t>
            </a:r>
            <a:endParaRPr lang="en-US" sz="850" dirty="0"/>
          </a:p>
        </p:txBody>
      </p:sp>
      <p:sp>
        <p:nvSpPr>
          <p:cNvPr id="33" name="Shape 31"/>
          <p:cNvSpPr/>
          <p:nvPr/>
        </p:nvSpPr>
        <p:spPr>
          <a:xfrm>
            <a:off x="7022592" y="2011680"/>
            <a:ext cx="137160" cy="0"/>
          </a:xfrm>
          <a:prstGeom prst="line">
            <a:avLst/>
          </a:prstGeom>
          <a:noFill/>
          <a:ln w="25400">
            <a:solidFill>
              <a:srgbClr val="00B8D4"/>
            </a:solidFill>
            <a:prstDash val="solid"/>
          </a:ln>
        </p:spPr>
      </p:sp>
      <p:sp>
        <p:nvSpPr>
          <p:cNvPr id="34" name="Shape 32"/>
          <p:cNvSpPr/>
          <p:nvPr/>
        </p:nvSpPr>
        <p:spPr>
          <a:xfrm>
            <a:off x="7159752" y="914400"/>
            <a:ext cx="1572768" cy="2194560"/>
          </a:xfrm>
          <a:prstGeom prst="rect">
            <a:avLst/>
          </a:prstGeom>
          <a:solidFill>
            <a:srgbClr val="243656"/>
          </a:solidFill>
          <a:ln w="19050">
            <a:solidFill>
              <a:srgbClr val="00B8D4"/>
            </a:solidFill>
            <a:prstDash val="solid"/>
          </a:ln>
          <a:effectLst>
            <a:outerShdw sx="100000" sy="100000" kx="0" ky="0" algn="bl" rotWithShape="0" blurRad="76200" dist="25400" dir="8100000">
              <a:srgbClr val="000000">
                <a:alpha val="15000"/>
              </a:srgbClr>
            </a:outerShdw>
          </a:effectLst>
        </p:spPr>
      </p:sp>
      <p:sp>
        <p:nvSpPr>
          <p:cNvPr id="35" name="Shape 33"/>
          <p:cNvSpPr/>
          <p:nvPr/>
        </p:nvSpPr>
        <p:spPr>
          <a:xfrm>
            <a:off x="7754112" y="722376"/>
            <a:ext cx="384048" cy="384048"/>
          </a:xfrm>
          <a:prstGeom prst="ellipse">
            <a:avLst/>
          </a:prstGeom>
          <a:solidFill>
            <a:srgbClr val="00B8D4"/>
          </a:solidFill>
          <a:ln w="25400">
            <a:solidFill>
              <a:srgbClr val="1B2A4A"/>
            </a:solidFill>
            <a:prstDash val="solid"/>
          </a:ln>
        </p:spPr>
      </p:sp>
      <p:sp>
        <p:nvSpPr>
          <p:cNvPr id="36" name="Text 34"/>
          <p:cNvSpPr/>
          <p:nvPr/>
        </p:nvSpPr>
        <p:spPr>
          <a:xfrm>
            <a:off x="7754112" y="722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7" name="Text 35"/>
          <p:cNvSpPr/>
          <p:nvPr/>
        </p:nvSpPr>
        <p:spPr>
          <a:xfrm>
            <a:off x="7159752" y="987552"/>
            <a:ext cx="1572768"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38" name="Text 36"/>
          <p:cNvSpPr/>
          <p:nvPr/>
        </p:nvSpPr>
        <p:spPr>
          <a:xfrm>
            <a:off x="7159752" y="1536192"/>
            <a:ext cx="1572768" cy="310896"/>
          </a:xfrm>
          <a:prstGeom prst="rect">
            <a:avLst/>
          </a:prstGeom>
          <a:noFill/>
          <a:ln/>
        </p:spPr>
        <p:txBody>
          <a:bodyPr wrap="square" lIns="0" tIns="0" rIns="0" bIns="0" rtlCol="0" anchor="ctr"/>
          <a:lstStyle/>
          <a:p>
            <a:pPr algn="ctr" indent="0" marL="0">
              <a:buNone/>
            </a:pPr>
            <a:r>
              <a:rPr lang="en-US" sz="1100" b="1" dirty="0">
                <a:solidFill>
                  <a:srgbClr val="00B8D4"/>
                </a:solidFill>
              </a:rPr>
              <a:t>Document</a:t>
            </a:r>
            <a:endParaRPr lang="en-US" sz="1100" dirty="0"/>
          </a:p>
        </p:txBody>
      </p:sp>
      <p:sp>
        <p:nvSpPr>
          <p:cNvPr id="39" name="Text 37"/>
          <p:cNvSpPr/>
          <p:nvPr/>
        </p:nvSpPr>
        <p:spPr>
          <a:xfrm>
            <a:off x="7251192" y="1901952"/>
            <a:ext cx="1389888" cy="1152144"/>
          </a:xfrm>
          <a:prstGeom prst="rect">
            <a:avLst/>
          </a:prstGeom>
          <a:noFill/>
          <a:ln/>
        </p:spPr>
        <p:txBody>
          <a:bodyPr wrap="square" lIns="0" tIns="0" rIns="0" bIns="0" rtlCol="0" anchor="t"/>
          <a:lstStyle/>
          <a:p>
            <a:pPr algn="ctr" indent="0" marL="0">
              <a:buNone/>
            </a:pPr>
            <a:r>
              <a:rPr lang="en-US" sz="850" dirty="0">
                <a:solidFill>
                  <a:srgbClr val="8A9BB5"/>
                </a:solidFill>
              </a:rPr>
              <a:t>Result saved to</a:t>
            </a:r>
            <a:endParaRPr lang="en-US" sz="850" dirty="0"/>
          </a:p>
          <a:p>
            <a:pPr algn="ctr" indent="0" marL="0">
              <a:buNone/>
            </a:pPr>
            <a:r>
              <a:rPr lang="en-US" sz="850" dirty="0">
                <a:solidFill>
                  <a:srgbClr val="8A9BB5"/>
                </a:solidFill>
              </a:rPr>
              <a:t>QC log with date,</a:t>
            </a:r>
            <a:endParaRPr lang="en-US" sz="850" dirty="0"/>
          </a:p>
          <a:p>
            <a:pPr algn="ctr" indent="0" marL="0">
              <a:buNone/>
            </a:pPr>
            <a:r>
              <a:rPr lang="en-US" sz="850" dirty="0">
                <a:solidFill>
                  <a:srgbClr val="8A9BB5"/>
                </a:solidFill>
              </a:rPr>
              <a:t>vehicle ID,</a:t>
            </a:r>
            <a:endParaRPr lang="en-US" sz="850" dirty="0"/>
          </a:p>
          <a:p>
            <a:pPr algn="ctr" indent="0" marL="0">
              <a:buNone/>
            </a:pPr>
            <a:r>
              <a:rPr lang="en-US" sz="850" dirty="0">
                <a:solidFill>
                  <a:srgbClr val="8A9BB5"/>
                </a:solidFill>
              </a:rPr>
              <a:t>noise type.</a:t>
            </a:r>
            <a:endParaRPr lang="en-US" sz="850" dirty="0"/>
          </a:p>
        </p:txBody>
      </p:sp>
      <p:sp>
        <p:nvSpPr>
          <p:cNvPr id="40" name="Shape 38"/>
          <p:cNvSpPr/>
          <p:nvPr/>
        </p:nvSpPr>
        <p:spPr>
          <a:xfrm>
            <a:off x="320040" y="3291840"/>
            <a:ext cx="3977640" cy="1572768"/>
          </a:xfrm>
          <a:prstGeom prst="rect">
            <a:avLst/>
          </a:prstGeom>
          <a:solidFill>
            <a:srgbClr val="1B2A4A"/>
          </a:solidFill>
          <a:ln w="19050">
            <a:solidFill>
              <a:srgbClr val="00C853"/>
            </a:solidFill>
            <a:prstDash val="solid"/>
          </a:ln>
          <a:effectLst>
            <a:outerShdw sx="100000" sy="100000" kx="0" ky="0" algn="bl" rotWithShape="0" blurRad="63500" dist="25400" dir="8100000">
              <a:srgbClr val="000000">
                <a:alpha val="12000"/>
              </a:srgbClr>
            </a:outerShdw>
          </a:effectLst>
        </p:spPr>
      </p:sp>
      <p:sp>
        <p:nvSpPr>
          <p:cNvPr id="41" name="Shape 39"/>
          <p:cNvSpPr/>
          <p:nvPr/>
        </p:nvSpPr>
        <p:spPr>
          <a:xfrm>
            <a:off x="320040" y="3291840"/>
            <a:ext cx="54864" cy="1572768"/>
          </a:xfrm>
          <a:prstGeom prst="rect">
            <a:avLst/>
          </a:prstGeom>
          <a:solidFill>
            <a:srgbClr val="00C853"/>
          </a:solidFill>
          <a:ln w="12700">
            <a:solidFill>
              <a:srgbClr val="00C853"/>
            </a:solidFill>
            <a:prstDash val="solid"/>
          </a:ln>
        </p:spPr>
      </p:sp>
      <p:sp>
        <p:nvSpPr>
          <p:cNvPr id="42" name="Text 40"/>
          <p:cNvSpPr/>
          <p:nvPr/>
        </p:nvSpPr>
        <p:spPr>
          <a:xfrm>
            <a:off x="475488" y="3346704"/>
            <a:ext cx="3657600" cy="310896"/>
          </a:xfrm>
          <a:prstGeom prst="rect">
            <a:avLst/>
          </a:prstGeom>
          <a:noFill/>
          <a:ln/>
        </p:spPr>
        <p:txBody>
          <a:bodyPr wrap="square" lIns="0" tIns="0" rIns="0" bIns="0" rtlCol="0" anchor="ctr"/>
          <a:lstStyle/>
          <a:p>
            <a:pPr algn="l" indent="0" marL="0">
              <a:buNone/>
            </a:pPr>
            <a:r>
              <a:rPr lang="en-US" sz="1050" b="1" dirty="0">
                <a:solidFill>
                  <a:srgbClr val="00C853"/>
                </a:solidFill>
              </a:rPr>
              <a:t>Sample Output — OK Vehicle</a:t>
            </a:r>
            <a:endParaRPr lang="en-US" sz="1050" dirty="0"/>
          </a:p>
        </p:txBody>
      </p:sp>
      <p:sp>
        <p:nvSpPr>
          <p:cNvPr id="43" name="Text 41"/>
          <p:cNvSpPr/>
          <p:nvPr/>
        </p:nvSpPr>
        <p:spPr>
          <a:xfrm>
            <a:off x="475488" y="3703320"/>
            <a:ext cx="3657600" cy="1078992"/>
          </a:xfrm>
          <a:prstGeom prst="rect">
            <a:avLst/>
          </a:prstGeom>
          <a:noFill/>
          <a:ln/>
        </p:spPr>
        <p:txBody>
          <a:bodyPr wrap="square" lIns="0" tIns="0" rIns="0" bIns="0" rtlCol="0" anchor="t"/>
          <a:lstStyle/>
          <a:p>
            <a:pPr algn="l" indent="0" marL="0">
              <a:buNone/>
            </a:pPr>
            <a:r>
              <a:rPr lang="en-US" sz="900" dirty="0">
                <a:solidFill>
                  <a:srgbClr val="FFFFFF"/>
                </a:solidFill>
                <a:latin typeface="Consolas" pitchFamily="34" charset="0"/>
                <a:ea typeface="Consolas" pitchFamily="34" charset="-122"/>
                <a:cs typeface="Consolas" pitchFamily="34" charset="-120"/>
              </a:rPr>
              <a:t>==================================================
</a:t>
            </a:r>
            <a:pPr algn="l" indent="0" marL="0">
              <a:buNone/>
            </a:pPr>
            <a:r>
              <a:rPr lang="en-US" sz="900" dirty="0">
                <a:solidFill>
                  <a:srgbClr val="FFFFFF"/>
                </a:solidFill>
                <a:latin typeface="Consolas" pitchFamily="34" charset="0"/>
                <a:ea typeface="Consolas" pitchFamily="34" charset="-122"/>
                <a:cs typeface="Consolas" pitchFamily="34" charset="-120"/>
              </a:rPr>
              <a:t>  File    : 50760_ok.wav
</a:t>
            </a:r>
            <a:pPr algn="l" indent="0" marL="0">
              <a:buNone/>
            </a:pPr>
            <a:r>
              <a:rPr lang="en-US" sz="900" dirty="0">
                <a:solidFill>
                  <a:srgbClr val="FFFFFF"/>
                </a:solidFill>
                <a:latin typeface="Consolas" pitchFamily="34" charset="0"/>
                <a:ea typeface="Consolas" pitchFamily="34" charset="-122"/>
                <a:cs typeface="Consolas" pitchFamily="34" charset="-120"/>
              </a:rPr>
              <a:t>  Result  : </a:t>
            </a:r>
            <a:pPr algn="l" indent="0" marL="0">
              <a:buNone/>
            </a:pPr>
            <a:r>
              <a:rPr lang="en-US" sz="900" b="1" dirty="0">
                <a:solidFill>
                  <a:srgbClr val="00C853"/>
                </a:solidFill>
                <a:latin typeface="Consolas" pitchFamily="34" charset="0"/>
                <a:ea typeface="Consolas" pitchFamily="34" charset="-122"/>
                <a:cs typeface="Consolas" pitchFamily="34" charset="-120"/>
              </a:rPr>
              <a:t>OK ✅
</a:t>
            </a:r>
            <a:pPr algn="l" indent="0" marL="0">
              <a:buNone/>
            </a:pPr>
            <a:r>
              <a:rPr lang="en-US" sz="900" dirty="0">
                <a:solidFill>
                  <a:srgbClr val="FFFFFF"/>
                </a:solidFill>
                <a:latin typeface="Consolas" pitchFamily="34" charset="0"/>
                <a:ea typeface="Consolas" pitchFamily="34" charset="-122"/>
                <a:cs typeface="Consolas" pitchFamily="34" charset="-120"/>
              </a:rPr>
              <a:t>  NOT OK% : 0.3%
</a:t>
            </a:r>
            <a:pPr algn="l" indent="0" marL="0">
              <a:buNone/>
            </a:pPr>
            <a:r>
              <a:rPr lang="en-US" sz="900" dirty="0">
                <a:solidFill>
                  <a:srgbClr val="FFFFFF"/>
                </a:solidFill>
                <a:latin typeface="Consolas" pitchFamily="34" charset="0"/>
                <a:ea typeface="Consolas" pitchFamily="34" charset="-122"/>
                <a:cs typeface="Consolas" pitchFamily="34" charset="-120"/>
              </a:rPr>
              <a:t>==================================================</a:t>
            </a:r>
            <a:endParaRPr lang="en-US" sz="900" dirty="0"/>
          </a:p>
        </p:txBody>
      </p:sp>
      <p:sp>
        <p:nvSpPr>
          <p:cNvPr id="44" name="Shape 42"/>
          <p:cNvSpPr/>
          <p:nvPr/>
        </p:nvSpPr>
        <p:spPr>
          <a:xfrm>
            <a:off x="4480560" y="3291840"/>
            <a:ext cx="4352544" cy="1572768"/>
          </a:xfrm>
          <a:prstGeom prst="rect">
            <a:avLst/>
          </a:prstGeom>
          <a:solidFill>
            <a:srgbClr val="1B2A4A"/>
          </a:solidFill>
          <a:ln w="19050">
            <a:solidFill>
              <a:srgbClr val="FF3D3D"/>
            </a:solidFill>
            <a:prstDash val="solid"/>
          </a:ln>
          <a:effectLst>
            <a:outerShdw sx="100000" sy="100000" kx="0" ky="0" algn="bl" rotWithShape="0" blurRad="63500" dist="25400" dir="8100000">
              <a:srgbClr val="000000">
                <a:alpha val="12000"/>
              </a:srgbClr>
            </a:outerShdw>
          </a:effectLst>
        </p:spPr>
      </p:sp>
      <p:sp>
        <p:nvSpPr>
          <p:cNvPr id="45" name="Shape 43"/>
          <p:cNvSpPr/>
          <p:nvPr/>
        </p:nvSpPr>
        <p:spPr>
          <a:xfrm>
            <a:off x="4480560" y="3291840"/>
            <a:ext cx="54864" cy="1572768"/>
          </a:xfrm>
          <a:prstGeom prst="rect">
            <a:avLst/>
          </a:prstGeom>
          <a:solidFill>
            <a:srgbClr val="FF3D3D"/>
          </a:solidFill>
          <a:ln w="12700">
            <a:solidFill>
              <a:srgbClr val="FF3D3D"/>
            </a:solidFill>
            <a:prstDash val="solid"/>
          </a:ln>
        </p:spPr>
      </p:sp>
      <p:sp>
        <p:nvSpPr>
          <p:cNvPr id="46" name="Text 44"/>
          <p:cNvSpPr/>
          <p:nvPr/>
        </p:nvSpPr>
        <p:spPr>
          <a:xfrm>
            <a:off x="4636008" y="3346704"/>
            <a:ext cx="4023360" cy="310896"/>
          </a:xfrm>
          <a:prstGeom prst="rect">
            <a:avLst/>
          </a:prstGeom>
          <a:noFill/>
          <a:ln/>
        </p:spPr>
        <p:txBody>
          <a:bodyPr wrap="square" lIns="0" tIns="0" rIns="0" bIns="0" rtlCol="0" anchor="ctr"/>
          <a:lstStyle/>
          <a:p>
            <a:pPr algn="l" indent="0" marL="0">
              <a:buNone/>
            </a:pPr>
            <a:r>
              <a:rPr lang="en-US" sz="1050" b="1" dirty="0">
                <a:solidFill>
                  <a:srgbClr val="FF3D3D"/>
                </a:solidFill>
              </a:rPr>
              <a:t>Sample Output — NOT OK Vehicle</a:t>
            </a:r>
            <a:endParaRPr lang="en-US" sz="1050" dirty="0"/>
          </a:p>
        </p:txBody>
      </p:sp>
      <p:sp>
        <p:nvSpPr>
          <p:cNvPr id="47" name="Text 45"/>
          <p:cNvSpPr/>
          <p:nvPr/>
        </p:nvSpPr>
        <p:spPr>
          <a:xfrm>
            <a:off x="4636008" y="3703320"/>
            <a:ext cx="4114800" cy="1078992"/>
          </a:xfrm>
          <a:prstGeom prst="rect">
            <a:avLst/>
          </a:prstGeom>
          <a:noFill/>
          <a:ln/>
        </p:spPr>
        <p:txBody>
          <a:bodyPr wrap="square" lIns="0" tIns="0" rIns="0" bIns="0" rtlCol="0" anchor="t"/>
          <a:lstStyle/>
          <a:p>
            <a:pPr algn="l" indent="0" marL="0">
              <a:buNone/>
            </a:pPr>
            <a:r>
              <a:rPr lang="en-US" sz="900" dirty="0">
                <a:solidFill>
                  <a:srgbClr val="FFFFFF"/>
                </a:solidFill>
                <a:latin typeface="Consolas" pitchFamily="34" charset="0"/>
                <a:ea typeface="Consolas" pitchFamily="34" charset="-122"/>
                <a:cs typeface="Consolas" pitchFamily="34" charset="-120"/>
              </a:rPr>
              <a:t>==================================================
</a:t>
            </a:r>
            <a:pPr algn="l" indent="0" marL="0">
              <a:buNone/>
            </a:pPr>
            <a:r>
              <a:rPr lang="en-US" sz="900" dirty="0">
                <a:solidFill>
                  <a:srgbClr val="FFFFFF"/>
                </a:solidFill>
                <a:latin typeface="Consolas" pitchFamily="34" charset="0"/>
                <a:ea typeface="Consolas" pitchFamily="34" charset="-122"/>
                <a:cs typeface="Consolas" pitchFamily="34" charset="-120"/>
              </a:rPr>
              <a:t>  File    : sunroof_noise_notok.wav
</a:t>
            </a:r>
            <a:pPr algn="l" indent="0" marL="0">
              <a:buNone/>
            </a:pPr>
            <a:r>
              <a:rPr lang="en-US" sz="900" dirty="0">
                <a:solidFill>
                  <a:srgbClr val="FFFFFF"/>
                </a:solidFill>
                <a:latin typeface="Consolas" pitchFamily="34" charset="0"/>
                <a:ea typeface="Consolas" pitchFamily="34" charset="-122"/>
                <a:cs typeface="Consolas" pitchFamily="34" charset="-120"/>
              </a:rPr>
              <a:t>  Result  : </a:t>
            </a:r>
            <a:pPr algn="l" indent="0" marL="0">
              <a:buNone/>
            </a:pPr>
            <a:r>
              <a:rPr lang="en-US" sz="900" b="1" dirty="0">
                <a:solidFill>
                  <a:srgbClr val="FF3D3D"/>
                </a:solidFill>
                <a:latin typeface="Consolas" pitchFamily="34" charset="0"/>
                <a:ea typeface="Consolas" pitchFamily="34" charset="-122"/>
                <a:cs typeface="Consolas" pitchFamily="34" charset="-120"/>
              </a:rPr>
              <a:t>NOT OK ⚠️
</a:t>
            </a:r>
            <a:pPr algn="l" indent="0" marL="0">
              <a:buNone/>
            </a:pPr>
            <a:r>
              <a:rPr lang="en-US" sz="900" dirty="0">
                <a:solidFill>
                  <a:srgbClr val="FFFFFF"/>
                </a:solidFill>
                <a:latin typeface="Consolas" pitchFamily="34" charset="0"/>
                <a:ea typeface="Consolas" pitchFamily="34" charset="-122"/>
                <a:cs typeface="Consolas" pitchFamily="34" charset="-120"/>
              </a:rPr>
              <a:t>  NOT OK% : 99.0%   (Confidence: 99%)
</a:t>
            </a:r>
            <a:pPr algn="l" indent="0" marL="0">
              <a:buNone/>
            </a:pPr>
            <a:r>
              <a:rPr lang="en-US" sz="900" dirty="0">
                <a:solidFill>
                  <a:srgbClr val="FFFFFF"/>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347472" y="164592"/>
            <a:ext cx="2011680" cy="256032"/>
          </a:xfrm>
          <a:prstGeom prst="roundRect">
            <a:avLst>
              <a:gd name="adj" fmla="val 50000"/>
            </a:avLst>
          </a:prstGeom>
          <a:solidFill>
            <a:srgbClr val="FFB300">
              <a:alpha val="85000"/>
            </a:srgbClr>
          </a:solidFill>
          <a:ln w="12700">
            <a:solidFill>
              <a:srgbClr val="FFB300"/>
            </a:solidFill>
            <a:prstDash val="solid"/>
          </a:ln>
        </p:spPr>
      </p:sp>
      <p:sp>
        <p:nvSpPr>
          <p:cNvPr id="4" name="Text 2"/>
          <p:cNvSpPr/>
          <p:nvPr/>
        </p:nvSpPr>
        <p:spPr>
          <a:xfrm>
            <a:off x="347472" y="164592"/>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ROADMAP</a:t>
            </a:r>
            <a:endParaRPr lang="en-US" sz="800" dirty="0"/>
          </a:p>
        </p:txBody>
      </p:sp>
      <p:sp>
        <p:nvSpPr>
          <p:cNvPr id="5" name="Text 3"/>
          <p:cNvSpPr/>
          <p:nvPr/>
        </p:nvSpPr>
        <p:spPr>
          <a:xfrm>
            <a:off x="2560320" y="109728"/>
            <a:ext cx="6400800" cy="457200"/>
          </a:xfrm>
          <a:prstGeom prst="rect">
            <a:avLst/>
          </a:prstGeom>
          <a:noFill/>
          <a:ln/>
        </p:spPr>
        <p:txBody>
          <a:bodyPr wrap="square" lIns="0" tIns="0" rIns="0" bIns="0" rtlCol="0" anchor="ctr"/>
          <a:lstStyle/>
          <a:p>
            <a:pPr algn="l" indent="0" marL="0">
              <a:buNone/>
            </a:pPr>
            <a:r>
              <a:rPr lang="en-US" sz="1900" b="1" dirty="0">
                <a:solidFill>
                  <a:srgbClr val="FFFFFF"/>
                </a:solidFill>
              </a:rPr>
              <a:t>Roadmap to Production-Grade System</a:t>
            </a:r>
            <a:endParaRPr lang="en-US" sz="1900" dirty="0"/>
          </a:p>
        </p:txBody>
      </p:sp>
      <p:sp>
        <p:nvSpPr>
          <p:cNvPr id="6" name="Shape 4"/>
          <p:cNvSpPr/>
          <p:nvPr/>
        </p:nvSpPr>
        <p:spPr>
          <a:xfrm>
            <a:off x="320040" y="777240"/>
            <a:ext cx="2011680" cy="4224528"/>
          </a:xfrm>
          <a:prstGeom prst="rect">
            <a:avLst/>
          </a:prstGeom>
          <a:solidFill>
            <a:srgbClr val="FFFFFF"/>
          </a:solidFill>
          <a:ln w="19050">
            <a:solidFill>
              <a:srgbClr val="00B8D4"/>
            </a:solidFill>
            <a:prstDash val="solid"/>
          </a:ln>
          <a:effectLst>
            <a:outerShdw sx="100000" sy="100000" kx="0" ky="0" algn="bl" rotWithShape="0" blurRad="50800" dist="12700" dir="8100000">
              <a:srgbClr val="000000">
                <a:alpha val="10000"/>
              </a:srgbClr>
            </a:outerShdw>
          </a:effectLst>
        </p:spPr>
      </p:sp>
      <p:sp>
        <p:nvSpPr>
          <p:cNvPr id="7" name="Shape 5"/>
          <p:cNvSpPr/>
          <p:nvPr/>
        </p:nvSpPr>
        <p:spPr>
          <a:xfrm>
            <a:off x="320040" y="777240"/>
            <a:ext cx="2011680" cy="640080"/>
          </a:xfrm>
          <a:prstGeom prst="rect">
            <a:avLst/>
          </a:prstGeom>
          <a:solidFill>
            <a:srgbClr val="00B8D4"/>
          </a:solidFill>
          <a:ln w="12700">
            <a:solidFill>
              <a:srgbClr val="00B8D4"/>
            </a:solidFill>
            <a:prstDash val="solid"/>
          </a:ln>
        </p:spPr>
      </p:sp>
      <p:sp>
        <p:nvSpPr>
          <p:cNvPr id="8" name="Text 6"/>
          <p:cNvSpPr/>
          <p:nvPr/>
        </p:nvSpPr>
        <p:spPr>
          <a:xfrm>
            <a:off x="320040" y="795528"/>
            <a:ext cx="2011680" cy="256032"/>
          </a:xfrm>
          <a:prstGeom prst="rect">
            <a:avLst/>
          </a:prstGeom>
          <a:noFill/>
          <a:ln/>
        </p:spPr>
        <p:txBody>
          <a:bodyPr wrap="square" lIns="0" tIns="0" rIns="0" bIns="0" rtlCol="0" anchor="ctr"/>
          <a:lstStyle/>
          <a:p>
            <a:pPr algn="ctr" indent="0" marL="0">
              <a:buNone/>
            </a:pPr>
            <a:r>
              <a:rPr lang="en-US" sz="950" b="1" spc="150" kern="0" dirty="0">
                <a:solidFill>
                  <a:srgbClr val="FFFFFF"/>
                </a:solidFill>
              </a:rPr>
              <a:t>Phase 1</a:t>
            </a:r>
            <a:endParaRPr lang="en-US" sz="950" dirty="0"/>
          </a:p>
        </p:txBody>
      </p:sp>
      <p:sp>
        <p:nvSpPr>
          <p:cNvPr id="9" name="Text 7"/>
          <p:cNvSpPr/>
          <p:nvPr/>
        </p:nvSpPr>
        <p:spPr>
          <a:xfrm>
            <a:off x="320040" y="1060704"/>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rPr>
              <a:t>Current State</a:t>
            </a:r>
            <a:endParaRPr lang="en-US" sz="1100" dirty="0"/>
          </a:p>
        </p:txBody>
      </p:sp>
      <p:sp>
        <p:nvSpPr>
          <p:cNvPr id="10" name="Shape 8"/>
          <p:cNvSpPr/>
          <p:nvPr/>
        </p:nvSpPr>
        <p:spPr>
          <a:xfrm>
            <a:off x="731520" y="1508760"/>
            <a:ext cx="1188720" cy="256032"/>
          </a:xfrm>
          <a:prstGeom prst="roundRect">
            <a:avLst>
              <a:gd name="adj" fmla="val 50000"/>
            </a:avLst>
          </a:prstGeom>
          <a:solidFill>
            <a:srgbClr val="00B8D4">
              <a:alpha val="85000"/>
            </a:srgbClr>
          </a:solidFill>
          <a:ln w="12700">
            <a:solidFill>
              <a:srgbClr val="00B8D4"/>
            </a:solidFill>
            <a:prstDash val="solid"/>
          </a:ln>
        </p:spPr>
      </p:sp>
      <p:sp>
        <p:nvSpPr>
          <p:cNvPr id="11" name="Text 9"/>
          <p:cNvSpPr/>
          <p:nvPr/>
        </p:nvSpPr>
        <p:spPr>
          <a:xfrm>
            <a:off x="731520" y="1508760"/>
            <a:ext cx="1188720" cy="256032"/>
          </a:xfrm>
          <a:prstGeom prst="rect">
            <a:avLst/>
          </a:prstGeom>
          <a:noFill/>
          <a:ln/>
        </p:spPr>
        <p:txBody>
          <a:bodyPr wrap="square" lIns="0" tIns="0" rIns="0" bIns="0" rtlCol="0" anchor="ctr"/>
          <a:lstStyle/>
          <a:p>
            <a:pPr algn="ctr" indent="0" marL="0">
              <a:buNone/>
            </a:pPr>
            <a:r>
              <a:rPr lang="en-US" sz="850" b="1" dirty="0">
                <a:solidFill>
                  <a:srgbClr val="FFFFFF"/>
                </a:solidFill>
              </a:rPr>
              <a:t>Done</a:t>
            </a:r>
            <a:endParaRPr lang="en-US" sz="850" dirty="0"/>
          </a:p>
        </p:txBody>
      </p:sp>
      <p:sp>
        <p:nvSpPr>
          <p:cNvPr id="12" name="Text 10"/>
          <p:cNvSpPr/>
          <p:nvPr/>
        </p:nvSpPr>
        <p:spPr>
          <a:xfrm>
            <a:off x="429768" y="1901952"/>
            <a:ext cx="1792224" cy="2926080"/>
          </a:xfrm>
          <a:prstGeom prst="rect">
            <a:avLst/>
          </a:prstGeom>
          <a:noFill/>
          <a:ln/>
        </p:spPr>
        <p:txBody>
          <a:bodyPr wrap="square" rtlCol="0" anchor="t"/>
          <a:lstStyle/>
          <a:p>
            <a:pPr marL="342900" indent="-342900">
              <a:buSzPct val="100000"/>
              <a:buChar char="•"/>
            </a:pPr>
            <a:r>
              <a:rPr lang="en-US" sz="900" dirty="0">
                <a:solidFill>
                  <a:srgbClr val="3D5076"/>
                </a:solidFill>
              </a:rPr>
              <a:t>20 files labelled (OK / NOT OK)</a:t>
            </a:r>
            <a:endParaRPr lang="en-US" sz="900" dirty="0"/>
          </a:p>
          <a:p>
            <a:pPr marL="342900" indent="-342900">
              <a:buSzPct val="100000"/>
              <a:buChar char="•"/>
            </a:pPr>
            <a:r>
              <a:rPr lang="en-US" sz="900" dirty="0">
                <a:solidFill>
                  <a:srgbClr val="3D5076"/>
                </a:solidFill>
              </a:rPr>
              <a:t>Random Forest trained &amp; validated</a:t>
            </a:r>
            <a:endParaRPr lang="en-US" sz="900" dirty="0"/>
          </a:p>
          <a:p>
            <a:pPr marL="342900" indent="-342900">
              <a:buSzPct val="100000"/>
              <a:buChar char="•"/>
            </a:pPr>
            <a:r>
              <a:rPr lang="en-US" sz="900" dirty="0">
                <a:solidFill>
                  <a:srgbClr val="3D5076"/>
                </a:solidFill>
              </a:rPr>
              <a:t>99 audio features extracted</a:t>
            </a:r>
            <a:endParaRPr lang="en-US" sz="900" dirty="0"/>
          </a:p>
          <a:p>
            <a:pPr marL="342900" indent="-342900">
              <a:buSzPct val="100000"/>
              <a:buChar char="•"/>
            </a:pPr>
            <a:r>
              <a:rPr lang="en-US" sz="900" dirty="0">
                <a:solidFill>
                  <a:srgbClr val="3D5076"/>
                </a:solidFill>
              </a:rPr>
              <a:t>predict.py script ready to use</a:t>
            </a:r>
            <a:endParaRPr lang="en-US" sz="900" dirty="0"/>
          </a:p>
          <a:p>
            <a:pPr marL="342900" indent="-342900">
              <a:buSzPct val="100000"/>
              <a:buChar char="•"/>
            </a:pPr>
            <a:r>
              <a:rPr lang="en-US" sz="900" dirty="0">
                <a:solidFill>
                  <a:srgbClr val="3D5076"/>
                </a:solidFill>
              </a:rPr>
              <a:t>Charts &amp; analysis completed</a:t>
            </a:r>
            <a:endParaRPr lang="en-US" sz="900" dirty="0"/>
          </a:p>
        </p:txBody>
      </p:sp>
      <p:sp>
        <p:nvSpPr>
          <p:cNvPr id="13" name="Shape 11"/>
          <p:cNvSpPr/>
          <p:nvPr/>
        </p:nvSpPr>
        <p:spPr>
          <a:xfrm>
            <a:off x="2514600" y="777240"/>
            <a:ext cx="2011680" cy="4224528"/>
          </a:xfrm>
          <a:prstGeom prst="rect">
            <a:avLst/>
          </a:prstGeom>
          <a:solidFill>
            <a:srgbClr val="FFFFFF"/>
          </a:solidFill>
          <a:ln w="19050">
            <a:solidFill>
              <a:srgbClr val="FFB300"/>
            </a:solidFill>
            <a:prstDash val="solid"/>
          </a:ln>
          <a:effectLst>
            <a:outerShdw sx="100000" sy="100000" kx="0" ky="0" algn="bl" rotWithShape="0" blurRad="50800" dist="12700" dir="8100000">
              <a:srgbClr val="000000">
                <a:alpha val="10000"/>
              </a:srgbClr>
            </a:outerShdw>
          </a:effectLst>
        </p:spPr>
      </p:sp>
      <p:sp>
        <p:nvSpPr>
          <p:cNvPr id="14" name="Shape 12"/>
          <p:cNvSpPr/>
          <p:nvPr/>
        </p:nvSpPr>
        <p:spPr>
          <a:xfrm>
            <a:off x="2514600" y="777240"/>
            <a:ext cx="2011680" cy="640080"/>
          </a:xfrm>
          <a:prstGeom prst="rect">
            <a:avLst/>
          </a:prstGeom>
          <a:solidFill>
            <a:srgbClr val="FFB300"/>
          </a:solidFill>
          <a:ln w="12700">
            <a:solidFill>
              <a:srgbClr val="FFB300"/>
            </a:solidFill>
            <a:prstDash val="solid"/>
          </a:ln>
        </p:spPr>
      </p:sp>
      <p:sp>
        <p:nvSpPr>
          <p:cNvPr id="15" name="Text 13"/>
          <p:cNvSpPr/>
          <p:nvPr/>
        </p:nvSpPr>
        <p:spPr>
          <a:xfrm>
            <a:off x="2514600" y="795528"/>
            <a:ext cx="2011680" cy="256032"/>
          </a:xfrm>
          <a:prstGeom prst="rect">
            <a:avLst/>
          </a:prstGeom>
          <a:noFill/>
          <a:ln/>
        </p:spPr>
        <p:txBody>
          <a:bodyPr wrap="square" lIns="0" tIns="0" rIns="0" bIns="0" rtlCol="0" anchor="ctr"/>
          <a:lstStyle/>
          <a:p>
            <a:pPr algn="ctr" indent="0" marL="0">
              <a:buNone/>
            </a:pPr>
            <a:r>
              <a:rPr lang="en-US" sz="950" b="1" spc="150" kern="0" dirty="0">
                <a:solidFill>
                  <a:srgbClr val="FFFFFF"/>
                </a:solidFill>
              </a:rPr>
              <a:t>Phase 2</a:t>
            </a:r>
            <a:endParaRPr lang="en-US" sz="950" dirty="0"/>
          </a:p>
        </p:txBody>
      </p:sp>
      <p:sp>
        <p:nvSpPr>
          <p:cNvPr id="16" name="Text 14"/>
          <p:cNvSpPr/>
          <p:nvPr/>
        </p:nvSpPr>
        <p:spPr>
          <a:xfrm>
            <a:off x="2514600" y="1060704"/>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rPr>
              <a:t>Expand Dataset</a:t>
            </a:r>
            <a:endParaRPr lang="en-US" sz="1100" dirty="0"/>
          </a:p>
        </p:txBody>
      </p:sp>
      <p:sp>
        <p:nvSpPr>
          <p:cNvPr id="17" name="Shape 15"/>
          <p:cNvSpPr/>
          <p:nvPr/>
        </p:nvSpPr>
        <p:spPr>
          <a:xfrm>
            <a:off x="2926080" y="1508760"/>
            <a:ext cx="1188720" cy="256032"/>
          </a:xfrm>
          <a:prstGeom prst="roundRect">
            <a:avLst>
              <a:gd name="adj" fmla="val 50000"/>
            </a:avLst>
          </a:prstGeom>
          <a:solidFill>
            <a:srgbClr val="FFB300">
              <a:alpha val="85000"/>
            </a:srgbClr>
          </a:solidFill>
          <a:ln w="12700">
            <a:solidFill>
              <a:srgbClr val="FFB300"/>
            </a:solidFill>
            <a:prstDash val="solid"/>
          </a:ln>
        </p:spPr>
      </p:sp>
      <p:sp>
        <p:nvSpPr>
          <p:cNvPr id="18" name="Text 16"/>
          <p:cNvSpPr/>
          <p:nvPr/>
        </p:nvSpPr>
        <p:spPr>
          <a:xfrm>
            <a:off x="2926080" y="1508760"/>
            <a:ext cx="1188720" cy="256032"/>
          </a:xfrm>
          <a:prstGeom prst="rect">
            <a:avLst/>
          </a:prstGeom>
          <a:noFill/>
          <a:ln/>
        </p:spPr>
        <p:txBody>
          <a:bodyPr wrap="square" lIns="0" tIns="0" rIns="0" bIns="0" rtlCol="0" anchor="ctr"/>
          <a:lstStyle/>
          <a:p>
            <a:pPr algn="ctr" indent="0" marL="0">
              <a:buNone/>
            </a:pPr>
            <a:r>
              <a:rPr lang="en-US" sz="850" b="1" dirty="0">
                <a:solidFill>
                  <a:srgbClr val="FFFFFF"/>
                </a:solidFill>
              </a:rPr>
              <a:t>1–2 Months</a:t>
            </a:r>
            <a:endParaRPr lang="en-US" sz="850" dirty="0"/>
          </a:p>
        </p:txBody>
      </p:sp>
      <p:sp>
        <p:nvSpPr>
          <p:cNvPr id="19" name="Text 17"/>
          <p:cNvSpPr/>
          <p:nvPr/>
        </p:nvSpPr>
        <p:spPr>
          <a:xfrm>
            <a:off x="2624328" y="1901952"/>
            <a:ext cx="1792224" cy="2926080"/>
          </a:xfrm>
          <a:prstGeom prst="rect">
            <a:avLst/>
          </a:prstGeom>
          <a:noFill/>
          <a:ln/>
        </p:spPr>
        <p:txBody>
          <a:bodyPr wrap="square" rtlCol="0" anchor="t"/>
          <a:lstStyle/>
          <a:p>
            <a:pPr marL="342900" indent="-342900">
              <a:buSzPct val="100000"/>
              <a:buChar char="•"/>
            </a:pPr>
            <a:r>
              <a:rPr lang="en-US" sz="900" dirty="0">
                <a:solidFill>
                  <a:srgbClr val="3D5076"/>
                </a:solidFill>
              </a:rPr>
              <a:t>Collect 50+ OK vehicle files</a:t>
            </a:r>
            <a:endParaRPr lang="en-US" sz="900" dirty="0"/>
          </a:p>
          <a:p>
            <a:pPr marL="342900" indent="-342900">
              <a:buSzPct val="100000"/>
              <a:buChar char="•"/>
            </a:pPr>
            <a:r>
              <a:rPr lang="en-US" sz="900" dirty="0">
                <a:solidFill>
                  <a:srgbClr val="3D5076"/>
                </a:solidFill>
              </a:rPr>
              <a:t>Record each NOT OK noise type separately</a:t>
            </a:r>
            <a:endParaRPr lang="en-US" sz="900" dirty="0"/>
          </a:p>
          <a:p>
            <a:pPr marL="342900" indent="-342900">
              <a:buSzPct val="100000"/>
              <a:buChar char="•"/>
            </a:pPr>
            <a:r>
              <a:rPr lang="en-US" sz="900" dirty="0">
                <a:solidFill>
                  <a:srgbClr val="3D5076"/>
                </a:solidFill>
              </a:rPr>
              <a:t>Label: IP, Sunroof, Steering, Glass, Mirror, Dashboard</a:t>
            </a:r>
            <a:endParaRPr lang="en-US" sz="900" dirty="0"/>
          </a:p>
          <a:p>
            <a:pPr marL="342900" indent="-342900">
              <a:buSzPct val="100000"/>
              <a:buChar char="•"/>
            </a:pPr>
            <a:r>
              <a:rPr lang="en-US" sz="900" dirty="0">
                <a:solidFill>
                  <a:srgbClr val="3D5076"/>
                </a:solidFill>
              </a:rPr>
              <a:t>Maintain consistent recording conditions</a:t>
            </a:r>
            <a:endParaRPr lang="en-US" sz="900" dirty="0"/>
          </a:p>
          <a:p>
            <a:pPr marL="342900" indent="-342900">
              <a:buSzPct val="100000"/>
              <a:buChar char="•"/>
            </a:pPr>
            <a:r>
              <a:rPr lang="en-US" sz="900" dirty="0">
                <a:solidFill>
                  <a:srgbClr val="3D5076"/>
                </a:solidFill>
              </a:rPr>
              <a:t>Retrain with more balanced dataset</a:t>
            </a:r>
            <a:endParaRPr lang="en-US" sz="900" dirty="0"/>
          </a:p>
        </p:txBody>
      </p:sp>
      <p:sp>
        <p:nvSpPr>
          <p:cNvPr id="20" name="Shape 18"/>
          <p:cNvSpPr/>
          <p:nvPr/>
        </p:nvSpPr>
        <p:spPr>
          <a:xfrm>
            <a:off x="4709160" y="777240"/>
            <a:ext cx="2011680" cy="4224528"/>
          </a:xfrm>
          <a:prstGeom prst="rect">
            <a:avLst/>
          </a:prstGeom>
          <a:solidFill>
            <a:srgbClr val="FFFFFF"/>
          </a:solidFill>
          <a:ln w="19050">
            <a:solidFill>
              <a:srgbClr val="00A3B8"/>
            </a:solidFill>
            <a:prstDash val="solid"/>
          </a:ln>
          <a:effectLst>
            <a:outerShdw sx="100000" sy="100000" kx="0" ky="0" algn="bl" rotWithShape="0" blurRad="50800" dist="12700" dir="8100000">
              <a:srgbClr val="000000">
                <a:alpha val="10000"/>
              </a:srgbClr>
            </a:outerShdw>
          </a:effectLst>
        </p:spPr>
      </p:sp>
      <p:sp>
        <p:nvSpPr>
          <p:cNvPr id="21" name="Shape 19"/>
          <p:cNvSpPr/>
          <p:nvPr/>
        </p:nvSpPr>
        <p:spPr>
          <a:xfrm>
            <a:off x="4709160" y="777240"/>
            <a:ext cx="2011680" cy="640080"/>
          </a:xfrm>
          <a:prstGeom prst="rect">
            <a:avLst/>
          </a:prstGeom>
          <a:solidFill>
            <a:srgbClr val="00A3B8"/>
          </a:solidFill>
          <a:ln w="12700">
            <a:solidFill>
              <a:srgbClr val="00A3B8"/>
            </a:solidFill>
            <a:prstDash val="solid"/>
          </a:ln>
        </p:spPr>
      </p:sp>
      <p:sp>
        <p:nvSpPr>
          <p:cNvPr id="22" name="Text 20"/>
          <p:cNvSpPr/>
          <p:nvPr/>
        </p:nvSpPr>
        <p:spPr>
          <a:xfrm>
            <a:off x="4709160" y="795528"/>
            <a:ext cx="2011680" cy="256032"/>
          </a:xfrm>
          <a:prstGeom prst="rect">
            <a:avLst/>
          </a:prstGeom>
          <a:noFill/>
          <a:ln/>
        </p:spPr>
        <p:txBody>
          <a:bodyPr wrap="square" lIns="0" tIns="0" rIns="0" bIns="0" rtlCol="0" anchor="ctr"/>
          <a:lstStyle/>
          <a:p>
            <a:pPr algn="ctr" indent="0" marL="0">
              <a:buNone/>
            </a:pPr>
            <a:r>
              <a:rPr lang="en-US" sz="950" b="1" spc="150" kern="0" dirty="0">
                <a:solidFill>
                  <a:srgbClr val="FFFFFF"/>
                </a:solidFill>
              </a:rPr>
              <a:t>Phase 3</a:t>
            </a:r>
            <a:endParaRPr lang="en-US" sz="950" dirty="0"/>
          </a:p>
        </p:txBody>
      </p:sp>
      <p:sp>
        <p:nvSpPr>
          <p:cNvPr id="23" name="Text 21"/>
          <p:cNvSpPr/>
          <p:nvPr/>
        </p:nvSpPr>
        <p:spPr>
          <a:xfrm>
            <a:off x="4709160" y="1060704"/>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rPr>
              <a:t>Model Upgrade</a:t>
            </a:r>
            <a:endParaRPr lang="en-US" sz="1100" dirty="0"/>
          </a:p>
        </p:txBody>
      </p:sp>
      <p:sp>
        <p:nvSpPr>
          <p:cNvPr id="24" name="Shape 22"/>
          <p:cNvSpPr/>
          <p:nvPr/>
        </p:nvSpPr>
        <p:spPr>
          <a:xfrm>
            <a:off x="5120640" y="1508760"/>
            <a:ext cx="1188720" cy="256032"/>
          </a:xfrm>
          <a:prstGeom prst="roundRect">
            <a:avLst>
              <a:gd name="adj" fmla="val 50000"/>
            </a:avLst>
          </a:prstGeom>
          <a:solidFill>
            <a:srgbClr val="00A3B8">
              <a:alpha val="85000"/>
            </a:srgbClr>
          </a:solidFill>
          <a:ln w="12700">
            <a:solidFill>
              <a:srgbClr val="00A3B8"/>
            </a:solidFill>
            <a:prstDash val="solid"/>
          </a:ln>
        </p:spPr>
      </p:sp>
      <p:sp>
        <p:nvSpPr>
          <p:cNvPr id="25" name="Text 23"/>
          <p:cNvSpPr/>
          <p:nvPr/>
        </p:nvSpPr>
        <p:spPr>
          <a:xfrm>
            <a:off x="5120640" y="1508760"/>
            <a:ext cx="1188720" cy="256032"/>
          </a:xfrm>
          <a:prstGeom prst="rect">
            <a:avLst/>
          </a:prstGeom>
          <a:noFill/>
          <a:ln/>
        </p:spPr>
        <p:txBody>
          <a:bodyPr wrap="square" lIns="0" tIns="0" rIns="0" bIns="0" rtlCol="0" anchor="ctr"/>
          <a:lstStyle/>
          <a:p>
            <a:pPr algn="ctr" indent="0" marL="0">
              <a:buNone/>
            </a:pPr>
            <a:r>
              <a:rPr lang="en-US" sz="850" b="1" dirty="0">
                <a:solidFill>
                  <a:srgbClr val="FFFFFF"/>
                </a:solidFill>
              </a:rPr>
              <a:t>2–3 Months</a:t>
            </a:r>
            <a:endParaRPr lang="en-US" sz="850" dirty="0"/>
          </a:p>
        </p:txBody>
      </p:sp>
      <p:sp>
        <p:nvSpPr>
          <p:cNvPr id="26" name="Text 24"/>
          <p:cNvSpPr/>
          <p:nvPr/>
        </p:nvSpPr>
        <p:spPr>
          <a:xfrm>
            <a:off x="4818888" y="1901952"/>
            <a:ext cx="1792224" cy="2926080"/>
          </a:xfrm>
          <a:prstGeom prst="rect">
            <a:avLst/>
          </a:prstGeom>
          <a:noFill/>
          <a:ln/>
        </p:spPr>
        <p:txBody>
          <a:bodyPr wrap="square" rtlCol="0" anchor="t"/>
          <a:lstStyle/>
          <a:p>
            <a:pPr marL="342900" indent="-342900">
              <a:buSzPct val="100000"/>
              <a:buChar char="•"/>
            </a:pPr>
            <a:r>
              <a:rPr lang="en-US" sz="900" dirty="0">
                <a:solidFill>
                  <a:srgbClr val="3D5076"/>
                </a:solidFill>
              </a:rPr>
              <a:t>Switch to YAMNet Transfer Learning</a:t>
            </a:r>
            <a:endParaRPr lang="en-US" sz="900" dirty="0"/>
          </a:p>
          <a:p>
            <a:pPr marL="342900" indent="-342900">
              <a:buSzPct val="100000"/>
              <a:buChar char="•"/>
            </a:pPr>
            <a:r>
              <a:rPr lang="en-US" sz="900" dirty="0">
                <a:solidFill>
                  <a:srgbClr val="3D5076"/>
                </a:solidFill>
              </a:rPr>
              <a:t>CNN on Mel Spectrogram images</a:t>
            </a:r>
            <a:endParaRPr lang="en-US" sz="900" dirty="0"/>
          </a:p>
          <a:p>
            <a:pPr marL="342900" indent="-342900">
              <a:buSzPct val="100000"/>
              <a:buChar char="•"/>
            </a:pPr>
            <a:r>
              <a:rPr lang="en-US" sz="900" dirty="0">
                <a:solidFill>
                  <a:srgbClr val="3D5076"/>
                </a:solidFill>
              </a:rPr>
              <a:t>Multi-class: identify WHICH noise type</a:t>
            </a:r>
            <a:endParaRPr lang="en-US" sz="900" dirty="0"/>
          </a:p>
          <a:p>
            <a:pPr marL="342900" indent="-342900">
              <a:buSzPct val="100000"/>
              <a:buChar char="•"/>
            </a:pPr>
            <a:r>
              <a:rPr lang="en-US" sz="900" dirty="0">
                <a:solidFill>
                  <a:srgbClr val="3D5076"/>
                </a:solidFill>
              </a:rPr>
              <a:t>Confidence threshold tuning</a:t>
            </a:r>
            <a:endParaRPr lang="en-US" sz="900" dirty="0"/>
          </a:p>
          <a:p>
            <a:pPr marL="342900" indent="-342900">
              <a:buSzPct val="100000"/>
              <a:buChar char="•"/>
            </a:pPr>
            <a:r>
              <a:rPr lang="en-US" sz="900" dirty="0">
                <a:solidFill>
                  <a:srgbClr val="3D5076"/>
                </a:solidFill>
              </a:rPr>
              <a:t>False negative rate &lt; 2%</a:t>
            </a:r>
            <a:endParaRPr lang="en-US" sz="900" dirty="0"/>
          </a:p>
        </p:txBody>
      </p:sp>
      <p:sp>
        <p:nvSpPr>
          <p:cNvPr id="27" name="Shape 25"/>
          <p:cNvSpPr/>
          <p:nvPr/>
        </p:nvSpPr>
        <p:spPr>
          <a:xfrm>
            <a:off x="6903720" y="777240"/>
            <a:ext cx="2011680" cy="4224528"/>
          </a:xfrm>
          <a:prstGeom prst="rect">
            <a:avLst/>
          </a:prstGeom>
          <a:solidFill>
            <a:srgbClr val="FFFFFF"/>
          </a:solidFill>
          <a:ln w="19050">
            <a:solidFill>
              <a:srgbClr val="00C853"/>
            </a:solidFill>
            <a:prstDash val="solid"/>
          </a:ln>
          <a:effectLst>
            <a:outerShdw sx="100000" sy="100000" kx="0" ky="0" algn="bl" rotWithShape="0" blurRad="50800" dist="12700" dir="8100000">
              <a:srgbClr val="000000">
                <a:alpha val="10000"/>
              </a:srgbClr>
            </a:outerShdw>
          </a:effectLst>
        </p:spPr>
      </p:sp>
      <p:sp>
        <p:nvSpPr>
          <p:cNvPr id="28" name="Shape 26"/>
          <p:cNvSpPr/>
          <p:nvPr/>
        </p:nvSpPr>
        <p:spPr>
          <a:xfrm>
            <a:off x="6903720" y="777240"/>
            <a:ext cx="2011680" cy="640080"/>
          </a:xfrm>
          <a:prstGeom prst="rect">
            <a:avLst/>
          </a:prstGeom>
          <a:solidFill>
            <a:srgbClr val="00C853"/>
          </a:solidFill>
          <a:ln w="12700">
            <a:solidFill>
              <a:srgbClr val="00C853"/>
            </a:solidFill>
            <a:prstDash val="solid"/>
          </a:ln>
        </p:spPr>
      </p:sp>
      <p:sp>
        <p:nvSpPr>
          <p:cNvPr id="29" name="Text 27"/>
          <p:cNvSpPr/>
          <p:nvPr/>
        </p:nvSpPr>
        <p:spPr>
          <a:xfrm>
            <a:off x="6903720" y="795528"/>
            <a:ext cx="2011680" cy="256032"/>
          </a:xfrm>
          <a:prstGeom prst="rect">
            <a:avLst/>
          </a:prstGeom>
          <a:noFill/>
          <a:ln/>
        </p:spPr>
        <p:txBody>
          <a:bodyPr wrap="square" lIns="0" tIns="0" rIns="0" bIns="0" rtlCol="0" anchor="ctr"/>
          <a:lstStyle/>
          <a:p>
            <a:pPr algn="ctr" indent="0" marL="0">
              <a:buNone/>
            </a:pPr>
            <a:r>
              <a:rPr lang="en-US" sz="950" b="1" spc="150" kern="0" dirty="0">
                <a:solidFill>
                  <a:srgbClr val="FFFFFF"/>
                </a:solidFill>
              </a:rPr>
              <a:t>Phase 4</a:t>
            </a:r>
            <a:endParaRPr lang="en-US" sz="950" dirty="0"/>
          </a:p>
        </p:txBody>
      </p:sp>
      <p:sp>
        <p:nvSpPr>
          <p:cNvPr id="30" name="Text 28"/>
          <p:cNvSpPr/>
          <p:nvPr/>
        </p:nvSpPr>
        <p:spPr>
          <a:xfrm>
            <a:off x="6903720" y="1060704"/>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rPr>
              <a:t>Full Deployment</a:t>
            </a:r>
            <a:endParaRPr lang="en-US" sz="1100" dirty="0"/>
          </a:p>
        </p:txBody>
      </p:sp>
      <p:sp>
        <p:nvSpPr>
          <p:cNvPr id="31" name="Shape 29"/>
          <p:cNvSpPr/>
          <p:nvPr/>
        </p:nvSpPr>
        <p:spPr>
          <a:xfrm>
            <a:off x="7315200" y="1508760"/>
            <a:ext cx="1188720" cy="256032"/>
          </a:xfrm>
          <a:prstGeom prst="roundRect">
            <a:avLst>
              <a:gd name="adj" fmla="val 50000"/>
            </a:avLst>
          </a:prstGeom>
          <a:solidFill>
            <a:srgbClr val="00C853">
              <a:alpha val="85000"/>
            </a:srgbClr>
          </a:solidFill>
          <a:ln w="12700">
            <a:solidFill>
              <a:srgbClr val="00C853"/>
            </a:solidFill>
            <a:prstDash val="solid"/>
          </a:ln>
        </p:spPr>
      </p:sp>
      <p:sp>
        <p:nvSpPr>
          <p:cNvPr id="32" name="Text 30"/>
          <p:cNvSpPr/>
          <p:nvPr/>
        </p:nvSpPr>
        <p:spPr>
          <a:xfrm>
            <a:off x="7315200" y="1508760"/>
            <a:ext cx="1188720" cy="256032"/>
          </a:xfrm>
          <a:prstGeom prst="rect">
            <a:avLst/>
          </a:prstGeom>
          <a:noFill/>
          <a:ln/>
        </p:spPr>
        <p:txBody>
          <a:bodyPr wrap="square" lIns="0" tIns="0" rIns="0" bIns="0" rtlCol="0" anchor="ctr"/>
          <a:lstStyle/>
          <a:p>
            <a:pPr algn="ctr" indent="0" marL="0">
              <a:buNone/>
            </a:pPr>
            <a:r>
              <a:rPr lang="en-US" sz="850" b="1" dirty="0">
                <a:solidFill>
                  <a:srgbClr val="FFFFFF"/>
                </a:solidFill>
              </a:rPr>
              <a:t>3–4 Months</a:t>
            </a:r>
            <a:endParaRPr lang="en-US" sz="850" dirty="0"/>
          </a:p>
        </p:txBody>
      </p:sp>
      <p:sp>
        <p:nvSpPr>
          <p:cNvPr id="33" name="Text 31"/>
          <p:cNvSpPr/>
          <p:nvPr/>
        </p:nvSpPr>
        <p:spPr>
          <a:xfrm>
            <a:off x="7013448" y="1901952"/>
            <a:ext cx="1792224" cy="2926080"/>
          </a:xfrm>
          <a:prstGeom prst="rect">
            <a:avLst/>
          </a:prstGeom>
          <a:noFill/>
          <a:ln/>
        </p:spPr>
        <p:txBody>
          <a:bodyPr wrap="square" rtlCol="0" anchor="t"/>
          <a:lstStyle/>
          <a:p>
            <a:pPr marL="342900" indent="-342900">
              <a:buSzPct val="100000"/>
              <a:buChar char="•"/>
            </a:pPr>
            <a:r>
              <a:rPr lang="en-US" sz="900" dirty="0">
                <a:solidFill>
                  <a:srgbClr val="3D5076"/>
                </a:solidFill>
              </a:rPr>
              <a:t>Simple desktop UI for evaluators</a:t>
            </a:r>
            <a:endParaRPr lang="en-US" sz="900" dirty="0"/>
          </a:p>
          <a:p>
            <a:pPr marL="342900" indent="-342900">
              <a:buSzPct val="100000"/>
              <a:buChar char="•"/>
            </a:pPr>
            <a:r>
              <a:rPr lang="en-US" sz="900" dirty="0">
                <a:solidFill>
                  <a:srgbClr val="3D5076"/>
                </a:solidFill>
              </a:rPr>
              <a:t>Auto-export QC report per vehicle</a:t>
            </a:r>
            <a:endParaRPr lang="en-US" sz="900" dirty="0"/>
          </a:p>
          <a:p>
            <a:pPr marL="342900" indent="-342900">
              <a:buSzPct val="100000"/>
              <a:buChar char="•"/>
            </a:pPr>
            <a:r>
              <a:rPr lang="en-US" sz="900" dirty="0">
                <a:solidFill>
                  <a:srgbClr val="3D5076"/>
                </a:solidFill>
              </a:rPr>
              <a:t>Vehicle ID in filename → auto-log</a:t>
            </a:r>
            <a:endParaRPr lang="en-US" sz="900" dirty="0"/>
          </a:p>
          <a:p>
            <a:pPr marL="342900" indent="-342900">
              <a:buSzPct val="100000"/>
              <a:buChar char="•"/>
            </a:pPr>
            <a:r>
              <a:rPr lang="en-US" sz="900" dirty="0">
                <a:solidFill>
                  <a:srgbClr val="3D5076"/>
                </a:solidFill>
              </a:rPr>
              <a:t>Historical database of results</a:t>
            </a:r>
            <a:endParaRPr lang="en-US" sz="900" dirty="0"/>
          </a:p>
          <a:p>
            <a:pPr marL="342900" indent="-342900">
              <a:buSzPct val="100000"/>
              <a:buChar char="•"/>
            </a:pPr>
            <a:r>
              <a:rPr lang="en-US" sz="900" dirty="0">
                <a:solidFill>
                  <a:srgbClr val="3D5076"/>
                </a:solidFill>
              </a:rPr>
              <a:t>Manager dashboard &amp; statistics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00B8D4"/>
          </a:solidFill>
          <a:ln w="12700">
            <a:solidFill>
              <a:srgbClr val="00B8D4"/>
            </a:solidFill>
            <a:prstDash val="solid"/>
          </a:ln>
        </p:spPr>
      </p:sp>
      <p:sp>
        <p:nvSpPr>
          <p:cNvPr id="3" name="Shape 1"/>
          <p:cNvSpPr/>
          <p:nvPr/>
        </p:nvSpPr>
        <p:spPr>
          <a:xfrm>
            <a:off x="0" y="4663440"/>
            <a:ext cx="9144000" cy="480060"/>
          </a:xfrm>
          <a:prstGeom prst="rect">
            <a:avLst/>
          </a:prstGeom>
          <a:solidFill>
            <a:srgbClr val="243656"/>
          </a:solidFill>
          <a:ln w="12700">
            <a:solidFill>
              <a:srgbClr val="243656"/>
            </a:solidFill>
            <a:prstDash val="solid"/>
          </a:ln>
        </p:spPr>
      </p:sp>
      <p:sp>
        <p:nvSpPr>
          <p:cNvPr id="4" name="Shape 2"/>
          <p:cNvSpPr/>
          <p:nvPr/>
        </p:nvSpPr>
        <p:spPr>
          <a:xfrm>
            <a:off x="6858000" y="2560320"/>
            <a:ext cx="3200400" cy="3200400"/>
          </a:xfrm>
          <a:prstGeom prst="ellipse">
            <a:avLst/>
          </a:prstGeom>
          <a:solidFill>
            <a:srgbClr val="00B8D4">
              <a:alpha val="10000"/>
            </a:srgbClr>
          </a:solidFill>
          <a:ln w="12700">
            <a:solidFill>
              <a:srgbClr val="00B8D4">
                <a:alpha val="30000"/>
              </a:srgbClr>
            </a:solidFill>
            <a:prstDash val="solid"/>
          </a:ln>
        </p:spPr>
      </p:sp>
      <p:sp>
        <p:nvSpPr>
          <p:cNvPr id="5" name="Shape 3"/>
          <p:cNvSpPr/>
          <p:nvPr/>
        </p:nvSpPr>
        <p:spPr>
          <a:xfrm>
            <a:off x="640080" y="365760"/>
            <a:ext cx="2011680" cy="256032"/>
          </a:xfrm>
          <a:prstGeom prst="roundRect">
            <a:avLst>
              <a:gd name="adj" fmla="val 50000"/>
            </a:avLst>
          </a:prstGeom>
          <a:solidFill>
            <a:srgbClr val="00B8D4">
              <a:alpha val="85000"/>
            </a:srgbClr>
          </a:solidFill>
          <a:ln w="12700">
            <a:solidFill>
              <a:srgbClr val="00B8D4"/>
            </a:solidFill>
            <a:prstDash val="solid"/>
          </a:ln>
        </p:spPr>
      </p:sp>
      <p:sp>
        <p:nvSpPr>
          <p:cNvPr id="6" name="Text 4"/>
          <p:cNvSpPr/>
          <p:nvPr/>
        </p:nvSpPr>
        <p:spPr>
          <a:xfrm>
            <a:off x="640080" y="365760"/>
            <a:ext cx="2011680" cy="256032"/>
          </a:xfrm>
          <a:prstGeom prst="rect">
            <a:avLst/>
          </a:prstGeom>
          <a:noFill/>
          <a:ln/>
        </p:spPr>
        <p:txBody>
          <a:bodyPr wrap="square" lIns="0" tIns="0" rIns="0" bIns="0" rtlCol="0" anchor="ctr"/>
          <a:lstStyle/>
          <a:p>
            <a:pPr algn="ctr" indent="0" marL="0">
              <a:buNone/>
            </a:pPr>
            <a:r>
              <a:rPr lang="en-US" sz="800" b="1" spc="200" kern="0" dirty="0">
                <a:solidFill>
                  <a:srgbClr val="FFFFFF"/>
                </a:solidFill>
              </a:rPr>
              <a:t>SUMMARY</a:t>
            </a:r>
            <a:endParaRPr lang="en-US" sz="800" dirty="0"/>
          </a:p>
        </p:txBody>
      </p:sp>
      <p:sp>
        <p:nvSpPr>
          <p:cNvPr id="7" name="Text 5"/>
          <p:cNvSpPr/>
          <p:nvPr/>
        </p:nvSpPr>
        <p:spPr>
          <a:xfrm>
            <a:off x="640080" y="749808"/>
            <a:ext cx="7772400" cy="59436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Key Takeaways</a:t>
            </a:r>
            <a:endParaRPr lang="en-US" sz="3800" dirty="0"/>
          </a:p>
        </p:txBody>
      </p:sp>
      <p:sp>
        <p:nvSpPr>
          <p:cNvPr id="8" name="Shape 6"/>
          <p:cNvSpPr/>
          <p:nvPr/>
        </p:nvSpPr>
        <p:spPr>
          <a:xfrm>
            <a:off x="640080" y="1481328"/>
            <a:ext cx="7315200" cy="548640"/>
          </a:xfrm>
          <a:prstGeom prst="rect">
            <a:avLst/>
          </a:prstGeom>
          <a:solidFill>
            <a:srgbClr val="243656"/>
          </a:solidFill>
          <a:ln w="10160">
            <a:solidFill>
              <a:srgbClr val="2E4270"/>
            </a:solidFill>
            <a:prstDash val="solid"/>
          </a:ln>
        </p:spPr>
      </p:sp>
      <p:sp>
        <p:nvSpPr>
          <p:cNvPr id="9" name="Text 7"/>
          <p:cNvSpPr/>
          <p:nvPr/>
        </p:nvSpPr>
        <p:spPr>
          <a:xfrm>
            <a:off x="713232" y="1481328"/>
            <a:ext cx="502920" cy="5486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0" name="Text 8"/>
          <p:cNvSpPr/>
          <p:nvPr/>
        </p:nvSpPr>
        <p:spPr>
          <a:xfrm>
            <a:off x="1280160" y="1481328"/>
            <a:ext cx="6492240" cy="548640"/>
          </a:xfrm>
          <a:prstGeom prst="rect">
            <a:avLst/>
          </a:prstGeom>
          <a:noFill/>
          <a:ln/>
        </p:spPr>
        <p:txBody>
          <a:bodyPr wrap="square" lIns="0" tIns="0" rIns="0" bIns="0" rtlCol="0" anchor="ctr"/>
          <a:lstStyle/>
          <a:p>
            <a:pPr algn="l" indent="0" marL="0">
              <a:buNone/>
            </a:pPr>
            <a:r>
              <a:rPr lang="en-US" sz="1100" dirty="0">
                <a:solidFill>
                  <a:srgbClr val="FFFFFF"/>
                </a:solidFill>
              </a:rPr>
              <a:t>System trained on 20 real BSR track audio files — all 7 NOT OK defects detected with 100% recall</a:t>
            </a:r>
            <a:endParaRPr lang="en-US" sz="1100" dirty="0"/>
          </a:p>
        </p:txBody>
      </p:sp>
      <p:sp>
        <p:nvSpPr>
          <p:cNvPr id="11" name="Shape 9"/>
          <p:cNvSpPr/>
          <p:nvPr/>
        </p:nvSpPr>
        <p:spPr>
          <a:xfrm>
            <a:off x="640080" y="2121408"/>
            <a:ext cx="7315200" cy="548640"/>
          </a:xfrm>
          <a:prstGeom prst="rect">
            <a:avLst/>
          </a:prstGeom>
          <a:solidFill>
            <a:srgbClr val="243656"/>
          </a:solidFill>
          <a:ln w="10160">
            <a:solidFill>
              <a:srgbClr val="2E4270"/>
            </a:solidFill>
            <a:prstDash val="solid"/>
          </a:ln>
        </p:spPr>
      </p:sp>
      <p:sp>
        <p:nvSpPr>
          <p:cNvPr id="12" name="Text 10"/>
          <p:cNvSpPr/>
          <p:nvPr/>
        </p:nvSpPr>
        <p:spPr>
          <a:xfrm>
            <a:off x="713232" y="2121408"/>
            <a:ext cx="502920" cy="5486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3" name="Text 11"/>
          <p:cNvSpPr/>
          <p:nvPr/>
        </p:nvSpPr>
        <p:spPr>
          <a:xfrm>
            <a:off x="1280160" y="2121408"/>
            <a:ext cx="6492240" cy="548640"/>
          </a:xfrm>
          <a:prstGeom prst="rect">
            <a:avLst/>
          </a:prstGeom>
          <a:noFill/>
          <a:ln/>
        </p:spPr>
        <p:txBody>
          <a:bodyPr wrap="square" lIns="0" tIns="0" rIns="0" bIns="0" rtlCol="0" anchor="ctr"/>
          <a:lstStyle/>
          <a:p>
            <a:pPr algn="l" indent="0" marL="0">
              <a:buNone/>
            </a:pPr>
            <a:r>
              <a:rPr lang="en-US" sz="1100" dirty="0">
                <a:solidFill>
                  <a:srgbClr val="FFFFFF"/>
                </a:solidFill>
              </a:rPr>
              <a:t>99 audio features extracted per file: MFCC, spectral, band energy, kurtosis — captures what human ears hear</a:t>
            </a:r>
            <a:endParaRPr lang="en-US" sz="1100" dirty="0"/>
          </a:p>
        </p:txBody>
      </p:sp>
      <p:sp>
        <p:nvSpPr>
          <p:cNvPr id="14" name="Shape 12"/>
          <p:cNvSpPr/>
          <p:nvPr/>
        </p:nvSpPr>
        <p:spPr>
          <a:xfrm>
            <a:off x="640080" y="2761488"/>
            <a:ext cx="7315200" cy="548640"/>
          </a:xfrm>
          <a:prstGeom prst="rect">
            <a:avLst/>
          </a:prstGeom>
          <a:solidFill>
            <a:srgbClr val="243656"/>
          </a:solidFill>
          <a:ln w="10160">
            <a:solidFill>
              <a:srgbClr val="2E4270"/>
            </a:solidFill>
            <a:prstDash val="solid"/>
          </a:ln>
        </p:spPr>
      </p:sp>
      <p:sp>
        <p:nvSpPr>
          <p:cNvPr id="15" name="Text 13"/>
          <p:cNvSpPr/>
          <p:nvPr/>
        </p:nvSpPr>
        <p:spPr>
          <a:xfrm>
            <a:off x="713232" y="2761488"/>
            <a:ext cx="502920" cy="5486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6" name="Text 14"/>
          <p:cNvSpPr/>
          <p:nvPr/>
        </p:nvSpPr>
        <p:spPr>
          <a:xfrm>
            <a:off x="1280160" y="2761488"/>
            <a:ext cx="6492240" cy="548640"/>
          </a:xfrm>
          <a:prstGeom prst="rect">
            <a:avLst/>
          </a:prstGeom>
          <a:noFill/>
          <a:ln/>
        </p:spPr>
        <p:txBody>
          <a:bodyPr wrap="square" lIns="0" tIns="0" rIns="0" bIns="0" rtlCol="0" anchor="ctr"/>
          <a:lstStyle/>
          <a:p>
            <a:pPr algn="l" indent="0" marL="0">
              <a:buNone/>
            </a:pPr>
            <a:r>
              <a:rPr lang="en-US" sz="1100" dirty="0">
                <a:solidFill>
                  <a:srgbClr val="FFFFFF"/>
                </a:solidFill>
              </a:rPr>
              <a:t>Random Forest model — explainable, no GPU needed, instant prediction via predict.py command</a:t>
            </a:r>
            <a:endParaRPr lang="en-US" sz="1100" dirty="0"/>
          </a:p>
        </p:txBody>
      </p:sp>
      <p:sp>
        <p:nvSpPr>
          <p:cNvPr id="17" name="Shape 15"/>
          <p:cNvSpPr/>
          <p:nvPr/>
        </p:nvSpPr>
        <p:spPr>
          <a:xfrm>
            <a:off x="640080" y="3401568"/>
            <a:ext cx="7315200" cy="548640"/>
          </a:xfrm>
          <a:prstGeom prst="rect">
            <a:avLst/>
          </a:prstGeom>
          <a:solidFill>
            <a:srgbClr val="243656"/>
          </a:solidFill>
          <a:ln w="10160">
            <a:solidFill>
              <a:srgbClr val="2E4270"/>
            </a:solidFill>
            <a:prstDash val="solid"/>
          </a:ln>
        </p:spPr>
      </p:sp>
      <p:sp>
        <p:nvSpPr>
          <p:cNvPr id="18" name="Text 16"/>
          <p:cNvSpPr/>
          <p:nvPr/>
        </p:nvSpPr>
        <p:spPr>
          <a:xfrm>
            <a:off x="713232" y="3401568"/>
            <a:ext cx="502920" cy="5486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9" name="Text 17"/>
          <p:cNvSpPr/>
          <p:nvPr/>
        </p:nvSpPr>
        <p:spPr>
          <a:xfrm>
            <a:off x="1280160" y="3401568"/>
            <a:ext cx="6492240" cy="548640"/>
          </a:xfrm>
          <a:prstGeom prst="rect">
            <a:avLst/>
          </a:prstGeom>
          <a:noFill/>
          <a:ln/>
        </p:spPr>
        <p:txBody>
          <a:bodyPr wrap="square" lIns="0" tIns="0" rIns="0" bIns="0" rtlCol="0" anchor="ctr"/>
          <a:lstStyle/>
          <a:p>
            <a:pPr algn="l" indent="0" marL="0">
              <a:buNone/>
            </a:pPr>
            <a:r>
              <a:rPr lang="en-US" sz="1100" dirty="0">
                <a:solidFill>
                  <a:srgbClr val="FFFFFF"/>
                </a:solidFill>
              </a:rPr>
              <a:t>Ready to scale: collect 50+ files per class to enable production deployment with deep learning upgrade</a:t>
            </a:r>
            <a:endParaRPr lang="en-US" sz="1100" dirty="0"/>
          </a:p>
        </p:txBody>
      </p:sp>
      <p:sp>
        <p:nvSpPr>
          <p:cNvPr id="20" name="Shape 18"/>
          <p:cNvSpPr/>
          <p:nvPr/>
        </p:nvSpPr>
        <p:spPr>
          <a:xfrm>
            <a:off x="640080" y="4041648"/>
            <a:ext cx="7315200" cy="548640"/>
          </a:xfrm>
          <a:prstGeom prst="rect">
            <a:avLst/>
          </a:prstGeom>
          <a:solidFill>
            <a:srgbClr val="243656"/>
          </a:solidFill>
          <a:ln w="10160">
            <a:solidFill>
              <a:srgbClr val="2E4270"/>
            </a:solidFill>
            <a:prstDash val="solid"/>
          </a:ln>
        </p:spPr>
      </p:sp>
      <p:sp>
        <p:nvSpPr>
          <p:cNvPr id="21" name="Text 19"/>
          <p:cNvSpPr/>
          <p:nvPr/>
        </p:nvSpPr>
        <p:spPr>
          <a:xfrm>
            <a:off x="713232" y="4041648"/>
            <a:ext cx="502920" cy="54864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2" name="Text 20"/>
          <p:cNvSpPr/>
          <p:nvPr/>
        </p:nvSpPr>
        <p:spPr>
          <a:xfrm>
            <a:off x="1280160" y="4041648"/>
            <a:ext cx="6492240" cy="548640"/>
          </a:xfrm>
          <a:prstGeom prst="rect">
            <a:avLst/>
          </a:prstGeom>
          <a:noFill/>
          <a:ln/>
        </p:spPr>
        <p:txBody>
          <a:bodyPr wrap="square" lIns="0" tIns="0" rIns="0" bIns="0" rtlCol="0" anchor="ctr"/>
          <a:lstStyle/>
          <a:p>
            <a:pPr algn="l" indent="0" marL="0">
              <a:buNone/>
            </a:pPr>
            <a:r>
              <a:rPr lang="en-US" sz="1100" dirty="0">
                <a:solidFill>
                  <a:srgbClr val="FFFFFF"/>
                </a:solidFill>
              </a:rPr>
              <a:t>End goal: evaluator records audio → system auto-classifies OK/NOT OK → QC log generated automatically</a:t>
            </a:r>
            <a:endParaRPr lang="en-US" sz="1100" dirty="0"/>
          </a:p>
        </p:txBody>
      </p:sp>
      <p:sp>
        <p:nvSpPr>
          <p:cNvPr id="23" name="Text 21"/>
          <p:cNvSpPr/>
          <p:nvPr/>
        </p:nvSpPr>
        <p:spPr>
          <a:xfrm>
            <a:off x="548640" y="4718304"/>
            <a:ext cx="8412480" cy="329184"/>
          </a:xfrm>
          <a:prstGeom prst="rect">
            <a:avLst/>
          </a:prstGeom>
          <a:noFill/>
          <a:ln/>
        </p:spPr>
        <p:txBody>
          <a:bodyPr wrap="square" lIns="0" tIns="0" rIns="0" bIns="0" rtlCol="0" anchor="ctr"/>
          <a:lstStyle/>
          <a:p>
            <a:pPr algn="l" indent="0" marL="0">
              <a:buNone/>
            </a:pPr>
            <a:r>
              <a:rPr lang="en-US" sz="950" dirty="0">
                <a:solidFill>
                  <a:srgbClr val="8A9BB5"/>
                </a:solidFill>
              </a:rPr>
              <a:t>Questions welcome — Model &amp; charts available for review</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Noise Detection System</dc:title>
  <dc:subject>PptxGenJS Presentation</dc:subject>
  <dc:creator>BSR Track QC Team</dc:creator>
  <cp:lastModifiedBy>BSR Track QC Team</cp:lastModifiedBy>
  <cp:revision>1</cp:revision>
  <dcterms:created xsi:type="dcterms:W3CDTF">2026-03-01T16:03:39Z</dcterms:created>
  <dcterms:modified xsi:type="dcterms:W3CDTF">2026-03-01T16:03:39Z</dcterms:modified>
</cp:coreProperties>
</file>